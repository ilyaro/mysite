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07" r:id="rId3"/>
    <p:sldId id="346" r:id="rId4"/>
    <p:sldId id="262" r:id="rId5"/>
    <p:sldId id="264" r:id="rId6"/>
    <p:sldId id="266" r:id="rId7"/>
    <p:sldId id="267" r:id="rId8"/>
    <p:sldId id="269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97" r:id="rId19"/>
    <p:sldId id="347" r:id="rId20"/>
    <p:sldId id="288" r:id="rId21"/>
    <p:sldId id="289" r:id="rId22"/>
    <p:sldId id="290" r:id="rId23"/>
    <p:sldId id="294" r:id="rId24"/>
  </p:sldIdLst>
  <p:sldSz cx="9144000" cy="6858000" type="screen4x3"/>
  <p:notesSz cx="6934200" cy="9232900"/>
  <p:embeddedFontLst>
    <p:embeddedFont>
      <p:font typeface="Amatic SC" pitchFamily="2" charset="-79"/>
      <p:regular r:id="rId26"/>
      <p:bold r:id="rId27"/>
    </p:embeddedFont>
    <p:embeddedFont>
      <p:font typeface="Merriweather" pitchFamily="2" charset="77"/>
      <p:regular r:id="rId28"/>
      <p:bold r:id="rId29"/>
      <p:italic r:id="rId30"/>
      <p:boldItalic r:id="rId31"/>
    </p:embeddedFont>
    <p:embeddedFont>
      <p:font typeface="Source Code Pro" panose="020B0509030403020204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2"/>
    <p:restoredTop sz="94218"/>
  </p:normalViewPr>
  <p:slideViewPr>
    <p:cSldViewPr>
      <p:cViewPr varScale="1">
        <p:scale>
          <a:sx n="74" d="100"/>
          <a:sy n="74" d="100"/>
        </p:scale>
        <p:origin x="94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29062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Char char="○"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Char char="■"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Char char="●"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Char char="○"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Char char="■"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Char char="●"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Char char="○"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2375" tIns="46175" rIns="92375" bIns="46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194050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19" name="Shape 219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87" name="Shape 287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25" name="Shape 325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63" name="Shape 363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Shape 40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02" name="Shape 40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42" name="Shape 44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80" name="Shape 48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>
          <a:extLst>
            <a:ext uri="{FF2B5EF4-FFF2-40B4-BE49-F238E27FC236}">
              <a16:creationId xmlns:a16="http://schemas.microsoft.com/office/drawing/2014/main" id="{9EFE68DE-D7C5-C2E7-C6F5-B2DC2353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>
            <a:extLst>
              <a:ext uri="{FF2B5EF4-FFF2-40B4-BE49-F238E27FC236}">
                <a16:creationId xmlns:a16="http://schemas.microsoft.com/office/drawing/2014/main" id="{542238CE-9B3D-6EB1-3E34-FA34A6DBA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>
            <a:extLst>
              <a:ext uri="{FF2B5EF4-FFF2-40B4-BE49-F238E27FC236}">
                <a16:creationId xmlns:a16="http://schemas.microsoft.com/office/drawing/2014/main" id="{AF877D81-0322-B02D-4201-50342E465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4158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3" name="Shape 56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4" name="Shape 60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8000"/>
            </a:lvl1pPr>
            <a:lvl2pPr lvl="1" algn="ctr">
              <a:spcBef>
                <a:spcPts val="0"/>
              </a:spcBef>
              <a:buSzPct val="100000"/>
              <a:defRPr sz="8000"/>
            </a:lvl2pPr>
            <a:lvl3pPr lvl="2" algn="ctr">
              <a:spcBef>
                <a:spcPts val="0"/>
              </a:spcBef>
              <a:buSzPct val="100000"/>
              <a:defRPr sz="8000"/>
            </a:lvl3pPr>
            <a:lvl4pPr lvl="3" algn="ctr">
              <a:spcBef>
                <a:spcPts val="0"/>
              </a:spcBef>
              <a:buSzPct val="100000"/>
              <a:defRPr sz="8000"/>
            </a:lvl4pPr>
            <a:lvl5pPr lvl="4" algn="ctr">
              <a:spcBef>
                <a:spcPts val="0"/>
              </a:spcBef>
              <a:buSzPct val="100000"/>
              <a:defRPr sz="8000"/>
            </a:lvl5pPr>
            <a:lvl6pPr lvl="5" algn="ctr">
              <a:spcBef>
                <a:spcPts val="0"/>
              </a:spcBef>
              <a:buSzPct val="100000"/>
              <a:defRPr sz="8000"/>
            </a:lvl6pPr>
            <a:lvl7pPr lvl="6" algn="ctr">
              <a:spcBef>
                <a:spcPts val="0"/>
              </a:spcBef>
              <a:buSzPct val="100000"/>
              <a:defRPr sz="8000"/>
            </a:lvl7pPr>
            <a:lvl8pPr lvl="7" algn="ctr">
              <a:spcBef>
                <a:spcPts val="0"/>
              </a:spcBef>
              <a:buSzPct val="100000"/>
              <a:defRPr sz="8000"/>
            </a:lvl8pPr>
            <a:lvl9pPr lvl="8" algn="ctr">
              <a:spcBef>
                <a:spcPts val="0"/>
              </a:spcBef>
              <a:buSzPct val="100000"/>
              <a:defRPr sz="80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2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4000"/>
            </a:lvl1pPr>
            <a:lvl2pPr lvl="1">
              <a:spcBef>
                <a:spcPts val="0"/>
              </a:spcBef>
              <a:buSzPct val="100000"/>
              <a:defRPr sz="4000"/>
            </a:lvl2pPr>
            <a:lvl3pPr lvl="2">
              <a:spcBef>
                <a:spcPts val="0"/>
              </a:spcBef>
              <a:buSzPct val="100000"/>
              <a:defRPr sz="4000"/>
            </a:lvl3pPr>
            <a:lvl4pPr lvl="3">
              <a:spcBef>
                <a:spcPts val="0"/>
              </a:spcBef>
              <a:buSzPct val="100000"/>
              <a:defRPr sz="4000"/>
            </a:lvl4pPr>
            <a:lvl5pPr lvl="4">
              <a:spcBef>
                <a:spcPts val="0"/>
              </a:spcBef>
              <a:buSzPct val="100000"/>
              <a:defRPr sz="4000"/>
            </a:lvl5pPr>
            <a:lvl6pPr lvl="5">
              <a:spcBef>
                <a:spcPts val="0"/>
              </a:spcBef>
              <a:buSzPct val="100000"/>
              <a:defRPr sz="4000"/>
            </a:lvl6pPr>
            <a:lvl7pPr lvl="6">
              <a:spcBef>
                <a:spcPts val="0"/>
              </a:spcBef>
              <a:buSzPct val="100000"/>
              <a:defRPr sz="4000"/>
            </a:lvl7pPr>
            <a:lvl8pPr lvl="7">
              <a:spcBef>
                <a:spcPts val="0"/>
              </a:spcBef>
              <a:buSzPct val="100000"/>
              <a:defRPr sz="4000"/>
            </a:lvl8pPr>
            <a:lvl9pPr lvl="8">
              <a:spcBef>
                <a:spcPts val="0"/>
              </a:spcBef>
              <a:buSzPct val="100000"/>
              <a:defRPr sz="40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3000"/>
            </a:lvl1pPr>
            <a:lvl2pPr lvl="1">
              <a:spcBef>
                <a:spcPts val="0"/>
              </a:spcBef>
              <a:buSzPct val="100000"/>
              <a:defRPr sz="3000"/>
            </a:lvl2pPr>
            <a:lvl3pPr lvl="2">
              <a:spcBef>
                <a:spcPts val="0"/>
              </a:spcBef>
              <a:buSzPct val="100000"/>
              <a:defRPr sz="3000"/>
            </a:lvl3pPr>
            <a:lvl4pPr lvl="3">
              <a:spcBef>
                <a:spcPts val="0"/>
              </a:spcBef>
              <a:buSzPct val="100000"/>
              <a:defRPr sz="3000"/>
            </a:lvl4pPr>
            <a:lvl5pPr lvl="4">
              <a:spcBef>
                <a:spcPts val="0"/>
              </a:spcBef>
              <a:buSzPct val="100000"/>
              <a:defRPr sz="3000"/>
            </a:lvl5pPr>
            <a:lvl6pPr lvl="5">
              <a:spcBef>
                <a:spcPts val="0"/>
              </a:spcBef>
              <a:buSzPct val="100000"/>
              <a:defRPr sz="3000"/>
            </a:lvl6pPr>
            <a:lvl7pPr lvl="6">
              <a:spcBef>
                <a:spcPts val="0"/>
              </a:spcBef>
              <a:buSzPct val="100000"/>
              <a:defRPr sz="3000"/>
            </a:lvl7pPr>
            <a:lvl8pPr lvl="7">
              <a:spcBef>
                <a:spcPts val="0"/>
              </a:spcBef>
              <a:buSzPct val="100000"/>
              <a:defRPr sz="3000"/>
            </a:lvl8pPr>
            <a:lvl9pPr lvl="8">
              <a:spcBef>
                <a:spcPts val="0"/>
              </a:spcBef>
              <a:buSzPct val="100000"/>
              <a:defRPr sz="30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accent4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 lang="en-US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2" name="Shape 4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ubTitle" idx="1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101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28650" marR="0" lvl="1" indent="-158750" algn="l" rtl="0">
              <a:spcBef>
                <a:spcPts val="5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6350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00150" marR="0" lvl="3" indent="-5715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43100" marR="0" lvl="5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300" marR="0" lvl="6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00" marR="0" lvl="7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14700" marR="0" lvl="8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4114800" y="6553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‹#›</a:t>
            </a:fld>
            <a:endParaRPr lang="en-US" sz="10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xfrm>
            <a:off x="311700" y="1219200"/>
            <a:ext cx="8520600" cy="305853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Merriweather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My open source </a:t>
            </a:r>
            <a:b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Git Training</a:t>
            </a:r>
            <a:b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with hands-on</a:t>
            </a:r>
            <a:b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for GitHub User Group </a:t>
            </a:r>
            <a:b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lang="en-US" sz="4400" b="0" i="0" u="none" strike="noStrike" cap="none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subTitle" idx="1"/>
          </p:nvPr>
        </p:nvSpPr>
        <p:spPr>
          <a:xfrm>
            <a:off x="1600200" y="4724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inspection of basic commands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Ilya Rokhkin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– meaning?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2514600"/>
            <a:ext cx="8229600" cy="1676400"/>
          </a:xfrm>
        </p:spPr>
        <p:txBody>
          <a:bodyPr/>
          <a:lstStyle/>
          <a:p>
            <a:pPr marL="127000" indent="0">
              <a:buNone/>
            </a:pPr>
            <a:r>
              <a:rPr lang="en-US" sz="4000" dirty="0"/>
              <a:t>What does the word Git mean?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601200" cy="2514600"/>
          </a:xfrm>
        </p:spPr>
        <p:txBody>
          <a:bodyPr/>
          <a:lstStyle/>
          <a:p>
            <a:r>
              <a:rPr lang="en-US" dirty="0"/>
              <a:t>About myself: Ilya Rokhkin </a:t>
            </a:r>
            <a:br>
              <a:rPr lang="en-US" dirty="0"/>
            </a:br>
            <a:r>
              <a:rPr lang="en-US" dirty="0"/>
              <a:t>- </a:t>
            </a:r>
            <a:r>
              <a:rPr lang="en-US" sz="2800" dirty="0"/>
              <a:t>20+ years experience in Version Control Systems</a:t>
            </a:r>
            <a:br>
              <a:rPr lang="en-US" sz="2800" dirty="0"/>
            </a:br>
            <a:r>
              <a:rPr lang="en-US" sz="2800" dirty="0"/>
              <a:t>- Git trainer in Checkpoint, Intel, Marvell, and Freelancer.</a:t>
            </a:r>
            <a:br>
              <a:rPr lang="en-US" sz="2800" dirty="0"/>
            </a:br>
            <a:r>
              <a:rPr lang="en-US" sz="2800" dirty="0"/>
              <a:t>- Volunteer as a Hebrew teacher in “Ulpan” for 10+ years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343150"/>
            <a:ext cx="523875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79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/>
              <a:t>W</a:t>
            </a: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orking Tree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246475" y="1596700"/>
            <a:ext cx="8440200" cy="487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The working tree has all files and folders as found in your HEAD,</a:t>
            </a:r>
            <a:b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plus the changes you made since your last commit</a:t>
            </a:r>
            <a:b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 dirty="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There is only ONE main working tree per repository (and only 1 .git</a:t>
            </a:r>
            <a:b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folder as well)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 dirty="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Working Tree</a:t>
            </a:r>
            <a:b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 dirty="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Shape 10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Shape 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3097650"/>
            <a:ext cx="3276600" cy="3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/>
          <p:nvPr/>
        </p:nvSpPr>
        <p:spPr>
          <a:xfrm>
            <a:off x="2537325" y="4654150"/>
            <a:ext cx="1203300" cy="87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Objects </a:t>
            </a: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763000" cy="586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Every object in GIT composed of </a:t>
            </a:r>
            <a:r>
              <a:rPr lang="en-US" dirty="0"/>
              <a:t>those</a:t>
            </a: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elements – 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–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“blob”, “tree”, “commit”, “refs” (branch/tag).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"blob" is basically like a file – it is used to store the content of a source file.</a:t>
            </a:r>
          </a:p>
          <a:p>
            <a:pPr marL="6286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"tree" is basically like a directory - it references a group of other</a:t>
            </a:r>
          </a:p>
          <a:p>
            <a:pPr marL="6286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trees (subdirectories) and/or blobs (files).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 A "commit" points to a single tree, marking it as what the project</a:t>
            </a: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rgbClr val="000000"/>
                </a:solidFill>
              </a:rPr>
              <a:t>   looked like at a certain point in time. Keeps changed files since the last commit, author of the changes, a reference to the parent commit(s), etc.</a:t>
            </a: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rgbClr val="000000"/>
                </a:solidFill>
              </a:rPr>
              <a:t> A “refs" is a way to mark a specific commit as special in some way. It is usually used to tag certain commits as specific releases or something along those lines.</a:t>
            </a: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2286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 b="0" i="0" u="none" dirty="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607062" y="86475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Commit Object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Shape 1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7050" y="603700"/>
            <a:ext cx="8146500" cy="61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78300" y="0"/>
            <a:ext cx="8563200" cy="1232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/>
              <a:t>Commit object with its parent</a:t>
            </a:r>
          </a:p>
          <a:p>
            <a:pPr marL="457200" lvl="0" indent="-381000">
              <a:spcBef>
                <a:spcPts val="0"/>
              </a:spcBef>
              <a:buClr>
                <a:schemeClr val="accent5"/>
              </a:buClr>
              <a:buSzPct val="100000"/>
              <a:buChar char="●"/>
            </a:pPr>
            <a:r>
              <a:rPr lang="en-US" sz="2400" dirty="0"/>
              <a:t>Links from tree object to common blobs</a:t>
            </a:r>
          </a:p>
        </p:txBody>
      </p:sp>
      <p:sp>
        <p:nvSpPr>
          <p:cNvPr id="146" name="Shape 146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pic>
        <p:nvPicPr>
          <p:cNvPr id="147" name="Shape 147" descr="Git_obje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750" y="1318025"/>
            <a:ext cx="7252150" cy="53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Shape 148"/>
          <p:cNvSpPr txBox="1"/>
          <p:nvPr/>
        </p:nvSpPr>
        <p:spPr>
          <a:xfrm>
            <a:off x="318975" y="1754375"/>
            <a:ext cx="1449900" cy="60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Commit Obj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434925" y="3699500"/>
            <a:ext cx="1218000" cy="60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/>
              <a:t>Tree Obj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58000" y="5669075"/>
            <a:ext cx="1218000" cy="60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/>
              <a:t>Blob obj.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HEAD</a:t>
            </a:r>
          </a:p>
        </p:txBody>
      </p:sp>
      <p:sp>
        <p:nvSpPr>
          <p:cNvPr id="165" name="Shape 165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Shape 16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48469"/>
          <a:stretch/>
        </p:blipFill>
        <p:spPr>
          <a:xfrm>
            <a:off x="356725" y="3914700"/>
            <a:ext cx="8251800" cy="2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Shape 168"/>
          <p:cNvSpPr/>
          <p:nvPr/>
        </p:nvSpPr>
        <p:spPr>
          <a:xfrm>
            <a:off x="2477300" y="291575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69" name="Shape 169"/>
          <p:cNvSpPr/>
          <p:nvPr/>
        </p:nvSpPr>
        <p:spPr>
          <a:xfrm>
            <a:off x="3660525" y="291575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170" name="Shape 170"/>
          <p:cNvSpPr/>
          <p:nvPr/>
        </p:nvSpPr>
        <p:spPr>
          <a:xfrm>
            <a:off x="4843750" y="291575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171" name="Shape 171"/>
          <p:cNvCxnSpPr>
            <a:stCxn id="169" idx="1"/>
            <a:endCxn id="168" idx="3"/>
          </p:cNvCxnSpPr>
          <p:nvPr/>
        </p:nvCxnSpPr>
        <p:spPr>
          <a:xfrm rot="10800000">
            <a:off x="3251925" y="309350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2" name="Shape 172"/>
          <p:cNvCxnSpPr>
            <a:stCxn id="170" idx="1"/>
            <a:endCxn id="169" idx="3"/>
          </p:cNvCxnSpPr>
          <p:nvPr/>
        </p:nvCxnSpPr>
        <p:spPr>
          <a:xfrm rot="10800000">
            <a:off x="4435150" y="309350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3" name="Shape 173"/>
          <p:cNvSpPr txBox="1"/>
          <p:nvPr/>
        </p:nvSpPr>
        <p:spPr>
          <a:xfrm>
            <a:off x="1766700" y="174430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174" name="Shape 174"/>
          <p:cNvSpPr/>
          <p:nvPr/>
        </p:nvSpPr>
        <p:spPr>
          <a:xfrm>
            <a:off x="4799350" y="195105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175" name="Shape 175"/>
          <p:cNvCxnSpPr>
            <a:stCxn id="174" idx="2"/>
            <a:endCxn id="170" idx="0"/>
          </p:cNvCxnSpPr>
          <p:nvPr/>
        </p:nvCxnSpPr>
        <p:spPr>
          <a:xfrm>
            <a:off x="5231050" y="2460450"/>
            <a:ext cx="0" cy="45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6" name="Shape 176"/>
          <p:cNvSpPr/>
          <p:nvPr/>
        </p:nvSpPr>
        <p:spPr>
          <a:xfrm>
            <a:off x="4095525" y="899400"/>
            <a:ext cx="2168100" cy="688200"/>
          </a:xfrm>
          <a:prstGeom prst="rect">
            <a:avLst/>
          </a:prstGeom>
          <a:solidFill>
            <a:srgbClr val="666666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240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177" name="Shape 177"/>
          <p:cNvCxnSpPr>
            <a:endCxn id="174" idx="0"/>
          </p:cNvCxnSpPr>
          <p:nvPr/>
        </p:nvCxnSpPr>
        <p:spPr>
          <a:xfrm>
            <a:off x="5231050" y="1625250"/>
            <a:ext cx="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193" name="Shape 193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95" name="Shape 195"/>
          <p:cNvCxnSpPr>
            <a:stCxn id="193" idx="1"/>
            <a:endCxn id="192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199" name="Shape 199"/>
          <p:cNvSpPr/>
          <p:nvPr/>
        </p:nvSpPr>
        <p:spPr>
          <a:xfrm>
            <a:off x="285565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01" name="Shape 201"/>
          <p:cNvCxnSpPr>
            <a:stCxn id="199" idx="1"/>
            <a:endCxn id="198" idx="3"/>
          </p:cNvCxnSpPr>
          <p:nvPr/>
        </p:nvCxnSpPr>
        <p:spPr>
          <a:xfrm rot="10800000">
            <a:off x="2447050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1075" y="3995738"/>
            <a:ext cx="25336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dirty="0"/>
              <a:t> Remote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1893825" y="5669925"/>
            <a:ext cx="267817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205" name="Shape 205"/>
          <p:cNvCxnSpPr>
            <a:cxnSpLocks/>
            <a:stCxn id="204" idx="0"/>
            <a:endCxn id="199" idx="2"/>
          </p:cNvCxnSpPr>
          <p:nvPr/>
        </p:nvCxnSpPr>
        <p:spPr>
          <a:xfrm flipV="1">
            <a:off x="3232913" y="5243100"/>
            <a:ext cx="10037" cy="426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6" name="Shape 206"/>
          <p:cNvSpPr/>
          <p:nvPr/>
        </p:nvSpPr>
        <p:spPr>
          <a:xfrm>
            <a:off x="2447025" y="3103900"/>
            <a:ext cx="2250142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207" name="Shape 207"/>
          <p:cNvCxnSpPr/>
          <p:nvPr/>
        </p:nvCxnSpPr>
        <p:spPr>
          <a:xfrm rot="10800000">
            <a:off x="3464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2617450" y="1356800"/>
            <a:ext cx="17259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</a:t>
            </a:r>
            <a:r>
              <a:rPr lang="en-US"/>
              <a:t>/PRJ-777</a:t>
            </a:r>
            <a:endParaRPr lang="en-US" dirty="0"/>
          </a:p>
        </p:txBody>
      </p:sp>
      <p:cxnSp>
        <p:nvCxnSpPr>
          <p:cNvPr id="209" name="Shape 209"/>
          <p:cNvCxnSpPr>
            <a:cxnSpLocks/>
            <a:stCxn id="208" idx="2"/>
            <a:endCxn id="193" idx="0"/>
          </p:cNvCxnSpPr>
          <p:nvPr/>
        </p:nvCxnSpPr>
        <p:spPr>
          <a:xfrm flipH="1">
            <a:off x="3464350" y="1866200"/>
            <a:ext cx="16075" cy="45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0" name="Shape 210"/>
          <p:cNvSpPr txBox="1"/>
          <p:nvPr/>
        </p:nvSpPr>
        <p:spPr>
          <a:xfrm>
            <a:off x="5043900" y="3103900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4697175" y="131867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212" name="Shape 212"/>
          <p:cNvSpPr/>
          <p:nvPr/>
        </p:nvSpPr>
        <p:spPr>
          <a:xfrm>
            <a:off x="3045250" y="72840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13" name="Shape 213"/>
          <p:cNvCxnSpPr>
            <a:cxnSpLocks/>
            <a:endCxn id="208" idx="0"/>
          </p:cNvCxnSpPr>
          <p:nvPr/>
        </p:nvCxnSpPr>
        <p:spPr>
          <a:xfrm>
            <a:off x="3464350" y="1031000"/>
            <a:ext cx="16075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4" name="Shape 214"/>
          <p:cNvSpPr txBox="1"/>
          <p:nvPr/>
        </p:nvSpPr>
        <p:spPr>
          <a:xfrm>
            <a:off x="4097350" y="4095500"/>
            <a:ext cx="5046600" cy="1686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/>
              <a:t>After clone/pull Remote Tracking Branch and Tracking (Local) branch pointing to the same commit</a:t>
            </a:r>
          </a:p>
        </p:txBody>
      </p: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Shape 235">
            <a:extLst>
              <a:ext uri="{FF2B5EF4-FFF2-40B4-BE49-F238E27FC236}">
                <a16:creationId xmlns:a16="http://schemas.microsoft.com/office/drawing/2014/main" id="{A67DD659-27BD-8D11-EF2B-B1AA044CAFEC}"/>
              </a:ext>
            </a:extLst>
          </p:cNvPr>
          <p:cNvSpPr/>
          <p:nvPr/>
        </p:nvSpPr>
        <p:spPr>
          <a:xfrm>
            <a:off x="2638175" y="4050507"/>
            <a:ext cx="11062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3" name="Shape 248">
            <a:extLst>
              <a:ext uri="{FF2B5EF4-FFF2-40B4-BE49-F238E27FC236}">
                <a16:creationId xmlns:a16="http://schemas.microsoft.com/office/drawing/2014/main" id="{9F375992-F6D7-7AEA-9E71-63E8C1503A34}"/>
              </a:ext>
            </a:extLst>
          </p:cNvPr>
          <p:cNvCxnSpPr>
            <a:cxnSpLocks/>
            <a:stCxn id="12" idx="2"/>
            <a:endCxn id="199" idx="0"/>
          </p:cNvCxnSpPr>
          <p:nvPr/>
        </p:nvCxnSpPr>
        <p:spPr>
          <a:xfrm>
            <a:off x="3191275" y="4596507"/>
            <a:ext cx="51675" cy="29109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Shape 235">
            <a:extLst>
              <a:ext uri="{FF2B5EF4-FFF2-40B4-BE49-F238E27FC236}">
                <a16:creationId xmlns:a16="http://schemas.microsoft.com/office/drawing/2014/main" id="{7BA0771D-5917-4A9F-15D3-2387FF7F6259}"/>
              </a:ext>
            </a:extLst>
          </p:cNvPr>
          <p:cNvSpPr/>
          <p:nvPr/>
        </p:nvSpPr>
        <p:spPr>
          <a:xfrm>
            <a:off x="710600" y="3089596"/>
            <a:ext cx="1389692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7" name="Shape 248">
            <a:extLst>
              <a:ext uri="{FF2B5EF4-FFF2-40B4-BE49-F238E27FC236}">
                <a16:creationId xmlns:a16="http://schemas.microsoft.com/office/drawing/2014/main" id="{25BC36AE-302C-116D-7BD5-AB0708097814}"/>
              </a:ext>
            </a:extLst>
          </p:cNvPr>
          <p:cNvCxnSpPr>
            <a:cxnSpLocks/>
          </p:cNvCxnSpPr>
          <p:nvPr/>
        </p:nvCxnSpPr>
        <p:spPr>
          <a:xfrm flipV="1">
            <a:off x="1485200" y="2652188"/>
            <a:ext cx="1757750" cy="43510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23" name="Shape 223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24" name="Shape 224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25" name="Shape 225"/>
          <p:cNvCxnSpPr>
            <a:stCxn id="223" idx="1"/>
            <a:endCxn id="222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6" name="Shape 226"/>
          <p:cNvCxnSpPr>
            <a:stCxn id="224" idx="1"/>
            <a:endCxn id="223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28" name="Shape 228"/>
          <p:cNvSpPr/>
          <p:nvPr/>
        </p:nvSpPr>
        <p:spPr>
          <a:xfrm>
            <a:off x="587275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29" name="Shape 229"/>
          <p:cNvSpPr/>
          <p:nvPr/>
        </p:nvSpPr>
        <p:spPr>
          <a:xfrm>
            <a:off x="1770500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30" name="Shape 230"/>
          <p:cNvSpPr/>
          <p:nvPr/>
        </p:nvSpPr>
        <p:spPr>
          <a:xfrm>
            <a:off x="2953725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31" name="Shape 231"/>
          <p:cNvCxnSpPr>
            <a:stCxn id="229" idx="1"/>
            <a:endCxn id="228" idx="3"/>
          </p:cNvCxnSpPr>
          <p:nvPr/>
        </p:nvCxnSpPr>
        <p:spPr>
          <a:xfrm rot="10800000">
            <a:off x="1361900" y="5249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2" name="Shape 232"/>
          <p:cNvCxnSpPr>
            <a:stCxn id="230" idx="1"/>
            <a:endCxn id="229" idx="3"/>
          </p:cNvCxnSpPr>
          <p:nvPr/>
        </p:nvCxnSpPr>
        <p:spPr>
          <a:xfrm rot="10800000">
            <a:off x="2545125" y="5249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3" name="Shape 233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49150" y="4179438"/>
            <a:ext cx="2595268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dirty="0"/>
              <a:t> Remote Repository</a:t>
            </a:r>
          </a:p>
        </p:txBody>
      </p:sp>
      <p:sp>
        <p:nvSpPr>
          <p:cNvPr id="235" name="Shape 235"/>
          <p:cNvSpPr/>
          <p:nvPr/>
        </p:nvSpPr>
        <p:spPr>
          <a:xfrm>
            <a:off x="2141746" y="5853625"/>
            <a:ext cx="2408367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236" name="Shape 236"/>
          <p:cNvCxnSpPr>
            <a:cxnSpLocks/>
            <a:stCxn id="235" idx="0"/>
            <a:endCxn id="230" idx="2"/>
          </p:cNvCxnSpPr>
          <p:nvPr/>
        </p:nvCxnSpPr>
        <p:spPr>
          <a:xfrm flipH="1" flipV="1">
            <a:off x="3341025" y="5426800"/>
            <a:ext cx="4905" cy="426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7" name="Shape 237"/>
          <p:cNvSpPr/>
          <p:nvPr/>
        </p:nvSpPr>
        <p:spPr>
          <a:xfrm>
            <a:off x="2141746" y="3140792"/>
            <a:ext cx="28161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238" name="Shape 238"/>
          <p:cNvCxnSpPr/>
          <p:nvPr/>
        </p:nvCxnSpPr>
        <p:spPr>
          <a:xfrm rot="10800000">
            <a:off x="3464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9" name="Shape 239"/>
          <p:cNvSpPr/>
          <p:nvPr/>
        </p:nvSpPr>
        <p:spPr>
          <a:xfrm>
            <a:off x="3928599" y="1354425"/>
            <a:ext cx="171019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40" name="Shape 240"/>
          <p:cNvSpPr txBox="1"/>
          <p:nvPr/>
        </p:nvSpPr>
        <p:spPr>
          <a:xfrm>
            <a:off x="5842013" y="2955968"/>
            <a:ext cx="28161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5733413" y="1236383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242" name="Shape 242"/>
          <p:cNvSpPr/>
          <p:nvPr/>
        </p:nvSpPr>
        <p:spPr>
          <a:xfrm>
            <a:off x="4151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43" name="Shape 243"/>
          <p:cNvCxnSpPr>
            <a:cxnSpLocks/>
          </p:cNvCxnSpPr>
          <p:nvPr/>
        </p:nvCxnSpPr>
        <p:spPr>
          <a:xfrm>
            <a:off x="4570550" y="1028625"/>
            <a:ext cx="0" cy="355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4" name="Shape 244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245" name="Shape 245"/>
          <p:cNvCxnSpPr>
            <a:stCxn id="244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6" name="Shape 246"/>
          <p:cNvSpPr txBox="1"/>
          <p:nvPr/>
        </p:nvSpPr>
        <p:spPr>
          <a:xfrm>
            <a:off x="4368550" y="3693650"/>
            <a:ext cx="4775400" cy="97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 b="1"/>
              <a:t>Commit on local repository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sz="1800"/>
              <a:t>$ git commit</a:t>
            </a:r>
          </a:p>
        </p:txBody>
      </p:sp>
      <p:cxnSp>
        <p:nvCxnSpPr>
          <p:cNvPr id="247" name="Shape 247"/>
          <p:cNvCxnSpPr/>
          <p:nvPr/>
        </p:nvCxnSpPr>
        <p:spPr>
          <a:xfrm>
            <a:off x="16050" y="39349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8" name="Shape 248"/>
          <p:cNvCxnSpPr>
            <a:cxnSpLocks/>
            <a:endCxn id="244" idx="0"/>
          </p:cNvCxnSpPr>
          <p:nvPr/>
        </p:nvCxnSpPr>
        <p:spPr>
          <a:xfrm>
            <a:off x="4570550" y="1856967"/>
            <a:ext cx="0" cy="4645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235">
            <a:extLst>
              <a:ext uri="{FF2B5EF4-FFF2-40B4-BE49-F238E27FC236}">
                <a16:creationId xmlns:a16="http://schemas.microsoft.com/office/drawing/2014/main" id="{F619D4D0-4678-DFBD-91C6-E2CFA022BCCF}"/>
              </a:ext>
            </a:extLst>
          </p:cNvPr>
          <p:cNvSpPr/>
          <p:nvPr/>
        </p:nvSpPr>
        <p:spPr>
          <a:xfrm>
            <a:off x="2787925" y="4107051"/>
            <a:ext cx="11062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3" name="Shape 248">
            <a:extLst>
              <a:ext uri="{FF2B5EF4-FFF2-40B4-BE49-F238E27FC236}">
                <a16:creationId xmlns:a16="http://schemas.microsoft.com/office/drawing/2014/main" id="{4BD0B368-5620-9560-8AA9-F8528F7D1782}"/>
              </a:ext>
            </a:extLst>
          </p:cNvPr>
          <p:cNvCxnSpPr>
            <a:cxnSpLocks/>
            <a:stCxn id="12" idx="2"/>
            <a:endCxn id="230" idx="0"/>
          </p:cNvCxnSpPr>
          <p:nvPr/>
        </p:nvCxnSpPr>
        <p:spPr>
          <a:xfrm>
            <a:off x="3341025" y="4616451"/>
            <a:ext cx="0" cy="45484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" name="Shape 235">
            <a:extLst>
              <a:ext uri="{FF2B5EF4-FFF2-40B4-BE49-F238E27FC236}">
                <a16:creationId xmlns:a16="http://schemas.microsoft.com/office/drawing/2014/main" id="{53EE6FEC-3F41-FF8C-0D7C-FAFA258A6252}"/>
              </a:ext>
            </a:extLst>
          </p:cNvPr>
          <p:cNvSpPr/>
          <p:nvPr/>
        </p:nvSpPr>
        <p:spPr>
          <a:xfrm>
            <a:off x="2545100" y="1347567"/>
            <a:ext cx="13065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8" name="Shape 248">
            <a:extLst>
              <a:ext uri="{FF2B5EF4-FFF2-40B4-BE49-F238E27FC236}">
                <a16:creationId xmlns:a16="http://schemas.microsoft.com/office/drawing/2014/main" id="{2143BE47-64FB-FC65-CC27-91EFE21B38A8}"/>
              </a:ext>
            </a:extLst>
          </p:cNvPr>
          <p:cNvCxnSpPr>
            <a:cxnSpLocks/>
          </p:cNvCxnSpPr>
          <p:nvPr/>
        </p:nvCxnSpPr>
        <p:spPr>
          <a:xfrm flipH="1">
            <a:off x="3298550" y="1863825"/>
            <a:ext cx="1" cy="4479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255" name="Shape 255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56" name="Shape 256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57" name="Shape 257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58" name="Shape 258"/>
          <p:cNvCxnSpPr>
            <a:stCxn id="256" idx="1"/>
            <a:endCxn id="255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59" name="Shape 259"/>
          <p:cNvCxnSpPr>
            <a:stCxn id="257" idx="1"/>
            <a:endCxn id="256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61" name="Shape 261"/>
          <p:cNvSpPr/>
          <p:nvPr/>
        </p:nvSpPr>
        <p:spPr>
          <a:xfrm>
            <a:off x="452150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62" name="Shape 262"/>
          <p:cNvSpPr/>
          <p:nvPr/>
        </p:nvSpPr>
        <p:spPr>
          <a:xfrm>
            <a:off x="1635375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63" name="Shape 263"/>
          <p:cNvSpPr/>
          <p:nvPr/>
        </p:nvSpPr>
        <p:spPr>
          <a:xfrm>
            <a:off x="2818600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64" name="Shape 264"/>
          <p:cNvCxnSpPr>
            <a:stCxn id="262" idx="1"/>
            <a:endCxn id="261" idx="3"/>
          </p:cNvCxnSpPr>
          <p:nvPr/>
        </p:nvCxnSpPr>
        <p:spPr>
          <a:xfrm rot="10800000">
            <a:off x="1226775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65" name="Shape 265"/>
          <p:cNvCxnSpPr>
            <a:stCxn id="263" idx="1"/>
            <a:endCxn id="262" idx="3"/>
          </p:cNvCxnSpPr>
          <p:nvPr/>
        </p:nvCxnSpPr>
        <p:spPr>
          <a:xfrm rot="10800000">
            <a:off x="2410000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6" name="Shape 266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87450" y="4203025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268" name="Shape 268"/>
          <p:cNvSpPr/>
          <p:nvPr/>
        </p:nvSpPr>
        <p:spPr>
          <a:xfrm>
            <a:off x="3957425" y="58177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sp>
        <p:nvSpPr>
          <p:cNvPr id="269" name="Shape 269"/>
          <p:cNvSpPr/>
          <p:nvPr/>
        </p:nvSpPr>
        <p:spPr>
          <a:xfrm>
            <a:off x="2514601" y="310390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270" name="Shape 270"/>
          <p:cNvCxnSpPr/>
          <p:nvPr/>
        </p:nvCxnSpPr>
        <p:spPr>
          <a:xfrm rot="10800000">
            <a:off x="3464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1" name="Shape 271"/>
          <p:cNvSpPr/>
          <p:nvPr/>
        </p:nvSpPr>
        <p:spPr>
          <a:xfrm>
            <a:off x="3941717" y="1372787"/>
            <a:ext cx="1255976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272" name="Shape 272"/>
          <p:cNvCxnSpPr>
            <a:cxnSpLocks/>
            <a:stCxn id="271" idx="2"/>
            <a:endCxn id="273" idx="0"/>
          </p:cNvCxnSpPr>
          <p:nvPr/>
        </p:nvCxnSpPr>
        <p:spPr>
          <a:xfrm>
            <a:off x="4569705" y="1882187"/>
            <a:ext cx="845" cy="4393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4" name="Shape 274"/>
          <p:cNvSpPr txBox="1"/>
          <p:nvPr/>
        </p:nvSpPr>
        <p:spPr>
          <a:xfrm>
            <a:off x="0" y="2982075"/>
            <a:ext cx="189382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5795600" y="125482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276" name="Shape 276"/>
          <p:cNvSpPr/>
          <p:nvPr/>
        </p:nvSpPr>
        <p:spPr>
          <a:xfrm>
            <a:off x="4151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77" name="Shape 277"/>
          <p:cNvCxnSpPr>
            <a:cxnSpLocks/>
            <a:stCxn id="276" idx="2"/>
            <a:endCxn id="271" idx="0"/>
          </p:cNvCxnSpPr>
          <p:nvPr/>
        </p:nvCxnSpPr>
        <p:spPr>
          <a:xfrm flipH="1">
            <a:off x="4569705" y="1081525"/>
            <a:ext cx="845" cy="2912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3" name="Shape 273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278" name="Shape 278"/>
          <p:cNvCxnSpPr>
            <a:stCxn id="273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9" name="Shape 279"/>
          <p:cNvSpPr/>
          <p:nvPr/>
        </p:nvSpPr>
        <p:spPr>
          <a:xfrm>
            <a:off x="4001825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280" name="Shape 280"/>
          <p:cNvCxnSpPr>
            <a:stCxn id="279" idx="1"/>
            <a:endCxn id="263" idx="3"/>
          </p:cNvCxnSpPr>
          <p:nvPr/>
        </p:nvCxnSpPr>
        <p:spPr>
          <a:xfrm rot="10800000">
            <a:off x="3593225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81" name="Shape 281"/>
          <p:cNvSpPr txBox="1"/>
          <p:nvPr/>
        </p:nvSpPr>
        <p:spPr>
          <a:xfrm>
            <a:off x="5002250" y="3995750"/>
            <a:ext cx="4141800" cy="196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 b="1" dirty="0"/>
              <a:t>Merge another Commit to remote repository from another feature branch</a:t>
            </a:r>
          </a:p>
        </p:txBody>
      </p:sp>
      <p:cxnSp>
        <p:nvCxnSpPr>
          <p:cNvPr id="282" name="Shape 282"/>
          <p:cNvCxnSpPr/>
          <p:nvPr/>
        </p:nvCxnSpPr>
        <p:spPr>
          <a:xfrm>
            <a:off x="0" y="3916750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3" name="Shape 283"/>
          <p:cNvCxnSpPr>
            <a:stCxn id="268" idx="0"/>
            <a:endCxn id="279" idx="2"/>
          </p:cNvCxnSpPr>
          <p:nvPr/>
        </p:nvCxnSpPr>
        <p:spPr>
          <a:xfrm rot="10800000">
            <a:off x="4389125" y="53908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Shape 239">
            <a:extLst>
              <a:ext uri="{FF2B5EF4-FFF2-40B4-BE49-F238E27FC236}">
                <a16:creationId xmlns:a16="http://schemas.microsoft.com/office/drawing/2014/main" id="{FE00801A-5E4A-45F5-FE23-B67D41036E41}"/>
              </a:ext>
            </a:extLst>
          </p:cNvPr>
          <p:cNvSpPr/>
          <p:nvPr/>
        </p:nvSpPr>
        <p:spPr>
          <a:xfrm>
            <a:off x="2492998" y="1362875"/>
            <a:ext cx="1255976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 err="1"/>
              <a:t>orig</a:t>
            </a:r>
            <a:r>
              <a:rPr lang="en-US" dirty="0"/>
              <a:t>/master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7" name="Shape 272">
            <a:extLst>
              <a:ext uri="{FF2B5EF4-FFF2-40B4-BE49-F238E27FC236}">
                <a16:creationId xmlns:a16="http://schemas.microsoft.com/office/drawing/2014/main" id="{F2F32417-F181-1D16-E9AD-474EA551647B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3464349" y="1921984"/>
            <a:ext cx="1" cy="39951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" name="Shape 272">
            <a:extLst>
              <a:ext uri="{FF2B5EF4-FFF2-40B4-BE49-F238E27FC236}">
                <a16:creationId xmlns:a16="http://schemas.microsoft.com/office/drawing/2014/main" id="{203D1E95-9B5A-D19C-C897-62955FE718BD}"/>
              </a:ext>
            </a:extLst>
          </p:cNvPr>
          <p:cNvCxnSpPr>
            <a:cxnSpLocks/>
          </p:cNvCxnSpPr>
          <p:nvPr/>
        </p:nvCxnSpPr>
        <p:spPr>
          <a:xfrm>
            <a:off x="3187208" y="5378387"/>
            <a:ext cx="845" cy="4393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" name="Shape 269">
            <a:extLst>
              <a:ext uri="{FF2B5EF4-FFF2-40B4-BE49-F238E27FC236}">
                <a16:creationId xmlns:a16="http://schemas.microsoft.com/office/drawing/2014/main" id="{8E228DF1-D7D6-5D9F-FB80-2532A8B4916D}"/>
              </a:ext>
            </a:extLst>
          </p:cNvPr>
          <p:cNvSpPr/>
          <p:nvPr/>
        </p:nvSpPr>
        <p:spPr>
          <a:xfrm>
            <a:off x="1788575" y="580925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290" name="Shape 290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91" name="Shape 291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92" name="Shape 292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93" name="Shape 293"/>
          <p:cNvCxnSpPr>
            <a:stCxn id="291" idx="1"/>
            <a:endCxn id="290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4" name="Shape 294"/>
          <p:cNvCxnSpPr>
            <a:stCxn id="292" idx="1"/>
            <a:endCxn id="291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96" name="Shape 296"/>
          <p:cNvSpPr/>
          <p:nvPr/>
        </p:nvSpPr>
        <p:spPr>
          <a:xfrm>
            <a:off x="461225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97" name="Shape 297"/>
          <p:cNvSpPr/>
          <p:nvPr/>
        </p:nvSpPr>
        <p:spPr>
          <a:xfrm>
            <a:off x="1644450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98" name="Shape 298"/>
          <p:cNvSpPr/>
          <p:nvPr/>
        </p:nvSpPr>
        <p:spPr>
          <a:xfrm>
            <a:off x="2827675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99" name="Shape 299"/>
          <p:cNvCxnSpPr>
            <a:stCxn id="297" idx="1"/>
            <a:endCxn id="296" idx="3"/>
          </p:cNvCxnSpPr>
          <p:nvPr/>
        </p:nvCxnSpPr>
        <p:spPr>
          <a:xfrm rot="10800000">
            <a:off x="1235850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0" name="Shape 300"/>
          <p:cNvCxnSpPr>
            <a:stCxn id="298" idx="1"/>
            <a:endCxn id="297" idx="3"/>
          </p:cNvCxnSpPr>
          <p:nvPr/>
        </p:nvCxnSpPr>
        <p:spPr>
          <a:xfrm rot="10800000">
            <a:off x="2419075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1" name="Shape 301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23100" y="46571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303" name="Shape 303"/>
          <p:cNvSpPr/>
          <p:nvPr/>
        </p:nvSpPr>
        <p:spPr>
          <a:xfrm>
            <a:off x="3966500" y="62000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304" name="Shape 304"/>
          <p:cNvCxnSpPr>
            <a:stCxn id="303" idx="0"/>
            <a:endCxn id="305" idx="2"/>
          </p:cNvCxnSpPr>
          <p:nvPr/>
        </p:nvCxnSpPr>
        <p:spPr>
          <a:xfrm rot="10800000">
            <a:off x="4398200" y="57731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6" name="Shape 306"/>
          <p:cNvSpPr/>
          <p:nvPr/>
        </p:nvSpPr>
        <p:spPr>
          <a:xfrm>
            <a:off x="4960100" y="38141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origin/master</a:t>
            </a:r>
          </a:p>
        </p:txBody>
      </p:sp>
      <p:cxnSp>
        <p:nvCxnSpPr>
          <p:cNvPr id="307" name="Shape 307"/>
          <p:cNvCxnSpPr/>
          <p:nvPr/>
        </p:nvCxnSpPr>
        <p:spPr>
          <a:xfrm rot="10800000">
            <a:off x="5593100" y="33819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8" name="Shape 308"/>
          <p:cNvSpPr/>
          <p:nvPr/>
        </p:nvSpPr>
        <p:spPr>
          <a:xfrm>
            <a:off x="3851650" y="1354425"/>
            <a:ext cx="14823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309" name="Shape 309"/>
          <p:cNvCxnSpPr>
            <a:cxnSpLocks/>
            <a:stCxn id="308" idx="2"/>
            <a:endCxn id="310" idx="0"/>
          </p:cNvCxnSpPr>
          <p:nvPr/>
        </p:nvCxnSpPr>
        <p:spPr>
          <a:xfrm flipH="1">
            <a:off x="4570550" y="1863825"/>
            <a:ext cx="22275" cy="45767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1" name="Shape 311"/>
          <p:cNvSpPr txBox="1"/>
          <p:nvPr/>
        </p:nvSpPr>
        <p:spPr>
          <a:xfrm>
            <a:off x="1826993" y="3731151"/>
            <a:ext cx="27969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5753100" y="125482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313" name="Shape 313"/>
          <p:cNvSpPr/>
          <p:nvPr/>
        </p:nvSpPr>
        <p:spPr>
          <a:xfrm>
            <a:off x="4151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14" name="Shape 314"/>
          <p:cNvCxnSpPr>
            <a:cxnSpLocks/>
            <a:endCxn id="308" idx="0"/>
          </p:cNvCxnSpPr>
          <p:nvPr/>
        </p:nvCxnSpPr>
        <p:spPr>
          <a:xfrm>
            <a:off x="4570550" y="1028625"/>
            <a:ext cx="22275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0" name="Shape 310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315" name="Shape 315"/>
          <p:cNvCxnSpPr>
            <a:stCxn id="310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5" name="Shape 305"/>
          <p:cNvSpPr/>
          <p:nvPr/>
        </p:nvSpPr>
        <p:spPr>
          <a:xfrm>
            <a:off x="4010900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16" name="Shape 316"/>
          <p:cNvCxnSpPr>
            <a:stCxn id="305" idx="1"/>
            <a:endCxn id="298" idx="3"/>
          </p:cNvCxnSpPr>
          <p:nvPr/>
        </p:nvCxnSpPr>
        <p:spPr>
          <a:xfrm rot="10800000">
            <a:off x="3602300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7" name="Shape 317"/>
          <p:cNvSpPr txBox="1"/>
          <p:nvPr/>
        </p:nvSpPr>
        <p:spPr>
          <a:xfrm>
            <a:off x="6226100" y="2195275"/>
            <a:ext cx="2796900" cy="4505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 b="1"/>
              <a:t>Fetch/Pull the Commit from remote repository to Remote Tracking Branch</a:t>
            </a:r>
          </a:p>
        </p:txBody>
      </p:sp>
      <p:sp>
        <p:nvSpPr>
          <p:cNvPr id="318" name="Shape 318"/>
          <p:cNvSpPr/>
          <p:nvPr/>
        </p:nvSpPr>
        <p:spPr>
          <a:xfrm>
            <a:off x="5205800" y="30264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19" name="Shape 319"/>
          <p:cNvCxnSpPr>
            <a:stCxn id="318" idx="1"/>
            <a:endCxn id="292" idx="2"/>
          </p:cNvCxnSpPr>
          <p:nvPr/>
        </p:nvCxnSpPr>
        <p:spPr>
          <a:xfrm rot="10800000">
            <a:off x="3464300" y="2677050"/>
            <a:ext cx="1741500" cy="52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20" name="Shape 320"/>
          <p:cNvSpPr/>
          <p:nvPr/>
        </p:nvSpPr>
        <p:spPr>
          <a:xfrm>
            <a:off x="4991900" y="4497050"/>
            <a:ext cx="988500" cy="20562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21" name="Shape 321"/>
          <p:cNvCxnSpPr/>
          <p:nvPr/>
        </p:nvCxnSpPr>
        <p:spPr>
          <a:xfrm>
            <a:off x="0" y="44328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Shape 269">
            <a:extLst>
              <a:ext uri="{FF2B5EF4-FFF2-40B4-BE49-F238E27FC236}">
                <a16:creationId xmlns:a16="http://schemas.microsoft.com/office/drawing/2014/main" id="{B034F0C2-27BA-9B89-3754-A3FD53C727BB}"/>
              </a:ext>
            </a:extLst>
          </p:cNvPr>
          <p:cNvSpPr/>
          <p:nvPr/>
        </p:nvSpPr>
        <p:spPr>
          <a:xfrm>
            <a:off x="1826993" y="6164967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sp>
        <p:nvSpPr>
          <p:cNvPr id="11" name="Shape 269">
            <a:extLst>
              <a:ext uri="{FF2B5EF4-FFF2-40B4-BE49-F238E27FC236}">
                <a16:creationId xmlns:a16="http://schemas.microsoft.com/office/drawing/2014/main" id="{E4695B24-9243-1647-67C8-AE19325B91FE}"/>
              </a:ext>
            </a:extLst>
          </p:cNvPr>
          <p:cNvSpPr/>
          <p:nvPr/>
        </p:nvSpPr>
        <p:spPr>
          <a:xfrm>
            <a:off x="2194680" y="3100676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12" name="Shape 304">
            <a:extLst>
              <a:ext uri="{FF2B5EF4-FFF2-40B4-BE49-F238E27FC236}">
                <a16:creationId xmlns:a16="http://schemas.microsoft.com/office/drawing/2014/main" id="{DAB89635-5CB3-2A45-5913-C2D3E95A5239}"/>
              </a:ext>
            </a:extLst>
          </p:cNvPr>
          <p:cNvCxnSpPr/>
          <p:nvPr/>
        </p:nvCxnSpPr>
        <p:spPr>
          <a:xfrm rot="10800000">
            <a:off x="3184316" y="5738067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" name="Shape 304">
            <a:extLst>
              <a:ext uri="{FF2B5EF4-FFF2-40B4-BE49-F238E27FC236}">
                <a16:creationId xmlns:a16="http://schemas.microsoft.com/office/drawing/2014/main" id="{5F4D6748-CFD8-6B3B-810D-5513DFA3C495}"/>
              </a:ext>
            </a:extLst>
          </p:cNvPr>
          <p:cNvCxnSpPr/>
          <p:nvPr/>
        </p:nvCxnSpPr>
        <p:spPr>
          <a:xfrm rot="10800000">
            <a:off x="3425550" y="2673776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328" name="Shape 328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29" name="Shape 329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30" name="Shape 330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31" name="Shape 331"/>
          <p:cNvCxnSpPr>
            <a:stCxn id="329" idx="1"/>
            <a:endCxn id="328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2" name="Shape 332"/>
          <p:cNvCxnSpPr>
            <a:stCxn id="330" idx="1"/>
            <a:endCxn id="329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origin/master</a:t>
            </a:r>
            <a:endParaRPr lang="en-US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4" name="Shape 334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35" name="Shape 335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36" name="Shape 336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37" name="Shape 337"/>
          <p:cNvCxnSpPr>
            <a:stCxn id="335" idx="1"/>
            <a:endCxn id="334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8" name="Shape 338"/>
          <p:cNvCxnSpPr>
            <a:stCxn id="336" idx="1"/>
            <a:endCxn id="335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9" name="Shape 339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341" name="Shape 341"/>
          <p:cNvSpPr/>
          <p:nvPr/>
        </p:nvSpPr>
        <p:spPr>
          <a:xfrm>
            <a:off x="3978425" y="62724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342" name="Shape 342"/>
          <p:cNvCxnSpPr>
            <a:stCxn id="341" idx="0"/>
            <a:endCxn id="343" idx="2"/>
          </p:cNvCxnSpPr>
          <p:nvPr/>
        </p:nvCxnSpPr>
        <p:spPr>
          <a:xfrm rot="10800000">
            <a:off x="4410125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4" name="Shape 344"/>
          <p:cNvSpPr/>
          <p:nvPr/>
        </p:nvSpPr>
        <p:spPr>
          <a:xfrm>
            <a:off x="4960100" y="38141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origin/master</a:t>
            </a:r>
          </a:p>
        </p:txBody>
      </p:sp>
      <p:cxnSp>
        <p:nvCxnSpPr>
          <p:cNvPr id="345" name="Shape 345"/>
          <p:cNvCxnSpPr/>
          <p:nvPr/>
        </p:nvCxnSpPr>
        <p:spPr>
          <a:xfrm rot="10800000">
            <a:off x="5593100" y="33819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6" name="Shape 346"/>
          <p:cNvSpPr/>
          <p:nvPr/>
        </p:nvSpPr>
        <p:spPr>
          <a:xfrm>
            <a:off x="4862800" y="1557675"/>
            <a:ext cx="14618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347" name="Shape 347"/>
          <p:cNvCxnSpPr>
            <a:cxnSpLocks/>
            <a:stCxn id="346" idx="2"/>
            <a:endCxn id="348" idx="0"/>
          </p:cNvCxnSpPr>
          <p:nvPr/>
        </p:nvCxnSpPr>
        <p:spPr>
          <a:xfrm flipH="1">
            <a:off x="5593100" y="2067075"/>
            <a:ext cx="600" cy="9593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9" name="Shape 349"/>
          <p:cNvSpPr txBox="1"/>
          <p:nvPr/>
        </p:nvSpPr>
        <p:spPr>
          <a:xfrm>
            <a:off x="2000525" y="4001149"/>
            <a:ext cx="27969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6502050" y="1286667"/>
            <a:ext cx="201325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351" name="Shape 351"/>
          <p:cNvSpPr/>
          <p:nvPr/>
        </p:nvSpPr>
        <p:spPr>
          <a:xfrm>
            <a:off x="5174000" y="92927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52" name="Shape 352"/>
          <p:cNvCxnSpPr>
            <a:cxnSpLocks/>
            <a:endCxn id="346" idx="0"/>
          </p:cNvCxnSpPr>
          <p:nvPr/>
        </p:nvCxnSpPr>
        <p:spPr>
          <a:xfrm>
            <a:off x="5593100" y="1231875"/>
            <a:ext cx="60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3" name="Shape 353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354" name="Shape 354"/>
          <p:cNvCxnSpPr>
            <a:stCxn id="353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3" name="Shape 343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55" name="Shape 355"/>
          <p:cNvCxnSpPr>
            <a:stCxn id="343" idx="1"/>
            <a:endCxn id="336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6" name="Shape 356"/>
          <p:cNvSpPr txBox="1"/>
          <p:nvPr/>
        </p:nvSpPr>
        <p:spPr>
          <a:xfrm>
            <a:off x="6226100" y="2067075"/>
            <a:ext cx="2796900" cy="28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810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$ git rebase origin/master</a:t>
            </a:r>
            <a:b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First, rewinding head to replay your work on top of it...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348" name="Shape 348"/>
          <p:cNvSpPr/>
          <p:nvPr/>
        </p:nvSpPr>
        <p:spPr>
          <a:xfrm>
            <a:off x="5205800" y="30264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57" name="Shape 357"/>
          <p:cNvCxnSpPr>
            <a:stCxn id="348" idx="1"/>
            <a:endCxn id="330" idx="2"/>
          </p:cNvCxnSpPr>
          <p:nvPr/>
        </p:nvCxnSpPr>
        <p:spPr>
          <a:xfrm rot="10800000">
            <a:off x="3464300" y="2677050"/>
            <a:ext cx="1741500" cy="52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58" name="Shape 358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59" name="Shape 359"/>
          <p:cNvSpPr txBox="1"/>
          <p:nvPr/>
        </p:nvSpPr>
        <p:spPr>
          <a:xfrm>
            <a:off x="7901950" y="2537625"/>
            <a:ext cx="7336500" cy="855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" name="Shape 269">
            <a:extLst>
              <a:ext uri="{FF2B5EF4-FFF2-40B4-BE49-F238E27FC236}">
                <a16:creationId xmlns:a16="http://schemas.microsoft.com/office/drawing/2014/main" id="{E9820D03-692E-C87D-F049-DFF45A95611E}"/>
              </a:ext>
            </a:extLst>
          </p:cNvPr>
          <p:cNvSpPr/>
          <p:nvPr/>
        </p:nvSpPr>
        <p:spPr>
          <a:xfrm>
            <a:off x="2418609" y="311495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7" name="Shape 345">
            <a:extLst>
              <a:ext uri="{FF2B5EF4-FFF2-40B4-BE49-F238E27FC236}">
                <a16:creationId xmlns:a16="http://schemas.microsoft.com/office/drawing/2014/main" id="{48C3A37E-0984-04ED-1C9D-D5173E0052DA}"/>
              </a:ext>
            </a:extLst>
          </p:cNvPr>
          <p:cNvCxnSpPr/>
          <p:nvPr/>
        </p:nvCxnSpPr>
        <p:spPr>
          <a:xfrm rot="10800000">
            <a:off x="3452467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Shape 269">
            <a:extLst>
              <a:ext uri="{FF2B5EF4-FFF2-40B4-BE49-F238E27FC236}">
                <a16:creationId xmlns:a16="http://schemas.microsoft.com/office/drawing/2014/main" id="{0A894F88-E942-D7CF-F866-C84C554048BC}"/>
              </a:ext>
            </a:extLst>
          </p:cNvPr>
          <p:cNvSpPr/>
          <p:nvPr/>
        </p:nvSpPr>
        <p:spPr>
          <a:xfrm>
            <a:off x="1811631" y="615143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9" name="Shape 342">
            <a:extLst>
              <a:ext uri="{FF2B5EF4-FFF2-40B4-BE49-F238E27FC236}">
                <a16:creationId xmlns:a16="http://schemas.microsoft.com/office/drawing/2014/main" id="{2FDB4CF3-60E7-7B12-0172-9779E049F986}"/>
              </a:ext>
            </a:extLst>
          </p:cNvPr>
          <p:cNvCxnSpPr>
            <a:cxnSpLocks/>
          </p:cNvCxnSpPr>
          <p:nvPr/>
        </p:nvCxnSpPr>
        <p:spPr>
          <a:xfrm flipV="1">
            <a:off x="3135308" y="5845500"/>
            <a:ext cx="0" cy="31946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366" name="Shape 366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67" name="Shape 367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68" name="Shape 368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69" name="Shape 369"/>
          <p:cNvCxnSpPr>
            <a:stCxn id="367" idx="1"/>
            <a:endCxn id="366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0" name="Shape 370"/>
          <p:cNvCxnSpPr>
            <a:stCxn id="368" idx="1"/>
            <a:endCxn id="367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71" name="Shape 3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372" name="Shape 372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73" name="Shape 373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74" name="Shape 374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75" name="Shape 375"/>
          <p:cNvCxnSpPr>
            <a:stCxn id="373" idx="1"/>
            <a:endCxn id="372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6" name="Shape 376"/>
          <p:cNvCxnSpPr>
            <a:stCxn id="374" idx="1"/>
            <a:endCxn id="373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77" name="Shape 377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379" name="Shape 379"/>
          <p:cNvSpPr/>
          <p:nvPr/>
        </p:nvSpPr>
        <p:spPr>
          <a:xfrm>
            <a:off x="3978425" y="62724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380" name="Shape 380"/>
          <p:cNvCxnSpPr>
            <a:stCxn id="379" idx="0"/>
            <a:endCxn id="381" idx="2"/>
          </p:cNvCxnSpPr>
          <p:nvPr/>
        </p:nvCxnSpPr>
        <p:spPr>
          <a:xfrm rot="10800000">
            <a:off x="4410125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2" name="Shape 382"/>
          <p:cNvSpPr/>
          <p:nvPr/>
        </p:nvSpPr>
        <p:spPr>
          <a:xfrm>
            <a:off x="4958750" y="31074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origin/master</a:t>
            </a:r>
          </a:p>
        </p:txBody>
      </p:sp>
      <p:cxnSp>
        <p:nvCxnSpPr>
          <p:cNvPr id="383" name="Shape 383"/>
          <p:cNvCxnSpPr>
            <a:stCxn id="382" idx="0"/>
            <a:endCxn id="384" idx="2"/>
          </p:cNvCxnSpPr>
          <p:nvPr/>
        </p:nvCxnSpPr>
        <p:spPr>
          <a:xfrm rot="10800000">
            <a:off x="5591750" y="2647525"/>
            <a:ext cx="0" cy="45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5" name="Shape 385"/>
          <p:cNvSpPr/>
          <p:nvPr/>
        </p:nvSpPr>
        <p:spPr>
          <a:xfrm>
            <a:off x="6060183" y="1443697"/>
            <a:ext cx="122772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386" name="Shape 386"/>
          <p:cNvCxnSpPr>
            <a:cxnSpLocks/>
            <a:endCxn id="387" idx="0"/>
          </p:cNvCxnSpPr>
          <p:nvPr/>
        </p:nvCxnSpPr>
        <p:spPr>
          <a:xfrm>
            <a:off x="6775075" y="1919613"/>
            <a:ext cx="0" cy="3724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8" name="Shape 388"/>
          <p:cNvSpPr txBox="1"/>
          <p:nvPr/>
        </p:nvSpPr>
        <p:spPr>
          <a:xfrm>
            <a:off x="352162" y="3084475"/>
            <a:ext cx="2055936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7619999" y="1378925"/>
            <a:ext cx="152387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390" name="Shape 390"/>
          <p:cNvSpPr/>
          <p:nvPr/>
        </p:nvSpPr>
        <p:spPr>
          <a:xfrm>
            <a:off x="6254945" y="833589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91" name="Shape 391"/>
          <p:cNvCxnSpPr>
            <a:cxnSpLocks/>
            <a:stCxn id="390" idx="2"/>
            <a:endCxn id="385" idx="0"/>
          </p:cNvCxnSpPr>
          <p:nvPr/>
        </p:nvCxnSpPr>
        <p:spPr>
          <a:xfrm>
            <a:off x="6674045" y="1189089"/>
            <a:ext cx="1" cy="25460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2" name="Shape 392"/>
          <p:cNvSpPr/>
          <p:nvPr/>
        </p:nvSpPr>
        <p:spPr>
          <a:xfrm>
            <a:off x="4063500" y="163462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b="1">
                <a:solidFill>
                  <a:srgbClr val="666666"/>
                </a:solidFill>
              </a:rPr>
              <a:t>6df0</a:t>
            </a:r>
            <a:r>
              <a:rPr lang="en-US" b="1">
                <a:solidFill>
                  <a:srgbClr val="CCCCCC"/>
                </a:solidFill>
              </a:rPr>
              <a:t>1</a:t>
            </a:r>
          </a:p>
        </p:txBody>
      </p:sp>
      <p:cxnSp>
        <p:nvCxnSpPr>
          <p:cNvPr id="393" name="Shape 393"/>
          <p:cNvCxnSpPr>
            <a:stCxn id="392" idx="1"/>
          </p:cNvCxnSpPr>
          <p:nvPr/>
        </p:nvCxnSpPr>
        <p:spPr>
          <a:xfrm flipH="1">
            <a:off x="3432600" y="1812375"/>
            <a:ext cx="630900" cy="50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1" name="Shape 381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94" name="Shape 394"/>
          <p:cNvCxnSpPr>
            <a:stCxn id="381" idx="1"/>
            <a:endCxn id="374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5" name="Shape 395"/>
          <p:cNvSpPr txBox="1"/>
          <p:nvPr/>
        </p:nvSpPr>
        <p:spPr>
          <a:xfrm>
            <a:off x="6366350" y="2604229"/>
            <a:ext cx="2889300" cy="4065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810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$ git rebase origin/master</a:t>
            </a:r>
            <a:b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...to replay your work on top of it…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Applying: diff/patch of commit 6dfo on top of origin/master to create commit 3f9f9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384" name="Shape 384"/>
          <p:cNvSpPr/>
          <p:nvPr/>
        </p:nvSpPr>
        <p:spPr>
          <a:xfrm>
            <a:off x="5204450" y="2292038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96" name="Shape 396"/>
          <p:cNvCxnSpPr>
            <a:stCxn id="384" idx="1"/>
            <a:endCxn id="368" idx="3"/>
          </p:cNvCxnSpPr>
          <p:nvPr/>
        </p:nvCxnSpPr>
        <p:spPr>
          <a:xfrm flipH="1">
            <a:off x="3851750" y="2469788"/>
            <a:ext cx="1352700" cy="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7" name="Shape 397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7" name="Shape 387"/>
          <p:cNvSpPr/>
          <p:nvPr/>
        </p:nvSpPr>
        <p:spPr>
          <a:xfrm>
            <a:off x="6387775" y="229205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398" name="Shape 398"/>
          <p:cNvCxnSpPr>
            <a:stCxn id="387" idx="1"/>
            <a:endCxn id="384" idx="3"/>
          </p:cNvCxnSpPr>
          <p:nvPr/>
        </p:nvCxnSpPr>
        <p:spPr>
          <a:xfrm rot="10800000">
            <a:off x="5979175" y="246980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" name="Shape 269">
            <a:extLst>
              <a:ext uri="{FF2B5EF4-FFF2-40B4-BE49-F238E27FC236}">
                <a16:creationId xmlns:a16="http://schemas.microsoft.com/office/drawing/2014/main" id="{5F36A1DE-9CD7-8B9D-0B37-1F361757147C}"/>
              </a:ext>
            </a:extLst>
          </p:cNvPr>
          <p:cNvSpPr/>
          <p:nvPr/>
        </p:nvSpPr>
        <p:spPr>
          <a:xfrm>
            <a:off x="1844780" y="627240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15" name="Shape 380">
            <a:extLst>
              <a:ext uri="{FF2B5EF4-FFF2-40B4-BE49-F238E27FC236}">
                <a16:creationId xmlns:a16="http://schemas.microsoft.com/office/drawing/2014/main" id="{038499B2-AF21-EAD7-9016-48266F0D7CD2}"/>
              </a:ext>
            </a:extLst>
          </p:cNvPr>
          <p:cNvCxnSpPr/>
          <p:nvPr/>
        </p:nvCxnSpPr>
        <p:spPr>
          <a:xfrm rot="10800000">
            <a:off x="3221637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6" name="Shape 380">
            <a:extLst>
              <a:ext uri="{FF2B5EF4-FFF2-40B4-BE49-F238E27FC236}">
                <a16:creationId xmlns:a16="http://schemas.microsoft.com/office/drawing/2014/main" id="{7443A553-4EC3-CB9D-3E3B-2309AEECAA4E}"/>
              </a:ext>
            </a:extLst>
          </p:cNvPr>
          <p:cNvCxnSpPr/>
          <p:nvPr/>
        </p:nvCxnSpPr>
        <p:spPr>
          <a:xfrm rot="10800000">
            <a:off x="3432600" y="2676937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" name="Shape 269">
            <a:extLst>
              <a:ext uri="{FF2B5EF4-FFF2-40B4-BE49-F238E27FC236}">
                <a16:creationId xmlns:a16="http://schemas.microsoft.com/office/drawing/2014/main" id="{77146BD0-A41F-ED51-FB9C-12D1961F9D9F}"/>
              </a:ext>
            </a:extLst>
          </p:cNvPr>
          <p:cNvSpPr/>
          <p:nvPr/>
        </p:nvSpPr>
        <p:spPr>
          <a:xfrm>
            <a:off x="2418609" y="311495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sp>
        <p:nvSpPr>
          <p:cNvPr id="405" name="Shape 405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06" name="Shape 406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07" name="Shape 407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08" name="Shape 408"/>
          <p:cNvCxnSpPr>
            <a:stCxn id="406" idx="1"/>
            <a:endCxn id="405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9" name="Shape 409"/>
          <p:cNvCxnSpPr>
            <a:stCxn id="407" idx="1"/>
            <a:endCxn id="406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0" name="Shape 4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411" name="Shape 411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12" name="Shape 412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13" name="Shape 413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14" name="Shape 414"/>
          <p:cNvCxnSpPr>
            <a:stCxn id="412" idx="1"/>
            <a:endCxn id="411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5" name="Shape 415"/>
          <p:cNvCxnSpPr>
            <a:stCxn id="413" idx="1"/>
            <a:endCxn id="412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6" name="Shape 416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418" name="Shape 418"/>
          <p:cNvSpPr/>
          <p:nvPr/>
        </p:nvSpPr>
        <p:spPr>
          <a:xfrm>
            <a:off x="3978425" y="6288774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419" name="Shape 419"/>
          <p:cNvCxnSpPr>
            <a:cxnSpLocks/>
            <a:stCxn id="418" idx="0"/>
            <a:endCxn id="431" idx="2"/>
          </p:cNvCxnSpPr>
          <p:nvPr/>
        </p:nvCxnSpPr>
        <p:spPr>
          <a:xfrm flipV="1">
            <a:off x="4410125" y="5845500"/>
            <a:ext cx="0" cy="44327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1" name="Shape 421"/>
          <p:cNvSpPr/>
          <p:nvPr/>
        </p:nvSpPr>
        <p:spPr>
          <a:xfrm>
            <a:off x="4946000" y="3094553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422" name="Shape 422"/>
          <p:cNvCxnSpPr>
            <a:cxnSpLocks/>
            <a:endCxn id="423" idx="2"/>
          </p:cNvCxnSpPr>
          <p:nvPr/>
        </p:nvCxnSpPr>
        <p:spPr>
          <a:xfrm flipV="1">
            <a:off x="5591750" y="2647538"/>
            <a:ext cx="0" cy="44877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4" name="Shape 424"/>
          <p:cNvSpPr/>
          <p:nvPr/>
        </p:nvSpPr>
        <p:spPr>
          <a:xfrm>
            <a:off x="5979050" y="1478513"/>
            <a:ext cx="15647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425" name="Shape 425"/>
          <p:cNvCxnSpPr>
            <a:cxnSpLocks/>
            <a:stCxn id="424" idx="2"/>
            <a:endCxn id="426" idx="0"/>
          </p:cNvCxnSpPr>
          <p:nvPr/>
        </p:nvCxnSpPr>
        <p:spPr>
          <a:xfrm>
            <a:off x="6761425" y="1987913"/>
            <a:ext cx="13650" cy="3041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7" name="Shape 427"/>
          <p:cNvSpPr txBox="1"/>
          <p:nvPr/>
        </p:nvSpPr>
        <p:spPr>
          <a:xfrm>
            <a:off x="897440" y="2869237"/>
            <a:ext cx="114623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428" name="Shape 428"/>
          <p:cNvSpPr txBox="1"/>
          <p:nvPr/>
        </p:nvSpPr>
        <p:spPr>
          <a:xfrm>
            <a:off x="7727555" y="1140583"/>
            <a:ext cx="1323237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429" name="Shape 429"/>
          <p:cNvSpPr/>
          <p:nvPr/>
        </p:nvSpPr>
        <p:spPr>
          <a:xfrm>
            <a:off x="6355975" y="850113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430" name="Shape 430"/>
          <p:cNvCxnSpPr>
            <a:cxnSpLocks/>
            <a:endCxn id="424" idx="0"/>
          </p:cNvCxnSpPr>
          <p:nvPr/>
        </p:nvCxnSpPr>
        <p:spPr>
          <a:xfrm flipH="1">
            <a:off x="6761425" y="1152713"/>
            <a:ext cx="1365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1" name="Shape 431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32" name="Shape 432"/>
          <p:cNvCxnSpPr>
            <a:stCxn id="431" idx="1"/>
            <a:endCxn id="413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3" name="Shape 433"/>
          <p:cNvSpPr txBox="1"/>
          <p:nvPr/>
        </p:nvSpPr>
        <p:spPr>
          <a:xfrm>
            <a:off x="7543800" y="2677000"/>
            <a:ext cx="1600425" cy="341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810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$ git push</a:t>
            </a:r>
            <a:b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of commit 3f9f9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423" name="Shape 423"/>
          <p:cNvSpPr/>
          <p:nvPr/>
        </p:nvSpPr>
        <p:spPr>
          <a:xfrm>
            <a:off x="5204450" y="2292038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34" name="Shape 434"/>
          <p:cNvCxnSpPr>
            <a:stCxn id="423" idx="1"/>
            <a:endCxn id="407" idx="3"/>
          </p:cNvCxnSpPr>
          <p:nvPr/>
        </p:nvCxnSpPr>
        <p:spPr>
          <a:xfrm flipH="1">
            <a:off x="3851750" y="2469788"/>
            <a:ext cx="1352700" cy="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35" name="Shape 435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6" name="Shape 426"/>
          <p:cNvSpPr/>
          <p:nvPr/>
        </p:nvSpPr>
        <p:spPr>
          <a:xfrm>
            <a:off x="6387775" y="229205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36" name="Shape 436"/>
          <p:cNvCxnSpPr>
            <a:stCxn id="426" idx="1"/>
            <a:endCxn id="423" idx="3"/>
          </p:cNvCxnSpPr>
          <p:nvPr/>
        </p:nvCxnSpPr>
        <p:spPr>
          <a:xfrm rot="10800000">
            <a:off x="5979175" y="246980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0" name="Shape 420"/>
          <p:cNvSpPr/>
          <p:nvPr/>
        </p:nvSpPr>
        <p:spPr>
          <a:xfrm>
            <a:off x="6286113" y="5490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37" name="Shape 437"/>
          <p:cNvCxnSpPr>
            <a:stCxn id="420" idx="1"/>
            <a:endCxn id="431" idx="3"/>
          </p:cNvCxnSpPr>
          <p:nvPr/>
        </p:nvCxnSpPr>
        <p:spPr>
          <a:xfrm rot="10800000">
            <a:off x="4797513" y="5667751"/>
            <a:ext cx="14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8" name="Shape 438"/>
          <p:cNvSpPr/>
          <p:nvPr/>
        </p:nvSpPr>
        <p:spPr>
          <a:xfrm>
            <a:off x="6387574" y="2825302"/>
            <a:ext cx="610200" cy="260628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" name="Shape 380">
            <a:extLst>
              <a:ext uri="{FF2B5EF4-FFF2-40B4-BE49-F238E27FC236}">
                <a16:creationId xmlns:a16="http://schemas.microsoft.com/office/drawing/2014/main" id="{710486FB-EA5A-71CE-4307-82ECFE648C7C}"/>
              </a:ext>
            </a:extLst>
          </p:cNvPr>
          <p:cNvCxnSpPr/>
          <p:nvPr/>
        </p:nvCxnSpPr>
        <p:spPr>
          <a:xfrm rot="10800000">
            <a:off x="6651741" y="5810658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Shape 269">
            <a:extLst>
              <a:ext uri="{FF2B5EF4-FFF2-40B4-BE49-F238E27FC236}">
                <a16:creationId xmlns:a16="http://schemas.microsoft.com/office/drawing/2014/main" id="{59C92189-9734-4F4B-C387-EFB6615831BC}"/>
              </a:ext>
            </a:extLst>
          </p:cNvPr>
          <p:cNvSpPr/>
          <p:nvPr/>
        </p:nvSpPr>
        <p:spPr>
          <a:xfrm>
            <a:off x="5637750" y="6248675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10" name="Shape 380">
            <a:extLst>
              <a:ext uri="{FF2B5EF4-FFF2-40B4-BE49-F238E27FC236}">
                <a16:creationId xmlns:a16="http://schemas.microsoft.com/office/drawing/2014/main" id="{93CDAE70-4668-B885-45DC-EF336EAAC62F}"/>
              </a:ext>
            </a:extLst>
          </p:cNvPr>
          <p:cNvCxnSpPr>
            <a:cxnSpLocks/>
          </p:cNvCxnSpPr>
          <p:nvPr/>
        </p:nvCxnSpPr>
        <p:spPr>
          <a:xfrm flipV="1">
            <a:off x="3321618" y="2659488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" name="Shape 269">
            <a:extLst>
              <a:ext uri="{FF2B5EF4-FFF2-40B4-BE49-F238E27FC236}">
                <a16:creationId xmlns:a16="http://schemas.microsoft.com/office/drawing/2014/main" id="{2979DD7D-F776-B608-310D-4814481A5454}"/>
              </a:ext>
            </a:extLst>
          </p:cNvPr>
          <p:cNvSpPr/>
          <p:nvPr/>
        </p:nvSpPr>
        <p:spPr>
          <a:xfrm>
            <a:off x="2453217" y="3097505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  <p:sp>
        <p:nvSpPr>
          <p:cNvPr id="445" name="Shape 445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46" name="Shape 446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47" name="Shape 447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48" name="Shape 448"/>
          <p:cNvCxnSpPr>
            <a:stCxn id="446" idx="1"/>
            <a:endCxn id="445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49" name="Shape 449"/>
          <p:cNvCxnSpPr>
            <a:stCxn id="447" idx="1"/>
            <a:endCxn id="446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0" name="Shape 4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451" name="Shape 451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52" name="Shape 452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53" name="Shape 453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54" name="Shape 454"/>
          <p:cNvCxnSpPr>
            <a:stCxn id="452" idx="1"/>
            <a:endCxn id="451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55" name="Shape 455"/>
          <p:cNvCxnSpPr>
            <a:stCxn id="453" idx="1"/>
            <a:endCxn id="452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6" name="Shape 456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458" name="Shape 458"/>
          <p:cNvSpPr/>
          <p:nvPr/>
        </p:nvSpPr>
        <p:spPr>
          <a:xfrm>
            <a:off x="3978425" y="6261974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459" name="Shape 459"/>
          <p:cNvCxnSpPr>
            <a:cxnSpLocks/>
            <a:stCxn id="458" idx="0"/>
            <a:endCxn id="470" idx="2"/>
          </p:cNvCxnSpPr>
          <p:nvPr/>
        </p:nvCxnSpPr>
        <p:spPr>
          <a:xfrm flipV="1">
            <a:off x="4410125" y="5845500"/>
            <a:ext cx="0" cy="41647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1" name="Shape 461"/>
          <p:cNvSpPr/>
          <p:nvPr/>
        </p:nvSpPr>
        <p:spPr>
          <a:xfrm>
            <a:off x="4319128" y="3109231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462" name="Shape 462"/>
          <p:cNvCxnSpPr>
            <a:cxnSpLocks/>
            <a:stCxn id="461" idx="0"/>
            <a:endCxn id="473" idx="2"/>
          </p:cNvCxnSpPr>
          <p:nvPr/>
        </p:nvCxnSpPr>
        <p:spPr>
          <a:xfrm flipV="1">
            <a:off x="4952128" y="2677000"/>
            <a:ext cx="614947" cy="43223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4" name="Shape 464"/>
          <p:cNvSpPr/>
          <p:nvPr/>
        </p:nvSpPr>
        <p:spPr>
          <a:xfrm>
            <a:off x="5791199" y="1509673"/>
            <a:ext cx="1937099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465" name="Shape 465"/>
          <p:cNvCxnSpPr>
            <a:cxnSpLocks/>
            <a:stCxn id="464" idx="2"/>
            <a:endCxn id="463" idx="0"/>
          </p:cNvCxnSpPr>
          <p:nvPr/>
        </p:nvCxnSpPr>
        <p:spPr>
          <a:xfrm flipH="1">
            <a:off x="6757593" y="2019073"/>
            <a:ext cx="2156" cy="30406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6" name="Shape 466"/>
          <p:cNvSpPr txBox="1"/>
          <p:nvPr/>
        </p:nvSpPr>
        <p:spPr>
          <a:xfrm>
            <a:off x="1452075" y="3097625"/>
            <a:ext cx="1855646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467" name="Shape 467"/>
          <p:cNvSpPr txBox="1"/>
          <p:nvPr/>
        </p:nvSpPr>
        <p:spPr>
          <a:xfrm>
            <a:off x="7578830" y="575710"/>
            <a:ext cx="156517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468" name="Shape 468"/>
          <p:cNvSpPr/>
          <p:nvPr/>
        </p:nvSpPr>
        <p:spPr>
          <a:xfrm>
            <a:off x="6355975" y="850113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469" name="Shape 469"/>
          <p:cNvCxnSpPr>
            <a:cxnSpLocks/>
            <a:endCxn id="464" idx="0"/>
          </p:cNvCxnSpPr>
          <p:nvPr/>
        </p:nvCxnSpPr>
        <p:spPr>
          <a:xfrm>
            <a:off x="6740630" y="1183873"/>
            <a:ext cx="19119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0" name="Shape 470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71" name="Shape 471"/>
          <p:cNvCxnSpPr>
            <a:stCxn id="470" idx="1"/>
            <a:endCxn id="453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2" name="Shape 472"/>
          <p:cNvSpPr txBox="1"/>
          <p:nvPr/>
        </p:nvSpPr>
        <p:spPr>
          <a:xfrm>
            <a:off x="7331850" y="2469800"/>
            <a:ext cx="1739700" cy="4312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429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After push Remote Tracking Branch and Tracking (Local) branch points to the same commit 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473" name="Shape 473"/>
          <p:cNvSpPr/>
          <p:nvPr/>
        </p:nvSpPr>
        <p:spPr>
          <a:xfrm>
            <a:off x="517977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74" name="Shape 474"/>
          <p:cNvCxnSpPr>
            <a:stCxn id="473" idx="1"/>
            <a:endCxn id="447" idx="3"/>
          </p:cNvCxnSpPr>
          <p:nvPr/>
        </p:nvCxnSpPr>
        <p:spPr>
          <a:xfrm flipH="1">
            <a:off x="3851650" y="2499250"/>
            <a:ext cx="132812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75" name="Shape 475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3" name="Shape 463"/>
          <p:cNvSpPr/>
          <p:nvPr/>
        </p:nvSpPr>
        <p:spPr>
          <a:xfrm>
            <a:off x="6370293" y="232313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76" name="Shape 476"/>
          <p:cNvCxnSpPr>
            <a:stCxn id="463" idx="1"/>
            <a:endCxn id="473" idx="3"/>
          </p:cNvCxnSpPr>
          <p:nvPr/>
        </p:nvCxnSpPr>
        <p:spPr>
          <a:xfrm flipH="1" flipV="1">
            <a:off x="5954375" y="2499250"/>
            <a:ext cx="415918" cy="163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0" name="Shape 460"/>
          <p:cNvSpPr/>
          <p:nvPr/>
        </p:nvSpPr>
        <p:spPr>
          <a:xfrm>
            <a:off x="6286113" y="5490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77" name="Shape 477"/>
          <p:cNvCxnSpPr>
            <a:stCxn id="460" idx="1"/>
            <a:endCxn id="470" idx="3"/>
          </p:cNvCxnSpPr>
          <p:nvPr/>
        </p:nvCxnSpPr>
        <p:spPr>
          <a:xfrm rot="10800000">
            <a:off x="4797513" y="5667751"/>
            <a:ext cx="14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" name="Shape 380">
            <a:extLst>
              <a:ext uri="{FF2B5EF4-FFF2-40B4-BE49-F238E27FC236}">
                <a16:creationId xmlns:a16="http://schemas.microsoft.com/office/drawing/2014/main" id="{AAC57456-22F8-962D-1BBB-ECBADC25B401}"/>
              </a:ext>
            </a:extLst>
          </p:cNvPr>
          <p:cNvCxnSpPr>
            <a:cxnSpLocks/>
          </p:cNvCxnSpPr>
          <p:nvPr/>
        </p:nvCxnSpPr>
        <p:spPr>
          <a:xfrm flipV="1">
            <a:off x="6746302" y="2675412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" name="Shape 269">
            <a:extLst>
              <a:ext uri="{FF2B5EF4-FFF2-40B4-BE49-F238E27FC236}">
                <a16:creationId xmlns:a16="http://schemas.microsoft.com/office/drawing/2014/main" id="{037DC6C4-E27D-B9D4-4FB4-E79864C7265C}"/>
              </a:ext>
            </a:extLst>
          </p:cNvPr>
          <p:cNvSpPr/>
          <p:nvPr/>
        </p:nvSpPr>
        <p:spPr>
          <a:xfrm>
            <a:off x="5877901" y="3113429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20" name="Shape 380">
            <a:extLst>
              <a:ext uri="{FF2B5EF4-FFF2-40B4-BE49-F238E27FC236}">
                <a16:creationId xmlns:a16="http://schemas.microsoft.com/office/drawing/2014/main" id="{24CF52AD-2B95-815F-4C5B-DB79A1242DB1}"/>
              </a:ext>
            </a:extLst>
          </p:cNvPr>
          <p:cNvCxnSpPr>
            <a:cxnSpLocks/>
          </p:cNvCxnSpPr>
          <p:nvPr/>
        </p:nvCxnSpPr>
        <p:spPr>
          <a:xfrm flipV="1">
            <a:off x="6659600" y="58091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" name="Shape 269">
            <a:extLst>
              <a:ext uri="{FF2B5EF4-FFF2-40B4-BE49-F238E27FC236}">
                <a16:creationId xmlns:a16="http://schemas.microsoft.com/office/drawing/2014/main" id="{16FCD6BD-B9FE-9470-66FE-BE611566BFA5}"/>
              </a:ext>
            </a:extLst>
          </p:cNvPr>
          <p:cNvSpPr/>
          <p:nvPr/>
        </p:nvSpPr>
        <p:spPr>
          <a:xfrm>
            <a:off x="5791199" y="6247117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 dirty="0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 dirty="0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2000" b="1" i="0" u="none" dirty="0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Do not rebase commits that you have pushed to a public repository.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If you follow that guideline, you’ll be fine. If you don’t, people will hate you, and you’ll be scorned by friends and family.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 dirty="0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 dirty="0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28600" marR="0" lvl="0" indent="-228600" algn="l" rtl="0"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 dirty="0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3" name="Shape 483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Perils of rebase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title"/>
          </p:nvPr>
        </p:nvSpPr>
        <p:spPr>
          <a:xfrm>
            <a:off x="457200" y="2570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Question?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44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44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400"/>
              <a:t>Thanks!</a:t>
            </a:r>
          </a:p>
        </p:txBody>
      </p:sp>
      <p:sp>
        <p:nvSpPr>
          <p:cNvPr id="630" name="Shape 630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31" name="Shape 631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>
          <a:extLst>
            <a:ext uri="{FF2B5EF4-FFF2-40B4-BE49-F238E27FC236}">
              <a16:creationId xmlns:a16="http://schemas.microsoft.com/office/drawing/2014/main" id="{DFA0155E-2431-CDE4-0C6D-78CA1F0C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>
            <a:extLst>
              <a:ext uri="{FF2B5EF4-FFF2-40B4-BE49-F238E27FC236}">
                <a16:creationId xmlns:a16="http://schemas.microsoft.com/office/drawing/2014/main" id="{2AC00E51-2789-88EE-93F3-818F47E2A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570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400" dirty="0"/>
              <a:t>Backup Slides</a:t>
            </a:r>
            <a:endParaRPr lang="en-US" sz="4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Shape 630">
            <a:extLst>
              <a:ext uri="{FF2B5EF4-FFF2-40B4-BE49-F238E27FC236}">
                <a16:creationId xmlns:a16="http://schemas.microsoft.com/office/drawing/2014/main" id="{45B116FF-874C-9E5A-756A-569120F30B1E}"/>
              </a:ext>
            </a:extLst>
          </p:cNvPr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31" name="Shape 631">
            <a:extLst>
              <a:ext uri="{FF2B5EF4-FFF2-40B4-BE49-F238E27FC236}">
                <a16:creationId xmlns:a16="http://schemas.microsoft.com/office/drawing/2014/main" id="{0E1D2398-987E-0414-A5FF-FD5DB6481B50}"/>
              </a:ext>
            </a:extLst>
          </p:cNvPr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244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commit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Shape 55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59" name="Shape 55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Shape 56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273175"/>
            <a:ext cx="8796337" cy="48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squashing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Shape 566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67" name="Shape 567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Shape 56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549400"/>
            <a:ext cx="9150350" cy="43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0" y="149800"/>
            <a:ext cx="91440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Best practices - concise commit messages</a:t>
            </a:r>
          </a:p>
        </p:txBody>
      </p:sp>
      <p:sp>
        <p:nvSpPr>
          <p:cNvPr id="575" name="Shape 575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pic>
        <p:nvPicPr>
          <p:cNvPr id="576" name="Shape 576" descr="commit_message_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4500"/>
            <a:ext cx="9144000" cy="39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tag milestones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Shape 607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Shape 60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9" name="Shape 60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Shape 6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9050"/>
            <a:ext cx="9109075" cy="46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0cf9a1c-2cb1-4d38-9733-321b2d511f49}" enabled="1" method="Standar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913</Words>
  <Application>Microsoft Macintosh PowerPoint</Application>
  <PresentationFormat>On-screen Show (4:3)</PresentationFormat>
  <Paragraphs>264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Amatic SC</vt:lpstr>
      <vt:lpstr>Source Code Pro</vt:lpstr>
      <vt:lpstr>Merriweather</vt:lpstr>
      <vt:lpstr>Arial</vt:lpstr>
      <vt:lpstr>Beach Day</vt:lpstr>
      <vt:lpstr>My open source  Git Training with hands-on for GitHub User Group   </vt:lpstr>
      <vt:lpstr>Git – meaning?</vt:lpstr>
      <vt:lpstr>About myself: Ilya Rokhkin  - 20+ years experience in Version Control Systems - Git trainer in Checkpoint, Intel, Marvell, and Freelancer. - Volunteer as a Hebrew teacher in “Ulpan” for 10+ years  </vt:lpstr>
      <vt:lpstr>The Working Tree   </vt:lpstr>
      <vt:lpstr>Objects </vt:lpstr>
      <vt:lpstr>Commit Object</vt:lpstr>
      <vt:lpstr>Commit object with its parent Links from tree object to common blobs</vt:lpstr>
      <vt:lpstr>The HEAD</vt:lpstr>
      <vt:lpstr>Rebasing Remote Tracking Branch</vt:lpstr>
      <vt:lpstr>Rebasing Remote Tracking Branch</vt:lpstr>
      <vt:lpstr>Rebasing Remote Tracking Branch</vt:lpstr>
      <vt:lpstr>Rebasing Remote Tracking Branch</vt:lpstr>
      <vt:lpstr>Rebasing origin/master</vt:lpstr>
      <vt:lpstr>Rebasing Remote Tracking Branch</vt:lpstr>
      <vt:lpstr>Rebasing Remote Tracking Branch</vt:lpstr>
      <vt:lpstr>Rebasing Remote Tracking Branch</vt:lpstr>
      <vt:lpstr>Perils of rebase</vt:lpstr>
      <vt:lpstr>Question?   Thanks!</vt:lpstr>
      <vt:lpstr>Backup Slides</vt:lpstr>
      <vt:lpstr>Best practices – commit  </vt:lpstr>
      <vt:lpstr>Best practices – squashing  </vt:lpstr>
      <vt:lpstr>Best practices - concise commit messages</vt:lpstr>
      <vt:lpstr>Best practices – tag milestones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General Training</dc:title>
  <cp:lastModifiedBy>Ilya Rokhkin</cp:lastModifiedBy>
  <cp:revision>35</cp:revision>
  <dcterms:modified xsi:type="dcterms:W3CDTF">2025-03-01T12:18:17Z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qminfo">
    <vt:i4>1</vt:i4>
  </property>
  <property fmtid="{D5CDD505-2E9C-101B-9397-08002B2CF9AE}" pid="3" name="lqmsess">
    <vt:lpwstr>7023367f-5dc9-40c2-96e2-f2d6fcd97955</vt:lpwstr>
  </property>
</Properties>
</file>