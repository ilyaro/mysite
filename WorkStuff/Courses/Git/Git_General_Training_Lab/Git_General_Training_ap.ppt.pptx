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56"/>
  </p:notesMasterIdLst>
  <p:sldIdLst>
    <p:sldId id="256" r:id="rId2"/>
    <p:sldId id="307" r:id="rId3"/>
    <p:sldId id="308" r:id="rId4"/>
    <p:sldId id="257" r:id="rId5"/>
    <p:sldId id="258" r:id="rId6"/>
    <p:sldId id="346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</p:sldIdLst>
  <p:sldSz cx="9144000" cy="6858000" type="screen4x3"/>
  <p:notesSz cx="6934200" cy="9232900"/>
  <p:embeddedFontLst>
    <p:embeddedFont>
      <p:font typeface="Amatic SC" pitchFamily="2" charset="-79"/>
      <p:regular r:id="rId57"/>
      <p:bold r:id="rId58"/>
    </p:embeddedFont>
    <p:embeddedFont>
      <p:font typeface="Merriweather" pitchFamily="2" charset="77"/>
      <p:regular r:id="rId59"/>
      <p:bold r:id="rId60"/>
      <p:italic r:id="rId61"/>
      <p:boldItalic r:id="rId62"/>
    </p:embeddedFont>
    <p:embeddedFont>
      <p:font typeface="Source Code Pro" panose="020B0509030403020204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>
      <p:cViewPr varScale="1">
        <p:scale>
          <a:sx n="117" d="100"/>
          <a:sy n="117" d="100"/>
        </p:scale>
        <p:origin x="2024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7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8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82" name="Shape 8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Shape 9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91" name="Shape 9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05" name="Shape 10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1" name="Shape 12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Shape 14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43" name="Shape 14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3" name="Shape 15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62" name="Shape 1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Shape 18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81" name="Shape 18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Shape 21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19" name="Shape 21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7" name="Shape 28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32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Shape 3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63" name="Shape 36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40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Shape 40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02" name="Shape 40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Shape 4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42" name="Shape 4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0" name="Shape 48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48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Shape 48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9" name="Shape 48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Shape 4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95" name="Shape 4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4" name="Shape 5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51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13" name="Shape 51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52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2" name="Shape 52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53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1" name="Shape 53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53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9" name="Shape 53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54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Shape 54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49" name="Shape 54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Shape 61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Shape 61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14" name="Shape 61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61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Shape 6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21" name="Shape 62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63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Shape 63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5" name="Shape 63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Shape 6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Shape 6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2" name="Shape 6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64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Shape 64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0" name="Shape 65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Shape 6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Shape 65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7" name="Shape 65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6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Shape 6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4" name="Shape 66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Shape 6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Shape 6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2" name="Shape 6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67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Shape 6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0" name="Shape 68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Shape 6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8" name="Shape 6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6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95" name="Shape 6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General Training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Deep inspection of basic commands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2023</a:t>
            </a:r>
            <a:endParaRPr lang="en-US" sz="2000" b="0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Agenda:</a:t>
            </a:r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457200" y="1981200"/>
            <a:ext cx="8229600" cy="467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1. Basic concepts and commands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Git Architecture, data model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DVCS, Repository, Commit, Parent Commit, Tree, Blob, Index.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Staged, Modified, Committed files.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Basic commands to work in Repository and outside.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Sharing work with peers.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Best practices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strike="noStrike" cap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2. Practical part, lab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206850" y="1793700"/>
            <a:ext cx="8229600" cy="327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Quick and efficient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Expedite distributed development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Atomic transactions, commit, </a:t>
            </a:r>
            <a:r>
              <a:rPr lang="en-US"/>
              <a:t>cross repository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/>
              <a:t>Commits (Change) management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 clea</a:t>
            </a:r>
            <a:r>
              <a:rPr lang="en-US"/>
              <a:t>r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internal design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Suited to</a:t>
            </a:r>
            <a:r>
              <a:rPr lang="en-US"/>
              <a:t> handle everything from small to very large projects with speed and efficiency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Support and encourage branched development</a:t>
            </a: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Shape 79"/>
          <p:cNvSpPr txBox="1"/>
          <p:nvPr/>
        </p:nvSpPr>
        <p:spPr>
          <a:xfrm>
            <a:off x="461825" y="708025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>
                <a:solidFill>
                  <a:schemeClr val="dk2"/>
                </a:solidFill>
              </a:rPr>
              <a:t>GIT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14600"/>
          </a:xfrm>
        </p:spPr>
        <p:txBody>
          <a:bodyPr/>
          <a:lstStyle/>
          <a:p>
            <a:r>
              <a:rPr lang="en-US" dirty="0"/>
              <a:t>About myself: Ilya Rokhkin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Official Git trainer in Checkpoint, Intel, Marvell.</a:t>
            </a:r>
            <a:br>
              <a:rPr lang="en-US" sz="2800" dirty="0"/>
            </a:br>
            <a:r>
              <a:rPr lang="en-US" sz="2800" dirty="0"/>
              <a:t>- Freelance Git trainer.</a:t>
            </a:r>
            <a:br>
              <a:rPr lang="en-US" sz="2800" dirty="0"/>
            </a:br>
            <a:r>
              <a:rPr lang="en-US" sz="2800" dirty="0"/>
              <a:t>- Volunteer as Hebrew teacher in “</a:t>
            </a:r>
            <a:r>
              <a:rPr lang="en-US" sz="2800" dirty="0" err="1"/>
              <a:t>Ulpan</a:t>
            </a:r>
            <a:r>
              <a:rPr lang="en-US" sz="2800" dirty="0"/>
              <a:t>”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51460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 txBox="1">
            <a:spLocks noGrp="1"/>
          </p:cNvSpPr>
          <p:nvPr>
            <p:ph type="title"/>
          </p:nvPr>
        </p:nvSpPr>
        <p:spPr>
          <a:xfrm>
            <a:off x="0" y="200"/>
            <a:ext cx="1617600" cy="685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/>
              <a:t>Architecture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1 Local repo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2 Remote (Origin)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3 Common</a:t>
            </a:r>
            <a:br>
              <a:rPr lang="en-US" sz="1800"/>
            </a:br>
            <a:r>
              <a:rPr lang="en-US" sz="1800"/>
              <a:t>(Community) Remote Origin</a:t>
            </a:r>
          </a:p>
        </p:txBody>
      </p:sp>
      <p:sp>
        <p:nvSpPr>
          <p:cNvPr id="85" name="Shape 8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Nov 20,2011</a:t>
            </a:r>
          </a:p>
        </p:txBody>
      </p:sp>
      <p:sp>
        <p:nvSpPr>
          <p:cNvPr id="86" name="Shape 8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Shape 87" descr="Github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4825" y="0"/>
            <a:ext cx="767917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-25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1 - 2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configure your git user and e-mail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Will create remote, bare repository in home dir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Clone it to work repo1 in home dir also, add,commit and push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Restructure files, add, commit and push</a:t>
            </a:r>
            <a:br>
              <a:rPr lang="en-US" sz="3000"/>
            </a:br>
            <a:endParaRPr lang="en-US" sz="3000"/>
          </a:p>
        </p:txBody>
      </p:sp>
      <p:sp>
        <p:nvSpPr>
          <p:cNvPr id="94" name="Shape 9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repository structure (.git)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01" name="Shape 10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Shape 102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447800"/>
            <a:ext cx="7696200" cy="495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/>
              <a:t>W</a:t>
            </a: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orking Tree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246475" y="1596700"/>
            <a:ext cx="8440200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Working tree has all files and folders as found in your HEAD,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plus the changes you made since your last commit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There is only ONE main working tree per repository (and only 1 .git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folder as well)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Working Tree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Shape 10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Shape 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52800" y="3097650"/>
            <a:ext cx="3276600" cy="30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Shape 112"/>
          <p:cNvSpPr/>
          <p:nvPr/>
        </p:nvSpPr>
        <p:spPr>
          <a:xfrm>
            <a:off x="2537325" y="4654150"/>
            <a:ext cx="1203300" cy="87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States of files in Working Tree</a:t>
            </a:r>
          </a:p>
        </p:txBody>
      </p:sp>
      <p:sp>
        <p:nvSpPr>
          <p:cNvPr id="118" name="Shape 11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ACACAC"/>
                </a:solidFill>
                <a:latin typeface="Arial"/>
                <a:ea typeface="Arial"/>
                <a:cs typeface="Arial"/>
                <a:sym typeface="Arial"/>
              </a:rPr>
              <a:t>Untracked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in the repository folder, git does not keep a version of 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Modified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tracked, modified since last stage or commit.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Staged</a:t>
            </a:r>
            <a:r>
              <a:rPr lang="en-US" sz="2000" b="0" i="0" u="none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– a snapshot of the file, ready to be committed. Even if modified, git will still keep the snapshot.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Committed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version of file saved in repository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</a:t>
            </a:r>
          </a:p>
        </p:txBody>
      </p:sp>
      <p:sp>
        <p:nvSpPr>
          <p:cNvPr id="124" name="Shape 124"/>
          <p:cNvSpPr txBox="1">
            <a:spLocks noGrp="1"/>
          </p:cNvSpPr>
          <p:nvPr>
            <p:ph type="body" idx="1"/>
          </p:nvPr>
        </p:nvSpPr>
        <p:spPr>
          <a:xfrm>
            <a:off x="152400" y="990600"/>
            <a:ext cx="8763000" cy="586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Every object in GIT composed of </a:t>
            </a:r>
            <a:r>
              <a:rPr lang="en-US" dirty="0"/>
              <a:t>those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elements – </a:t>
            </a: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endParaRPr sz="1800" b="1" dirty="0">
              <a:solidFill>
                <a:srgbClr val="000000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 –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“blob”, “tree”, “commit”, “refs” (branch/tag).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"blob" is basically like a file – it is used to store the content of a source file.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"tree" is basically like a directory - it references a group of other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trees (subdirectories) and/or blobs (files).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A "commit" points to a single tree, marking it as what the project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  looked like at a certain point in time. Keeps changed files since the last commit, author of the changes, a reference to the parent commit(s), etc.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A “refs" is a way to mark a specific commit as special in some way. It is usually used to tag certain commits as specific releases or something along those lines.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cont.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Shape 130"/>
          <p:cNvSpPr txBox="1">
            <a:spLocks noGrp="1"/>
          </p:cNvSpPr>
          <p:nvPr>
            <p:ph type="body" idx="1"/>
          </p:nvPr>
        </p:nvSpPr>
        <p:spPr>
          <a:xfrm>
            <a:off x="152400" y="1143000"/>
            <a:ext cx="8763000" cy="5257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Almost all of GIT is built around manipulating this simple structure of four different object types. It is sort of </a:t>
            </a:r>
            <a:r>
              <a:rPr lang="en-US"/>
              <a:t>it's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own little file system that sits on top of your machine's file system.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/>
              <a:t>Let's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say we have a small project that looks like this: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If we will commit this project to a GIT repository, it will be represented in GIT like this: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Shape 1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617787"/>
            <a:ext cx="3276600" cy="2160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 txBox="1">
            <a:spLocks noGrp="1"/>
          </p:cNvSpPr>
          <p:nvPr>
            <p:ph type="title"/>
          </p:nvPr>
        </p:nvSpPr>
        <p:spPr>
          <a:xfrm>
            <a:off x="78300" y="0"/>
            <a:ext cx="8563200" cy="1232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Commit object with its parent</a:t>
            </a:r>
          </a:p>
          <a:p>
            <a:pPr marL="457200" lvl="0" indent="-381000">
              <a:spcBef>
                <a:spcPts val="0"/>
              </a:spcBef>
              <a:buClr>
                <a:schemeClr val="accent5"/>
              </a:buClr>
              <a:buSzPct val="100000"/>
              <a:buChar char="●"/>
            </a:pPr>
            <a:r>
              <a:rPr lang="en-US" sz="2400"/>
              <a:t>Links from tree object to common blobs</a:t>
            </a:r>
          </a:p>
        </p:txBody>
      </p:sp>
      <p:sp>
        <p:nvSpPr>
          <p:cNvPr id="146" name="Shape 146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pic>
        <p:nvPicPr>
          <p:cNvPr id="147" name="Shape 147" descr="Git_objec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5750" y="1318025"/>
            <a:ext cx="7252150" cy="537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Shape 148"/>
          <p:cNvSpPr txBox="1"/>
          <p:nvPr/>
        </p:nvSpPr>
        <p:spPr>
          <a:xfrm>
            <a:off x="318975" y="1754375"/>
            <a:ext cx="14499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Commit Obj</a:t>
            </a:r>
          </a:p>
        </p:txBody>
      </p:sp>
      <p:sp>
        <p:nvSpPr>
          <p:cNvPr id="149" name="Shape 149"/>
          <p:cNvSpPr txBox="1"/>
          <p:nvPr/>
        </p:nvSpPr>
        <p:spPr>
          <a:xfrm>
            <a:off x="434925" y="3699500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Tree Obj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8000" y="5669075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Blob obj.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155"/>
          <p:cNvSpPr txBox="1">
            <a:spLocks noGrp="1"/>
          </p:cNvSpPr>
          <p:nvPr>
            <p:ph type="title"/>
          </p:nvPr>
        </p:nvSpPr>
        <p:spPr>
          <a:xfrm>
            <a:off x="139262" y="161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Secure Hash Algorithm – SHA1</a:t>
            </a:r>
          </a:p>
        </p:txBody>
      </p:sp>
      <p:sp>
        <p:nvSpPr>
          <p:cNvPr id="156" name="Shape 156"/>
          <p:cNvSpPr txBox="1">
            <a:spLocks noGrp="1"/>
          </p:cNvSpPr>
          <p:nvPr>
            <p:ph type="body" idx="1"/>
          </p:nvPr>
        </p:nvSpPr>
        <p:spPr>
          <a:xfrm>
            <a:off x="0" y="729300"/>
            <a:ext cx="8368800" cy="5724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Each object in GIT is represented by a 40-digit string, that looks something like that: 7bf68ebf3d8cff042bd3cb87e7592ddda9caa665.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This string is being calculated by taking the SHA1 hash of the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contents of the object.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br>
              <a:rPr lang="en-US"/>
            </a:br>
            <a:r>
              <a:rPr lang="en-US"/>
              <a:t>Each commit has </a:t>
            </a:r>
            <a:br>
              <a:rPr lang="en-US"/>
            </a:br>
            <a:r>
              <a:rPr lang="en-US"/>
              <a:t>Author and Committer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/>
              <a:t>Author</a:t>
            </a:r>
            <a:r>
              <a:rPr lang="en-US"/>
              <a:t> is who really </a:t>
            </a:r>
            <a:br>
              <a:rPr lang="en-US"/>
            </a:br>
            <a:r>
              <a:rPr lang="en-US"/>
              <a:t>wrote the code and </a:t>
            </a:r>
            <a:br>
              <a:rPr lang="en-US"/>
            </a:br>
            <a:r>
              <a:rPr lang="en-US"/>
              <a:t>committed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/>
              <a:t>Committer</a:t>
            </a:r>
            <a:r>
              <a:rPr lang="en-US"/>
              <a:t>, if not the </a:t>
            </a:r>
            <a:br>
              <a:rPr lang="en-US"/>
            </a:br>
            <a:r>
              <a:rPr lang="en-US"/>
              <a:t>same as Author, took </a:t>
            </a:r>
            <a:br>
              <a:rPr lang="en-US"/>
            </a:br>
            <a:r>
              <a:rPr lang="en-US"/>
              <a:t>Original commit and</a:t>
            </a:r>
            <a:br>
              <a:rPr lang="en-US"/>
            </a:br>
            <a:r>
              <a:rPr lang="en-US"/>
              <a:t>reused it in his branch </a:t>
            </a:r>
          </a:p>
        </p:txBody>
      </p:sp>
      <p:sp>
        <p:nvSpPr>
          <p:cNvPr id="157" name="Shape 15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58" name="Shape 15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Shape 1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050" y="2005650"/>
            <a:ext cx="6498950" cy="49502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HEAD</a:t>
            </a:r>
          </a:p>
        </p:txBody>
      </p:sp>
      <p:sp>
        <p:nvSpPr>
          <p:cNvPr id="165" name="Shape 16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66" name="Shape 16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Shape 16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b="48469"/>
          <a:stretch/>
        </p:blipFill>
        <p:spPr>
          <a:xfrm>
            <a:off x="356725" y="3914700"/>
            <a:ext cx="8251800" cy="25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Shape 168"/>
          <p:cNvSpPr/>
          <p:nvPr/>
        </p:nvSpPr>
        <p:spPr>
          <a:xfrm>
            <a:off x="247730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69" name="Shape 169"/>
          <p:cNvSpPr/>
          <p:nvPr/>
        </p:nvSpPr>
        <p:spPr>
          <a:xfrm>
            <a:off x="3660525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70" name="Shape 170"/>
          <p:cNvSpPr/>
          <p:nvPr/>
        </p:nvSpPr>
        <p:spPr>
          <a:xfrm>
            <a:off x="484375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71" name="Shape 171"/>
          <p:cNvCxnSpPr>
            <a:stCxn id="169" idx="1"/>
            <a:endCxn id="168" idx="3"/>
          </p:cNvCxnSpPr>
          <p:nvPr/>
        </p:nvCxnSpPr>
        <p:spPr>
          <a:xfrm rot="10800000">
            <a:off x="3251925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2" name="Shape 172"/>
          <p:cNvCxnSpPr>
            <a:stCxn id="170" idx="1"/>
            <a:endCxn id="169" idx="3"/>
          </p:cNvCxnSpPr>
          <p:nvPr/>
        </p:nvCxnSpPr>
        <p:spPr>
          <a:xfrm rot="10800000">
            <a:off x="4435150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3" name="Shape 173"/>
          <p:cNvSpPr txBox="1"/>
          <p:nvPr/>
        </p:nvSpPr>
        <p:spPr>
          <a:xfrm>
            <a:off x="1766700" y="174430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174" name="Shape 174"/>
          <p:cNvSpPr/>
          <p:nvPr/>
        </p:nvSpPr>
        <p:spPr>
          <a:xfrm>
            <a:off x="4799350" y="195105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175" name="Shape 175"/>
          <p:cNvCxnSpPr>
            <a:stCxn id="174" idx="2"/>
            <a:endCxn id="170" idx="0"/>
          </p:cNvCxnSpPr>
          <p:nvPr/>
        </p:nvCxnSpPr>
        <p:spPr>
          <a:xfrm>
            <a:off x="5231050" y="2460450"/>
            <a:ext cx="0" cy="45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6" name="Shape 176"/>
          <p:cNvSpPr/>
          <p:nvPr/>
        </p:nvSpPr>
        <p:spPr>
          <a:xfrm>
            <a:off x="4095525" y="899400"/>
            <a:ext cx="2168100" cy="688200"/>
          </a:xfrm>
          <a:prstGeom prst="rect">
            <a:avLst/>
          </a:prstGeom>
          <a:solidFill>
            <a:srgbClr val="666666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177" name="Shape 177"/>
          <p:cNvCxnSpPr>
            <a:endCxn id="174" idx="0"/>
          </p:cNvCxnSpPr>
          <p:nvPr/>
        </p:nvCxnSpPr>
        <p:spPr>
          <a:xfrm>
            <a:off x="5231050" y="1625250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3</a:t>
            </a:r>
            <a:br>
              <a:rPr lang="en-US" sz="3600"/>
            </a:br>
            <a:endParaRPr lang="en-US" sz="3600"/>
          </a:p>
          <a:p>
            <a:pPr marL="0" lvl="0" indent="0" rtl="0">
              <a:spcBef>
                <a:spcPts val="0"/>
              </a:spcBef>
              <a:buNone/>
            </a:pPr>
            <a:r>
              <a:rPr lang="en-US" sz="3000"/>
              <a:t>Teamwork, parallel work: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clone second work repo2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Will commit changes in both repositories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Push and pull with silent rebase to apply the commit of one repo into another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Overview results </a:t>
            </a:r>
          </a:p>
        </p:txBody>
      </p:sp>
      <p:sp>
        <p:nvSpPr>
          <p:cNvPr id="184" name="Shape 18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3" name="Shape 193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95" name="Shape 195"/>
          <p:cNvCxnSpPr>
            <a:stCxn id="193" idx="1"/>
            <a:endCxn id="192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9" name="Shape 199"/>
          <p:cNvSpPr/>
          <p:nvPr/>
        </p:nvSpPr>
        <p:spPr>
          <a:xfrm>
            <a:off x="285565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01" name="Shape 201"/>
          <p:cNvCxnSpPr>
            <a:stCxn id="199" idx="1"/>
            <a:endCxn id="198" idx="3"/>
          </p:cNvCxnSpPr>
          <p:nvPr/>
        </p:nvCxnSpPr>
        <p:spPr>
          <a:xfrm rot="10800000">
            <a:off x="2447050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1075" y="3995738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811250" y="566992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205" name="Shape 205"/>
          <p:cNvCxnSpPr>
            <a:stCxn id="204" idx="0"/>
            <a:endCxn id="199" idx="2"/>
          </p:cNvCxnSpPr>
          <p:nvPr/>
        </p:nvCxnSpPr>
        <p:spPr>
          <a:xfrm rot="10800000">
            <a:off x="3242950" y="5243025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6" name="Shape 206"/>
          <p:cNvSpPr/>
          <p:nvPr/>
        </p:nvSpPr>
        <p:spPr>
          <a:xfrm>
            <a:off x="2831350" y="3103900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207" name="Shape 207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3032650" y="13568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3" idx="0"/>
          </p:cNvCxnSpPr>
          <p:nvPr/>
        </p:nvCxnSpPr>
        <p:spPr>
          <a:xfrm>
            <a:off x="3464350" y="1866200"/>
            <a:ext cx="0" cy="45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4450675" y="30747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260200" y="13568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212" name="Shape 212"/>
          <p:cNvSpPr/>
          <p:nvPr/>
        </p:nvSpPr>
        <p:spPr>
          <a:xfrm>
            <a:off x="3045250" y="72840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13" name="Shape 213"/>
          <p:cNvCxnSpPr>
            <a:endCxn id="208" idx="0"/>
          </p:cNvCxnSpPr>
          <p:nvPr/>
        </p:nvCxnSpPr>
        <p:spPr>
          <a:xfrm>
            <a:off x="3464350" y="1031000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4" name="Shape 214"/>
          <p:cNvSpPr txBox="1"/>
          <p:nvPr/>
        </p:nvSpPr>
        <p:spPr>
          <a:xfrm>
            <a:off x="4097350" y="4095500"/>
            <a:ext cx="5046600" cy="168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/>
              <a:t>After clone/pull Remote Tracking Branch and Tracking (Local) branch pointing to the same commit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  <p:sp>
        <p:nvSpPr>
          <p:cNvPr id="222" name="Shape 222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3" name="Shape 223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24" name="Shape 224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25" name="Shape 225"/>
          <p:cNvCxnSpPr>
            <a:stCxn id="223" idx="1"/>
            <a:endCxn id="222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26" name="Shape 226"/>
          <p:cNvCxnSpPr>
            <a:stCxn id="224" idx="1"/>
            <a:endCxn id="223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27" name="Shape 2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28" name="Shape 228"/>
          <p:cNvSpPr/>
          <p:nvPr/>
        </p:nvSpPr>
        <p:spPr>
          <a:xfrm>
            <a:off x="58727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9" name="Shape 229"/>
          <p:cNvSpPr/>
          <p:nvPr/>
        </p:nvSpPr>
        <p:spPr>
          <a:xfrm>
            <a:off x="1770500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30" name="Shape 230"/>
          <p:cNvSpPr/>
          <p:nvPr/>
        </p:nvSpPr>
        <p:spPr>
          <a:xfrm>
            <a:off x="295372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31" name="Shape 231"/>
          <p:cNvCxnSpPr>
            <a:stCxn id="229" idx="1"/>
            <a:endCxn id="228" idx="3"/>
          </p:cNvCxnSpPr>
          <p:nvPr/>
        </p:nvCxnSpPr>
        <p:spPr>
          <a:xfrm rot="10800000">
            <a:off x="1361900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32" name="Shape 232"/>
          <p:cNvCxnSpPr>
            <a:stCxn id="230" idx="1"/>
            <a:endCxn id="229" idx="3"/>
          </p:cNvCxnSpPr>
          <p:nvPr/>
        </p:nvCxnSpPr>
        <p:spPr>
          <a:xfrm rot="10800000">
            <a:off x="2545125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3" name="Shape 233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34" name="Shape 234"/>
          <p:cNvSpPr txBox="1"/>
          <p:nvPr/>
        </p:nvSpPr>
        <p:spPr>
          <a:xfrm>
            <a:off x="149150" y="4179438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35" name="Shape 235"/>
          <p:cNvSpPr/>
          <p:nvPr/>
        </p:nvSpPr>
        <p:spPr>
          <a:xfrm>
            <a:off x="2909325" y="585362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236" name="Shape 236"/>
          <p:cNvCxnSpPr>
            <a:stCxn id="235" idx="0"/>
            <a:endCxn id="230" idx="2"/>
          </p:cNvCxnSpPr>
          <p:nvPr/>
        </p:nvCxnSpPr>
        <p:spPr>
          <a:xfrm rot="10800000">
            <a:off x="3341025" y="5426725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7" name="Shape 237"/>
          <p:cNvSpPr/>
          <p:nvPr/>
        </p:nvSpPr>
        <p:spPr>
          <a:xfrm>
            <a:off x="2831350" y="3103900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238" name="Shape 238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9" name="Shape 239"/>
          <p:cNvSpPr/>
          <p:nvPr/>
        </p:nvSpPr>
        <p:spPr>
          <a:xfrm>
            <a:off x="4138850" y="135442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sp>
        <p:nvSpPr>
          <p:cNvPr id="240" name="Shape 240"/>
          <p:cNvSpPr txBox="1"/>
          <p:nvPr/>
        </p:nvSpPr>
        <p:spPr>
          <a:xfrm>
            <a:off x="0" y="2985050"/>
            <a:ext cx="2816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3719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242" name="Shape 242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43" name="Shape 243"/>
          <p:cNvCxnSpPr>
            <a:endCxn id="239" idx="0"/>
          </p:cNvCxnSpPr>
          <p:nvPr/>
        </p:nvCxnSpPr>
        <p:spPr>
          <a:xfrm>
            <a:off x="4570550" y="1028625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4" name="Shape 244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45" name="Shape 245"/>
          <p:cNvCxnSpPr>
            <a:stCxn id="244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6" name="Shape 246"/>
          <p:cNvSpPr txBox="1"/>
          <p:nvPr/>
        </p:nvSpPr>
        <p:spPr>
          <a:xfrm>
            <a:off x="4368550" y="3693650"/>
            <a:ext cx="4775400" cy="97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Commit on local repository</a:t>
            </a:r>
          </a:p>
          <a:p>
            <a:pPr lvl="0" rtl="0">
              <a:spcBef>
                <a:spcPts val="0"/>
              </a:spcBef>
              <a:buNone/>
            </a:pPr>
            <a:r>
              <a:rPr lang="en-US" sz="1800"/>
              <a:t>$ git commit</a:t>
            </a:r>
          </a:p>
        </p:txBody>
      </p:sp>
      <p:cxnSp>
        <p:nvCxnSpPr>
          <p:cNvPr id="247" name="Shape 247"/>
          <p:cNvCxnSpPr/>
          <p:nvPr/>
        </p:nvCxnSpPr>
        <p:spPr>
          <a:xfrm>
            <a:off x="16050" y="39349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48" name="Shape 248"/>
          <p:cNvCxnSpPr>
            <a:stCxn id="239" idx="2"/>
            <a:endCxn id="244" idx="0"/>
          </p:cNvCxnSpPr>
          <p:nvPr/>
        </p:nvCxnSpPr>
        <p:spPr>
          <a:xfrm>
            <a:off x="4570550" y="1863825"/>
            <a:ext cx="0" cy="457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  <p:sp>
        <p:nvSpPr>
          <p:cNvPr id="255" name="Shape 25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56" name="Shape 25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57" name="Shape 25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58" name="Shape 258"/>
          <p:cNvCxnSpPr>
            <a:stCxn id="256" idx="1"/>
            <a:endCxn id="25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59" name="Shape 259"/>
          <p:cNvCxnSpPr>
            <a:stCxn id="257" idx="1"/>
            <a:endCxn id="25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61" name="Shape 261"/>
          <p:cNvSpPr/>
          <p:nvPr/>
        </p:nvSpPr>
        <p:spPr>
          <a:xfrm>
            <a:off x="45215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62" name="Shape 262"/>
          <p:cNvSpPr/>
          <p:nvPr/>
        </p:nvSpPr>
        <p:spPr>
          <a:xfrm>
            <a:off x="163537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63" name="Shape 263"/>
          <p:cNvSpPr/>
          <p:nvPr/>
        </p:nvSpPr>
        <p:spPr>
          <a:xfrm>
            <a:off x="281860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64" name="Shape 264"/>
          <p:cNvCxnSpPr>
            <a:stCxn id="262" idx="1"/>
            <a:endCxn id="261" idx="3"/>
          </p:cNvCxnSpPr>
          <p:nvPr/>
        </p:nvCxnSpPr>
        <p:spPr>
          <a:xfrm rot="10800000">
            <a:off x="122677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65" name="Shape 265"/>
          <p:cNvCxnSpPr>
            <a:stCxn id="263" idx="1"/>
            <a:endCxn id="262" idx="3"/>
          </p:cNvCxnSpPr>
          <p:nvPr/>
        </p:nvCxnSpPr>
        <p:spPr>
          <a:xfrm rot="10800000">
            <a:off x="2410000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6" name="Shape 26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187450" y="4203025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68" name="Shape 268"/>
          <p:cNvSpPr/>
          <p:nvPr/>
        </p:nvSpPr>
        <p:spPr>
          <a:xfrm>
            <a:off x="3957425" y="58177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sp>
        <p:nvSpPr>
          <p:cNvPr id="269" name="Shape 269"/>
          <p:cNvSpPr/>
          <p:nvPr/>
        </p:nvSpPr>
        <p:spPr>
          <a:xfrm>
            <a:off x="2831350" y="3103900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270" name="Shape 270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1" name="Shape 271"/>
          <p:cNvSpPr/>
          <p:nvPr/>
        </p:nvSpPr>
        <p:spPr>
          <a:xfrm>
            <a:off x="4138850" y="135442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272" name="Shape 272"/>
          <p:cNvCxnSpPr>
            <a:stCxn id="271" idx="2"/>
            <a:endCxn id="273" idx="0"/>
          </p:cNvCxnSpPr>
          <p:nvPr/>
        </p:nvCxnSpPr>
        <p:spPr>
          <a:xfrm>
            <a:off x="4570550" y="1863825"/>
            <a:ext cx="0" cy="457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4" name="Shape 274"/>
          <p:cNvSpPr txBox="1"/>
          <p:nvPr/>
        </p:nvSpPr>
        <p:spPr>
          <a:xfrm>
            <a:off x="0" y="2982075"/>
            <a:ext cx="2742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275" name="Shape 275"/>
          <p:cNvSpPr txBox="1"/>
          <p:nvPr/>
        </p:nvSpPr>
        <p:spPr>
          <a:xfrm>
            <a:off x="530765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276" name="Shape 276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77" name="Shape 277"/>
          <p:cNvCxnSpPr>
            <a:endCxn id="271" idx="0"/>
          </p:cNvCxnSpPr>
          <p:nvPr/>
        </p:nvCxnSpPr>
        <p:spPr>
          <a:xfrm>
            <a:off x="4570550" y="1028625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3" name="Shape 27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78" name="Shape 278"/>
          <p:cNvCxnSpPr>
            <a:stCxn id="27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9" name="Shape 279"/>
          <p:cNvSpPr/>
          <p:nvPr/>
        </p:nvSpPr>
        <p:spPr>
          <a:xfrm>
            <a:off x="400182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280" name="Shape 280"/>
          <p:cNvCxnSpPr>
            <a:stCxn id="279" idx="1"/>
            <a:endCxn id="263" idx="3"/>
          </p:cNvCxnSpPr>
          <p:nvPr/>
        </p:nvCxnSpPr>
        <p:spPr>
          <a:xfrm rot="10800000">
            <a:off x="359322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81" name="Shape 281"/>
          <p:cNvSpPr txBox="1"/>
          <p:nvPr/>
        </p:nvSpPr>
        <p:spPr>
          <a:xfrm>
            <a:off x="5002250" y="3995750"/>
            <a:ext cx="4141800" cy="196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Push another Commit to remote repository from another repository/user</a:t>
            </a:r>
          </a:p>
        </p:txBody>
      </p:sp>
      <p:cxnSp>
        <p:nvCxnSpPr>
          <p:cNvPr id="282" name="Shape 282"/>
          <p:cNvCxnSpPr/>
          <p:nvPr/>
        </p:nvCxnSpPr>
        <p:spPr>
          <a:xfrm>
            <a:off x="0" y="3916750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83" name="Shape 283"/>
          <p:cNvCxnSpPr>
            <a:stCxn id="268" idx="0"/>
            <a:endCxn id="279" idx="2"/>
          </p:cNvCxnSpPr>
          <p:nvPr/>
        </p:nvCxnSpPr>
        <p:spPr>
          <a:xfrm rot="10800000">
            <a:off x="4389125" y="53908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sp>
        <p:nvSpPr>
          <p:cNvPr id="290" name="Shape 290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1" name="Shape 291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2" name="Shape 292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3" name="Shape 293"/>
          <p:cNvCxnSpPr>
            <a:stCxn id="291" idx="1"/>
            <a:endCxn id="290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94" name="Shape 294"/>
          <p:cNvCxnSpPr>
            <a:stCxn id="292" idx="1"/>
            <a:endCxn id="291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96" name="Shape 296"/>
          <p:cNvSpPr/>
          <p:nvPr/>
        </p:nvSpPr>
        <p:spPr>
          <a:xfrm>
            <a:off x="46122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7" name="Shape 297"/>
          <p:cNvSpPr/>
          <p:nvPr/>
        </p:nvSpPr>
        <p:spPr>
          <a:xfrm>
            <a:off x="164445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8" name="Shape 298"/>
          <p:cNvSpPr/>
          <p:nvPr/>
        </p:nvSpPr>
        <p:spPr>
          <a:xfrm>
            <a:off x="282767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9" name="Shape 299"/>
          <p:cNvCxnSpPr>
            <a:stCxn id="297" idx="1"/>
            <a:endCxn id="296" idx="3"/>
          </p:cNvCxnSpPr>
          <p:nvPr/>
        </p:nvCxnSpPr>
        <p:spPr>
          <a:xfrm rot="10800000">
            <a:off x="123585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00" name="Shape 300"/>
          <p:cNvCxnSpPr>
            <a:stCxn id="298" idx="1"/>
            <a:endCxn id="297" idx="3"/>
          </p:cNvCxnSpPr>
          <p:nvPr/>
        </p:nvCxnSpPr>
        <p:spPr>
          <a:xfrm rot="10800000">
            <a:off x="2419075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1" name="Shape 301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23100" y="46571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03" name="Shape 303"/>
          <p:cNvSpPr/>
          <p:nvPr/>
        </p:nvSpPr>
        <p:spPr>
          <a:xfrm>
            <a:off x="3966500" y="62000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04" name="Shape 304"/>
          <p:cNvCxnSpPr>
            <a:stCxn id="303" idx="0"/>
            <a:endCxn id="305" idx="2"/>
          </p:cNvCxnSpPr>
          <p:nvPr/>
        </p:nvCxnSpPr>
        <p:spPr>
          <a:xfrm rot="10800000">
            <a:off x="4398200" y="5773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6" name="Shape 306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07" name="Shape 307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8" name="Shape 308"/>
          <p:cNvSpPr/>
          <p:nvPr/>
        </p:nvSpPr>
        <p:spPr>
          <a:xfrm>
            <a:off x="4138850" y="135442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09" name="Shape 309"/>
          <p:cNvCxnSpPr>
            <a:stCxn id="308" idx="2"/>
            <a:endCxn id="310" idx="0"/>
          </p:cNvCxnSpPr>
          <p:nvPr/>
        </p:nvCxnSpPr>
        <p:spPr>
          <a:xfrm>
            <a:off x="4570550" y="1863825"/>
            <a:ext cx="0" cy="457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1" name="Shape 311"/>
          <p:cNvSpPr txBox="1"/>
          <p:nvPr/>
        </p:nvSpPr>
        <p:spPr>
          <a:xfrm>
            <a:off x="1893825" y="3781875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312" name="Shape 312"/>
          <p:cNvSpPr txBox="1"/>
          <p:nvPr/>
        </p:nvSpPr>
        <p:spPr>
          <a:xfrm>
            <a:off x="52058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313" name="Shape 313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14" name="Shape 314"/>
          <p:cNvCxnSpPr>
            <a:endCxn id="308" idx="0"/>
          </p:cNvCxnSpPr>
          <p:nvPr/>
        </p:nvCxnSpPr>
        <p:spPr>
          <a:xfrm>
            <a:off x="4570550" y="1028625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0" name="Shape 310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15" name="Shape 315"/>
          <p:cNvCxnSpPr>
            <a:stCxn id="310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5" name="Shape 305"/>
          <p:cNvSpPr/>
          <p:nvPr/>
        </p:nvSpPr>
        <p:spPr>
          <a:xfrm>
            <a:off x="401090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6" name="Shape 316"/>
          <p:cNvCxnSpPr>
            <a:stCxn id="305" idx="1"/>
            <a:endCxn id="298" idx="3"/>
          </p:cNvCxnSpPr>
          <p:nvPr/>
        </p:nvCxnSpPr>
        <p:spPr>
          <a:xfrm rot="10800000">
            <a:off x="360230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7" name="Shape 317"/>
          <p:cNvSpPr txBox="1"/>
          <p:nvPr/>
        </p:nvSpPr>
        <p:spPr>
          <a:xfrm>
            <a:off x="6226100" y="2195275"/>
            <a:ext cx="2796900" cy="4505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Fetch/Pull the Commit from remote repository to Remote Tracking Branch</a:t>
            </a:r>
          </a:p>
        </p:txBody>
      </p:sp>
      <p:sp>
        <p:nvSpPr>
          <p:cNvPr id="318" name="Shape 31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9" name="Shape 319"/>
          <p:cNvCxnSpPr>
            <a:stCxn id="318" idx="1"/>
            <a:endCxn id="292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20" name="Shape 320"/>
          <p:cNvSpPr/>
          <p:nvPr/>
        </p:nvSpPr>
        <p:spPr>
          <a:xfrm>
            <a:off x="4991900" y="4497050"/>
            <a:ext cx="988500" cy="20562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321" name="Shape 321"/>
          <p:cNvCxnSpPr/>
          <p:nvPr/>
        </p:nvCxnSpPr>
        <p:spPr>
          <a:xfrm>
            <a:off x="0" y="44328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328" name="Shape 328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29" name="Shape 329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0" name="Shape 330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1" name="Shape 331"/>
          <p:cNvCxnSpPr>
            <a:stCxn id="329" idx="1"/>
            <a:endCxn id="328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2" name="Shape 332"/>
          <p:cNvCxnSpPr>
            <a:stCxn id="330" idx="1"/>
            <a:endCxn id="329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3" name="Shape 3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334" name="Shape 334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35" name="Shape 335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6" name="Shape 336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7" name="Shape 337"/>
          <p:cNvCxnSpPr>
            <a:stCxn id="335" idx="1"/>
            <a:endCxn id="334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8" name="Shape 338"/>
          <p:cNvCxnSpPr>
            <a:stCxn id="336" idx="1"/>
            <a:endCxn id="335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9" name="Shape 339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40" name="Shape 340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41" name="Shape 341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42" name="Shape 342"/>
          <p:cNvCxnSpPr>
            <a:stCxn id="341" idx="0"/>
            <a:endCxn id="343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4" name="Shape 344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45" name="Shape 345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6" name="Shape 346"/>
          <p:cNvSpPr/>
          <p:nvPr/>
        </p:nvSpPr>
        <p:spPr>
          <a:xfrm>
            <a:off x="5161400" y="1557675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47" name="Shape 347"/>
          <p:cNvCxnSpPr>
            <a:stCxn id="346" idx="2"/>
            <a:endCxn id="348" idx="0"/>
          </p:cNvCxnSpPr>
          <p:nvPr/>
        </p:nvCxnSpPr>
        <p:spPr>
          <a:xfrm>
            <a:off x="5593100" y="2067075"/>
            <a:ext cx="0" cy="959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9" name="Shape 349"/>
          <p:cNvSpPr txBox="1"/>
          <p:nvPr/>
        </p:nvSpPr>
        <p:spPr>
          <a:xfrm>
            <a:off x="2065900" y="3729200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6226100" y="145807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351" name="Shape 351"/>
          <p:cNvSpPr/>
          <p:nvPr/>
        </p:nvSpPr>
        <p:spPr>
          <a:xfrm>
            <a:off x="5174000" y="92927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52" name="Shape 352"/>
          <p:cNvCxnSpPr>
            <a:endCxn id="346" idx="0"/>
          </p:cNvCxnSpPr>
          <p:nvPr/>
        </p:nvCxnSpPr>
        <p:spPr>
          <a:xfrm>
            <a:off x="5593100" y="1231875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3" name="Shape 35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54" name="Shape 354"/>
          <p:cNvCxnSpPr>
            <a:stCxn id="35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3" name="Shape 343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5" name="Shape 355"/>
          <p:cNvCxnSpPr>
            <a:stCxn id="343" idx="1"/>
            <a:endCxn id="336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6" name="Shape 356"/>
          <p:cNvSpPr txBox="1"/>
          <p:nvPr/>
        </p:nvSpPr>
        <p:spPr>
          <a:xfrm>
            <a:off x="6226100" y="2067075"/>
            <a:ext cx="2796900" cy="281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  <a:t>$ git rebase</a:t>
            </a:r>
            <a:b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>
                <a:solidFill>
                  <a:srgbClr val="333333"/>
                </a:solidFill>
                <a:highlight>
                  <a:srgbClr val="FFFFFF"/>
                </a:highlight>
              </a:rPr>
              <a:t>First, rewinding head to replay your work on top of it...</a:t>
            </a:r>
          </a:p>
          <a:p>
            <a:pPr lvl="0" rtl="0">
              <a:spcBef>
                <a:spcPts val="0"/>
              </a:spcBef>
              <a:buNone/>
            </a:pPr>
            <a:endParaRPr sz="2400" b="1"/>
          </a:p>
        </p:txBody>
      </p:sp>
      <p:sp>
        <p:nvSpPr>
          <p:cNvPr id="348" name="Shape 34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7" name="Shape 357"/>
          <p:cNvCxnSpPr>
            <a:stCxn id="348" idx="1"/>
            <a:endCxn id="330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58" name="Shape 358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59" name="Shape 359"/>
          <p:cNvSpPr txBox="1"/>
          <p:nvPr/>
        </p:nvSpPr>
        <p:spPr>
          <a:xfrm>
            <a:off x="7901950" y="2537625"/>
            <a:ext cx="7336500" cy="855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sp>
        <p:nvSpPr>
          <p:cNvPr id="366" name="Shape 366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67" name="Shape 367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68" name="Shape 368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69" name="Shape 369"/>
          <p:cNvCxnSpPr>
            <a:stCxn id="367" idx="1"/>
            <a:endCxn id="366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0" name="Shape 370"/>
          <p:cNvCxnSpPr>
            <a:stCxn id="368" idx="1"/>
            <a:endCxn id="367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1" name="Shape 3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372" name="Shape 372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73" name="Shape 373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74" name="Shape 374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75" name="Shape 375"/>
          <p:cNvCxnSpPr>
            <a:stCxn id="373" idx="1"/>
            <a:endCxn id="372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6" name="Shape 376"/>
          <p:cNvCxnSpPr>
            <a:stCxn id="374" idx="1"/>
            <a:endCxn id="373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7" name="Shape 377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78" name="Shape 378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79" name="Shape 379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80" name="Shape 380"/>
          <p:cNvCxnSpPr>
            <a:stCxn id="379" idx="0"/>
            <a:endCxn id="381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2" name="Shape 382"/>
          <p:cNvSpPr/>
          <p:nvPr/>
        </p:nvSpPr>
        <p:spPr>
          <a:xfrm>
            <a:off x="4958750" y="31074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83" name="Shape 383"/>
          <p:cNvCxnSpPr>
            <a:stCxn id="382" idx="0"/>
            <a:endCxn id="384" idx="2"/>
          </p:cNvCxnSpPr>
          <p:nvPr/>
        </p:nvCxnSpPr>
        <p:spPr>
          <a:xfrm rot="10800000">
            <a:off x="5591750" y="2647525"/>
            <a:ext cx="0" cy="459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5" name="Shape 385"/>
          <p:cNvSpPr/>
          <p:nvPr/>
        </p:nvSpPr>
        <p:spPr>
          <a:xfrm>
            <a:off x="6343375" y="1478513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86" name="Shape 386"/>
          <p:cNvCxnSpPr>
            <a:stCxn id="385" idx="2"/>
            <a:endCxn id="387" idx="0"/>
          </p:cNvCxnSpPr>
          <p:nvPr/>
        </p:nvCxnSpPr>
        <p:spPr>
          <a:xfrm>
            <a:off x="6775075" y="1987913"/>
            <a:ext cx="0" cy="304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8" name="Shape 388"/>
          <p:cNvSpPr txBox="1"/>
          <p:nvPr/>
        </p:nvSpPr>
        <p:spPr>
          <a:xfrm>
            <a:off x="2203900" y="3075250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389" name="Shape 389"/>
          <p:cNvSpPr txBox="1"/>
          <p:nvPr/>
        </p:nvSpPr>
        <p:spPr>
          <a:xfrm>
            <a:off x="7206775" y="1378925"/>
            <a:ext cx="1937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390" name="Shape 390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91" name="Shape 391"/>
          <p:cNvCxnSpPr>
            <a:endCxn id="385" idx="0"/>
          </p:cNvCxnSpPr>
          <p:nvPr/>
        </p:nvCxnSpPr>
        <p:spPr>
          <a:xfrm>
            <a:off x="6775075" y="1152713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2" name="Shape 392"/>
          <p:cNvSpPr/>
          <p:nvPr/>
        </p:nvSpPr>
        <p:spPr>
          <a:xfrm>
            <a:off x="4063500" y="163462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b="1">
                <a:solidFill>
                  <a:srgbClr val="666666"/>
                </a:solidFill>
              </a:rPr>
              <a:t>6df0</a:t>
            </a:r>
            <a:r>
              <a:rPr lang="en-US" b="1">
                <a:solidFill>
                  <a:srgbClr val="CCCCCC"/>
                </a:solidFill>
              </a:rPr>
              <a:t>1</a:t>
            </a:r>
          </a:p>
        </p:txBody>
      </p:sp>
      <p:cxnSp>
        <p:nvCxnSpPr>
          <p:cNvPr id="393" name="Shape 393"/>
          <p:cNvCxnSpPr>
            <a:stCxn id="392" idx="1"/>
          </p:cNvCxnSpPr>
          <p:nvPr/>
        </p:nvCxnSpPr>
        <p:spPr>
          <a:xfrm flipH="1">
            <a:off x="3432600" y="1812375"/>
            <a:ext cx="630900" cy="50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1" name="Shape 38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4" name="Shape 394"/>
          <p:cNvCxnSpPr>
            <a:stCxn id="381" idx="1"/>
            <a:endCxn id="374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5" name="Shape 395"/>
          <p:cNvSpPr txBox="1"/>
          <p:nvPr/>
        </p:nvSpPr>
        <p:spPr>
          <a:xfrm>
            <a:off x="6182700" y="2801525"/>
            <a:ext cx="2889300" cy="4065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  <a:t>$ git rebase</a:t>
            </a:r>
            <a:b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>
                <a:solidFill>
                  <a:srgbClr val="333333"/>
                </a:solidFill>
                <a:highlight>
                  <a:srgbClr val="FFFFFF"/>
                </a:highlight>
              </a:rPr>
              <a:t>...to replay your work on top of it…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400">
                <a:solidFill>
                  <a:srgbClr val="333333"/>
                </a:solidFill>
                <a:highlight>
                  <a:srgbClr val="FFFFFF"/>
                </a:highlight>
              </a:rPr>
              <a:t>Applying: diff/patch of commit 6dfo into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/>
          </a:p>
        </p:txBody>
      </p:sp>
      <p:sp>
        <p:nvSpPr>
          <p:cNvPr id="384" name="Shape 384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6" name="Shape 396"/>
          <p:cNvCxnSpPr>
            <a:stCxn id="384" idx="1"/>
            <a:endCxn id="368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97" name="Shape 397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87" name="Shape 387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398" name="Shape 398"/>
          <p:cNvCxnSpPr>
            <a:stCxn id="387" idx="1"/>
            <a:endCxn id="384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06" name="Shape 40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07" name="Shape 40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08" name="Shape 408"/>
          <p:cNvCxnSpPr>
            <a:stCxn id="406" idx="1"/>
            <a:endCxn id="40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09" name="Shape 409"/>
          <p:cNvCxnSpPr>
            <a:stCxn id="407" idx="1"/>
            <a:endCxn id="40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0" name="Shape 4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11" name="Shape 41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12" name="Shape 41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13" name="Shape 41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14" name="Shape 414"/>
          <p:cNvCxnSpPr>
            <a:stCxn id="412" idx="1"/>
            <a:endCxn id="41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15" name="Shape 415"/>
          <p:cNvCxnSpPr>
            <a:stCxn id="413" idx="1"/>
            <a:endCxn id="41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6" name="Shape 41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17" name="Shape 41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18" name="Shape 418"/>
          <p:cNvSpPr/>
          <p:nvPr/>
        </p:nvSpPr>
        <p:spPr>
          <a:xfrm>
            <a:off x="62417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19" name="Shape 419"/>
          <p:cNvCxnSpPr>
            <a:stCxn id="418" idx="0"/>
            <a:endCxn id="420" idx="2"/>
          </p:cNvCxnSpPr>
          <p:nvPr/>
        </p:nvCxnSpPr>
        <p:spPr>
          <a:xfrm rot="10800000">
            <a:off x="66734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1" name="Shape 421"/>
          <p:cNvSpPr/>
          <p:nvPr/>
        </p:nvSpPr>
        <p:spPr>
          <a:xfrm>
            <a:off x="4958750" y="31074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422" name="Shape 422"/>
          <p:cNvCxnSpPr>
            <a:stCxn id="421" idx="0"/>
            <a:endCxn id="423" idx="2"/>
          </p:cNvCxnSpPr>
          <p:nvPr/>
        </p:nvCxnSpPr>
        <p:spPr>
          <a:xfrm rot="10800000">
            <a:off x="5591750" y="2647525"/>
            <a:ext cx="0" cy="459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4" name="Shape 424"/>
          <p:cNvSpPr/>
          <p:nvPr/>
        </p:nvSpPr>
        <p:spPr>
          <a:xfrm>
            <a:off x="6343375" y="1478513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25" name="Shape 425"/>
          <p:cNvCxnSpPr>
            <a:stCxn id="424" idx="2"/>
            <a:endCxn id="426" idx="0"/>
          </p:cNvCxnSpPr>
          <p:nvPr/>
        </p:nvCxnSpPr>
        <p:spPr>
          <a:xfrm>
            <a:off x="6775075" y="1987913"/>
            <a:ext cx="0" cy="304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7" name="Shape 427"/>
          <p:cNvSpPr txBox="1"/>
          <p:nvPr/>
        </p:nvSpPr>
        <p:spPr>
          <a:xfrm>
            <a:off x="2203900" y="3075250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428" name="Shape 428"/>
          <p:cNvSpPr txBox="1"/>
          <p:nvPr/>
        </p:nvSpPr>
        <p:spPr>
          <a:xfrm>
            <a:off x="7206775" y="1378925"/>
            <a:ext cx="1937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429" name="Shape 429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30" name="Shape 430"/>
          <p:cNvCxnSpPr>
            <a:endCxn id="424" idx="0"/>
          </p:cNvCxnSpPr>
          <p:nvPr/>
        </p:nvCxnSpPr>
        <p:spPr>
          <a:xfrm>
            <a:off x="6775075" y="1152713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1" name="Shape 43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2" name="Shape 432"/>
          <p:cNvCxnSpPr>
            <a:stCxn id="431" idx="1"/>
            <a:endCxn id="41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3" name="Shape 433"/>
          <p:cNvSpPr txBox="1"/>
          <p:nvPr/>
        </p:nvSpPr>
        <p:spPr>
          <a:xfrm>
            <a:off x="6978525" y="2677000"/>
            <a:ext cx="2165700" cy="1513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  <a:t>$ git push</a:t>
            </a:r>
            <a:b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>
                <a:solidFill>
                  <a:srgbClr val="333333"/>
                </a:solidFill>
                <a:highlight>
                  <a:srgbClr val="FFFFFF"/>
                </a:highlight>
              </a:rPr>
              <a:t>of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/>
          </a:p>
        </p:txBody>
      </p:sp>
      <p:sp>
        <p:nvSpPr>
          <p:cNvPr id="423" name="Shape 423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4" name="Shape 434"/>
          <p:cNvCxnSpPr>
            <a:stCxn id="423" idx="1"/>
            <a:endCxn id="407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35" name="Shape 43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26" name="Shape 426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6" name="Shape 436"/>
          <p:cNvCxnSpPr>
            <a:stCxn id="426" idx="1"/>
            <a:endCxn id="423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0" name="Shape 42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7" name="Shape 437"/>
          <p:cNvCxnSpPr>
            <a:stCxn id="420" idx="1"/>
            <a:endCxn id="431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8" name="Shape 438"/>
          <p:cNvSpPr/>
          <p:nvPr/>
        </p:nvSpPr>
        <p:spPr>
          <a:xfrm>
            <a:off x="6368325" y="3162475"/>
            <a:ext cx="610200" cy="21681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44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46" name="Shape 44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47" name="Shape 44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48" name="Shape 448"/>
          <p:cNvCxnSpPr>
            <a:stCxn id="446" idx="1"/>
            <a:endCxn id="44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49" name="Shape 449"/>
          <p:cNvCxnSpPr>
            <a:stCxn id="447" idx="1"/>
            <a:endCxn id="44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0" name="Shape 4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51" name="Shape 45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52" name="Shape 45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53" name="Shape 45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54" name="Shape 454"/>
          <p:cNvCxnSpPr>
            <a:stCxn id="452" idx="1"/>
            <a:endCxn id="45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5" name="Shape 455"/>
          <p:cNvCxnSpPr>
            <a:stCxn id="453" idx="1"/>
            <a:endCxn id="45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6" name="Shape 45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57" name="Shape 45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58" name="Shape 458"/>
          <p:cNvSpPr/>
          <p:nvPr/>
        </p:nvSpPr>
        <p:spPr>
          <a:xfrm>
            <a:off x="62417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59" name="Shape 459"/>
          <p:cNvCxnSpPr>
            <a:stCxn id="458" idx="0"/>
            <a:endCxn id="460" idx="2"/>
          </p:cNvCxnSpPr>
          <p:nvPr/>
        </p:nvCxnSpPr>
        <p:spPr>
          <a:xfrm rot="10800000">
            <a:off x="66734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1" name="Shape 461"/>
          <p:cNvSpPr/>
          <p:nvPr/>
        </p:nvSpPr>
        <p:spPr>
          <a:xfrm>
            <a:off x="6142075" y="3152700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462" name="Shape 462"/>
          <p:cNvCxnSpPr>
            <a:stCxn id="461" idx="0"/>
            <a:endCxn id="463" idx="2"/>
          </p:cNvCxnSpPr>
          <p:nvPr/>
        </p:nvCxnSpPr>
        <p:spPr>
          <a:xfrm rot="10800000">
            <a:off x="6775075" y="2647500"/>
            <a:ext cx="0" cy="505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4" name="Shape 464"/>
          <p:cNvSpPr/>
          <p:nvPr/>
        </p:nvSpPr>
        <p:spPr>
          <a:xfrm>
            <a:off x="6343375" y="1478513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65" name="Shape 465"/>
          <p:cNvCxnSpPr>
            <a:stCxn id="464" idx="2"/>
            <a:endCxn id="463" idx="0"/>
          </p:cNvCxnSpPr>
          <p:nvPr/>
        </p:nvCxnSpPr>
        <p:spPr>
          <a:xfrm>
            <a:off x="6775075" y="1987913"/>
            <a:ext cx="0" cy="304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6" name="Shape 466"/>
          <p:cNvSpPr txBox="1"/>
          <p:nvPr/>
        </p:nvSpPr>
        <p:spPr>
          <a:xfrm>
            <a:off x="3173550" y="3074700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467" name="Shape 467"/>
          <p:cNvSpPr txBox="1"/>
          <p:nvPr/>
        </p:nvSpPr>
        <p:spPr>
          <a:xfrm>
            <a:off x="7408075" y="1152725"/>
            <a:ext cx="1937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sp>
        <p:nvSpPr>
          <p:cNvPr id="468" name="Shape 468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69" name="Shape 469"/>
          <p:cNvCxnSpPr>
            <a:endCxn id="464" idx="0"/>
          </p:cNvCxnSpPr>
          <p:nvPr/>
        </p:nvCxnSpPr>
        <p:spPr>
          <a:xfrm>
            <a:off x="6775075" y="1152713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0" name="Shape 470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1" name="Shape 471"/>
          <p:cNvCxnSpPr>
            <a:stCxn id="470" idx="1"/>
            <a:endCxn id="45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2" name="Shape 472"/>
          <p:cNvSpPr txBox="1"/>
          <p:nvPr/>
        </p:nvSpPr>
        <p:spPr>
          <a:xfrm>
            <a:off x="7331850" y="2469800"/>
            <a:ext cx="1739700" cy="4312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429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00000"/>
              <a:buChar char="●"/>
            </a:pPr>
            <a:r>
              <a:rPr lang="en-US" sz="1800">
                <a:solidFill>
                  <a:srgbClr val="333333"/>
                </a:solidFill>
                <a:highlight>
                  <a:srgbClr val="FFFFFF"/>
                </a:highlight>
              </a:rPr>
              <a:t>After push Remote Tracking Branch and Tracking (Local) branch points to the same commit 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/>
          </a:p>
        </p:txBody>
      </p:sp>
      <p:sp>
        <p:nvSpPr>
          <p:cNvPr id="473" name="Shape 473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4" name="Shape 474"/>
          <p:cNvCxnSpPr>
            <a:stCxn id="473" idx="1"/>
            <a:endCxn id="447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75" name="Shape 47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63" name="Shape 463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6" name="Shape 476"/>
          <p:cNvCxnSpPr>
            <a:stCxn id="463" idx="1"/>
            <a:endCxn id="473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0" name="Shape 46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7" name="Shape 477"/>
          <p:cNvCxnSpPr>
            <a:stCxn id="460" idx="1"/>
            <a:endCxn id="470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2000" b="1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Do not rebase commits that you have pushed to a public repository.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1800" b="0" i="0" u="none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If you follow that guideline, you’ll be fine. If you don’t, people will hate you, and you’ll be scorned by friends and family.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28600" marR="0" lvl="0" indent="-228600" algn="l" rtl="0"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3" name="Shape 48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Perils of rebase</a:t>
            </a:r>
          </a:p>
        </p:txBody>
      </p:sp>
      <p:sp>
        <p:nvSpPr>
          <p:cNvPr id="484" name="Shape 48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485" name="Shape 48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Shape 49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4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Teamwork, parallel work with rebase and conflicts resolution: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do commits in both repos, with change in the same line of the same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Pull with rebase, resolve conflicts, save the resolution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Add the file to the staging area - means resolve.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Commit and push</a:t>
            </a:r>
          </a:p>
        </p:txBody>
      </p:sp>
      <p:sp>
        <p:nvSpPr>
          <p:cNvPr id="492" name="Shape 4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branches</a:t>
            </a:r>
          </a:p>
        </p:txBody>
      </p:sp>
      <p:sp>
        <p:nvSpPr>
          <p:cNvPr id="498" name="Shape 498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 is simply a movable pointer to a commit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Pointer moves forward automatically with each commit on a branch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99" name="Shape 4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1" name="Shape 5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1981200"/>
            <a:ext cx="4762500" cy="239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5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Creating new branch</a:t>
            </a:r>
          </a:p>
        </p:txBody>
      </p:sp>
      <p:sp>
        <p:nvSpPr>
          <p:cNvPr id="507" name="Shape 507"/>
          <p:cNvSpPr txBox="1">
            <a:spLocks noGrp="1"/>
          </p:cNvSpPr>
          <p:nvPr>
            <p:ph type="body" idx="1"/>
          </p:nvPr>
        </p:nvSpPr>
        <p:spPr>
          <a:xfrm>
            <a:off x="592137" y="1143000"/>
            <a:ext cx="82296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New branch creates a new reference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branch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08" name="Shape 5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0" name="Shape 5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600" y="2235200"/>
            <a:ext cx="5943600" cy="414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51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Switching to a branch</a:t>
            </a:r>
          </a:p>
        </p:txBody>
      </p:sp>
      <p:sp>
        <p:nvSpPr>
          <p:cNvPr id="516" name="Shape 516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checkout </a:t>
            </a:r>
            <a:r>
              <a:rPr lang="en-US" sz="1800" b="0" i="1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branch-name</a:t>
            </a: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 switches to an existing branch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checkout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17" name="Shape 51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9" name="Shape 5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5100" y="2133600"/>
            <a:ext cx="3733800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524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New commit moves current branch</a:t>
            </a:r>
          </a:p>
        </p:txBody>
      </p:sp>
      <p:sp>
        <p:nvSpPr>
          <p:cNvPr id="525" name="Shape 525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3429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vi file04.txt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commit -a -m 'Commit message'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0" i="0" u="none" strike="noStrike" cap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57150" marR="0" lvl="0" indent="-63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26" name="Shape 52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Shape 5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2295525"/>
            <a:ext cx="4762500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53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35" name="Shape 53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6" name="Shape 5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0" y="1295400"/>
            <a:ext cx="5791200" cy="49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As a result of merge Git creates a new commit, which has two parents:</a:t>
            </a:r>
          </a:p>
        </p:txBody>
      </p:sp>
      <p:sp>
        <p:nvSpPr>
          <p:cNvPr id="542" name="Shape 54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 (continued)</a:t>
            </a:r>
          </a:p>
        </p:txBody>
      </p:sp>
      <p:sp>
        <p:nvSpPr>
          <p:cNvPr id="543" name="Shape 543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44" name="Shape 544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5" name="Shape 5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1737" y="2314575"/>
            <a:ext cx="4200525" cy="222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55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5 - 7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create tag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Create branch bugfix from the tag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Will do bugfix commit in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Check out master branch and commit new change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Merge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Overview results</a:t>
            </a:r>
          </a:p>
        </p:txBody>
      </p:sp>
      <p:sp>
        <p:nvSpPr>
          <p:cNvPr id="552" name="Shape 5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8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549400"/>
            <a:ext cx="9150350" cy="439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Best practices - concise commit messages</a:t>
            </a:r>
          </a:p>
        </p:txBody>
      </p:sp>
      <p:sp>
        <p:nvSpPr>
          <p:cNvPr id="575" name="Shape 5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  <p:pic>
        <p:nvPicPr>
          <p:cNvPr id="576" name="Shape 576" descr="commit_message_head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14500"/>
            <a:ext cx="9144000" cy="396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4" name="Shape 58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417637"/>
            <a:ext cx="8758237" cy="4678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/>
              <a:t>Best practices – Branch Layout</a:t>
            </a:r>
            <a:br>
              <a:rPr lang="en-US"/>
            </a:br>
            <a:endParaRPr lang="en-US"/>
          </a:p>
        </p:txBody>
      </p:sp>
      <p:sp>
        <p:nvSpPr>
          <p:cNvPr id="591" name="Shape 591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28125"/>
            <a:ext cx="9143999" cy="59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1" name="Shape 601" descr="Delete_local_feature_branc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47850"/>
            <a:ext cx="9144001" cy="573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616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8 - 10</a:t>
            </a:r>
          </a:p>
          <a:p>
            <a:pPr marL="0" lvl="0" indent="0" algn="l" rtl="0">
              <a:spcBef>
                <a:spcPts val="0"/>
              </a:spcBef>
              <a:buNone/>
            </a:pPr>
            <a:endParaRPr sz="3000"/>
          </a:p>
          <a:p>
            <a:pPr marL="457200" lvl="0" indent="-419100" algn="l" rtl="0">
              <a:spcBef>
                <a:spcPts val="0"/>
              </a:spcBef>
              <a:buSzPct val="100000"/>
            </a:pPr>
            <a:r>
              <a:rPr lang="en-US" sz="3000"/>
              <a:t>We will create branch bugfix2, from Release_01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Cherry-pick 1 commit from master branch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Undo modified file, undo staged file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Undo latest local commit, revert pushed commit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Stash meanwhile work aside, make commit, return work from stash</a:t>
            </a:r>
          </a:p>
        </p:txBody>
      </p:sp>
      <p:sp>
        <p:nvSpPr>
          <p:cNvPr id="617" name="Shape 61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62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11 - 13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Format patch in 1 repository, and apply it in another repository	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create 2 local commits and squash them to 1 commit by interactive rebase, and push only 1 commit to remote repository 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Create commit in 1 repository and pull it from another repository, without pushing to origin repository</a:t>
            </a:r>
          </a:p>
        </p:txBody>
      </p:sp>
      <p:sp>
        <p:nvSpPr>
          <p:cNvPr id="624" name="Shape 62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457200" y="25709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/>
              <a:t>Thanks!</a:t>
            </a:r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63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/>
              <a:t>Backup slides</a:t>
            </a:r>
          </a:p>
        </p:txBody>
      </p:sp>
      <p:sp>
        <p:nvSpPr>
          <p:cNvPr id="638" name="Shape 638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64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5" name="Shape 64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  <p:pic>
        <p:nvPicPr>
          <p:cNvPr id="646" name="Shape 6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6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  <p:pic>
        <p:nvPicPr>
          <p:cNvPr id="653" name="Shape 6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139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65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  <p:pic>
        <p:nvPicPr>
          <p:cNvPr id="660" name="Shape 6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031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666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7" name="Shape 66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  <p:pic>
        <p:nvPicPr>
          <p:cNvPr id="668" name="Shape 6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8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67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5" name="Shape 6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  <p:pic>
        <p:nvPicPr>
          <p:cNvPr id="676" name="Shape 6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9953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6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3" name="Shape 683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  <p:pic>
        <p:nvPicPr>
          <p:cNvPr id="684" name="Shape 6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87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6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  <p:pic>
        <p:nvPicPr>
          <p:cNvPr id="691" name="Shape 691" descr="image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0375" y="75825"/>
            <a:ext cx="7273626" cy="6782175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Shape 692"/>
          <p:cNvSpPr txBox="1"/>
          <p:nvPr/>
        </p:nvSpPr>
        <p:spPr>
          <a:xfrm>
            <a:off x="0" y="434975"/>
            <a:ext cx="2740200" cy="1638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2400"/>
              <a:t>Git Master-&gt;Slave </a:t>
            </a:r>
          </a:p>
          <a:p>
            <a:pPr lvl="0">
              <a:spcBef>
                <a:spcPts val="0"/>
              </a:spcBef>
              <a:buNone/>
            </a:pPr>
            <a:endParaRPr sz="2400"/>
          </a:p>
          <a:p>
            <a:pPr lvl="0">
              <a:spcBef>
                <a:spcPts val="0"/>
              </a:spcBef>
              <a:buNone/>
            </a:pPr>
            <a:r>
              <a:rPr lang="en-US" sz="2400"/>
              <a:t>Mirroring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 txBox="1">
            <a:spLocks noGrp="1"/>
          </p:cNvSpPr>
          <p:nvPr>
            <p:ph type="title"/>
          </p:nvPr>
        </p:nvSpPr>
        <p:spPr>
          <a:xfrm>
            <a:off x="0" y="533400"/>
            <a:ext cx="88392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 are tracking and remote-tracking branches?</a:t>
            </a:r>
            <a:b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Shape 698"/>
          <p:cNvSpPr txBox="1">
            <a:spLocks noGrp="1"/>
          </p:cNvSpPr>
          <p:nvPr>
            <p:ph type="body" idx="1"/>
          </p:nvPr>
        </p:nvSpPr>
        <p:spPr>
          <a:xfrm>
            <a:off x="381000" y="1524000"/>
            <a:ext cx="82296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The combination of these branches defines a relationship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between a local branch and one in the remote repository.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When a repository is cloned, Git automatically creates </a:t>
            </a:r>
            <a:r>
              <a:rPr lang="en-US" sz="2000" b="1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remote-tracking branches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origin/master) for the remote branches and a </a:t>
            </a:r>
            <a:r>
              <a:rPr lang="en-US" sz="2000" b="1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tracking branch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master) to allow for local changes in relationship to the remote branch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Shape 6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700" name="Shape 7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Shape 7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3462" y="3810000"/>
            <a:ext cx="80772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1687</Words>
  <Application>Microsoft Macintosh PowerPoint</Application>
  <PresentationFormat>On-screen Show (4:3)</PresentationFormat>
  <Paragraphs>430</Paragraphs>
  <Slides>54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Courier New</vt:lpstr>
      <vt:lpstr>Merriweather</vt:lpstr>
      <vt:lpstr>Arial</vt:lpstr>
      <vt:lpstr>Amatic SC</vt:lpstr>
      <vt:lpstr>Source Code Pro</vt:lpstr>
      <vt:lpstr>Beach Day</vt:lpstr>
      <vt:lpstr>Git General Training</vt:lpstr>
      <vt:lpstr>Git – meaning?</vt:lpstr>
      <vt:lpstr>PowerPoint Presentation</vt:lpstr>
      <vt:lpstr>Agenda:</vt:lpstr>
      <vt:lpstr>PowerPoint Presentation</vt:lpstr>
      <vt:lpstr>About myself: Ilya Rokhkin  - 20+ years experience in Version Control Systems - Official Git trainer in Checkpoint, Intel, Marvell. - Freelance Git trainer. - Volunteer as Hebrew teacher in “Ulpan” 10+ years  </vt:lpstr>
      <vt:lpstr>GIT  Architecture  1 Local repo 2 Remote (Origin) 3 Common (Community) Remote Origin</vt:lpstr>
      <vt:lpstr>PowerPoint Presentation</vt:lpstr>
      <vt:lpstr>Git repository structure (.git)</vt:lpstr>
      <vt:lpstr>The Working Tree   </vt:lpstr>
      <vt:lpstr>States of files in Working Tree</vt:lpstr>
      <vt:lpstr>Objects </vt:lpstr>
      <vt:lpstr>Objects cont. </vt:lpstr>
      <vt:lpstr>Commit Object</vt:lpstr>
      <vt:lpstr>Commit object with its parent Links from tree object to common blobs</vt:lpstr>
      <vt:lpstr>Secure Hash Algorithm – SHA1</vt:lpstr>
      <vt:lpstr>The HEAD</vt:lpstr>
      <vt:lpstr>PowerPoint Presentation</vt:lpstr>
      <vt:lpstr>Rebasing Remote Tracking Branch</vt:lpstr>
      <vt:lpstr>Rebasing Remote Tracking Branch</vt:lpstr>
      <vt:lpstr>Rebasing Remote Tracking Branch</vt:lpstr>
      <vt:lpstr>Rebasing Remote Tracking Branch</vt:lpstr>
      <vt:lpstr>Rebasing Remote Tracking Branch</vt:lpstr>
      <vt:lpstr>Rebasing Remote Tracking Branch</vt:lpstr>
      <vt:lpstr>Rebasing Remote Tracking Branch</vt:lpstr>
      <vt:lpstr>Rebasing Remote Tracking Branch</vt:lpstr>
      <vt:lpstr>Perils of rebase</vt:lpstr>
      <vt:lpstr>PowerPoint Presentation</vt:lpstr>
      <vt:lpstr>Git branches</vt:lpstr>
      <vt:lpstr>Creating new branch</vt:lpstr>
      <vt:lpstr>Switching to a branch</vt:lpstr>
      <vt:lpstr>New commit moves current branch</vt:lpstr>
      <vt:lpstr>Merging branches</vt:lpstr>
      <vt:lpstr>Merging branches (continued)</vt:lpstr>
      <vt:lpstr>PowerPoint Presentation</vt:lpstr>
      <vt:lpstr>Best practices – commit  </vt:lpstr>
      <vt:lpstr>Best practices – squashing  </vt:lpstr>
      <vt:lpstr>Best practices - concise commit messages</vt:lpstr>
      <vt:lpstr>Best practices – local feature branches  </vt:lpstr>
      <vt:lpstr>Best practices – Branch Layout </vt:lpstr>
      <vt:lpstr>Best practices – clean up local branches </vt:lpstr>
      <vt:lpstr>Best practices – tag milestones  </vt:lpstr>
      <vt:lpstr>PowerPoint Presentation</vt:lpstr>
      <vt:lpstr>PowerPoint Presentation</vt:lpstr>
      <vt:lpstr>Question?   Thanks!</vt:lpstr>
      <vt:lpstr>Backup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are tracking and remote-tracking branches?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4</cp:revision>
  <dcterms:modified xsi:type="dcterms:W3CDTF">2023-07-19T16:57:26Z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7023367f-5dc9-40c2-96e2-f2d6fcd97955</vt:lpwstr>
  </property>
</Properties>
</file>