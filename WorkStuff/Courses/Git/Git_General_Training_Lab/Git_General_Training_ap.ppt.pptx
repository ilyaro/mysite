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56"/>
  </p:notesMasterIdLst>
  <p:sldIdLst>
    <p:sldId id="256" r:id="rId2"/>
    <p:sldId id="307" r:id="rId3"/>
    <p:sldId id="308" r:id="rId4"/>
    <p:sldId id="257" r:id="rId5"/>
    <p:sldId id="258" r:id="rId6"/>
    <p:sldId id="34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x="9144000" cy="6858000" type="screen4x3"/>
  <p:notesSz cx="6934200" cy="9232900"/>
  <p:embeddedFontLst>
    <p:embeddedFont>
      <p:font typeface="Amatic SC" pitchFamily="2" charset="-79"/>
      <p:regular r:id="rId57"/>
      <p:bold r:id="rId58"/>
    </p:embeddedFont>
    <p:embeddedFont>
      <p:font typeface="Merriweather" pitchFamily="2" charset="77"/>
      <p:regular r:id="rId59"/>
      <p:bold r:id="rId60"/>
      <p:italic r:id="rId61"/>
      <p:boldItalic r:id="rId62"/>
    </p:embeddedFont>
    <p:embeddedFont>
      <p:font typeface="Source Code Pro" panose="020B0509030403020204" pitchFamily="49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334"/>
  </p:normalViewPr>
  <p:slideViewPr>
    <p:cSldViewPr>
      <p:cViewPr varScale="1">
        <p:scale>
          <a:sx n="151" d="100"/>
          <a:sy n="151" d="100"/>
        </p:scale>
        <p:origin x="23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7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6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29062" y="0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800" b="0" i="0" u="none" strike="noStrike" cap="none"/>
            </a:lvl1pPr>
            <a:lvl2pPr marL="457200" marR="0" lvl="1" indent="0" algn="l" rtl="0">
              <a:spcBef>
                <a:spcPts val="0"/>
              </a:spcBef>
              <a:buChar char="○"/>
              <a:defRPr sz="1800" b="0" i="0" u="none" strike="noStrike" cap="none"/>
            </a:lvl2pPr>
            <a:lvl3pPr marL="914400" marR="0" lvl="2" indent="0" algn="l" rtl="0">
              <a:spcBef>
                <a:spcPts val="0"/>
              </a:spcBef>
              <a:buChar char="■"/>
              <a:defRPr sz="1800" b="0" i="0" u="none" strike="noStrike" cap="none"/>
            </a:lvl3pPr>
            <a:lvl4pPr marL="1371600" marR="0" lvl="3" indent="0" algn="l" rtl="0">
              <a:spcBef>
                <a:spcPts val="0"/>
              </a:spcBef>
              <a:buChar char="●"/>
              <a:defRPr sz="1800" b="0" i="0" u="none" strike="noStrike" cap="none"/>
            </a:lvl4pPr>
            <a:lvl5pPr marL="1828800" marR="0" lvl="4" indent="0" algn="l" rtl="0">
              <a:spcBef>
                <a:spcPts val="0"/>
              </a:spcBef>
              <a:buChar char="○"/>
              <a:defRPr sz="1800" b="0" i="0" u="none" strike="noStrike" cap="none"/>
            </a:lvl5pPr>
            <a:lvl6pPr marL="2286000" marR="0" lvl="5" indent="0" algn="l" rtl="0">
              <a:spcBef>
                <a:spcPts val="0"/>
              </a:spcBef>
              <a:buChar char="■"/>
              <a:defRPr sz="1800" b="0" i="0" u="none" strike="noStrike" cap="none"/>
            </a:lvl6pPr>
            <a:lvl7pPr marL="2743200" marR="0" lvl="6" indent="0" algn="l" rtl="0">
              <a:spcBef>
                <a:spcPts val="0"/>
              </a:spcBef>
              <a:buChar char="●"/>
              <a:defRPr sz="1800" b="0" i="0" u="none" strike="noStrike" cap="none"/>
            </a:lvl7pPr>
            <a:lvl8pPr marL="3200400" marR="0" lvl="7" indent="0" algn="l" rtl="0">
              <a:spcBef>
                <a:spcPts val="0"/>
              </a:spcBef>
              <a:buChar char="○"/>
              <a:defRPr sz="1800" b="0" i="0" u="none" strike="noStrike" cap="none"/>
            </a:lvl8pPr>
            <a:lvl9pPr marL="3657600" marR="0" lvl="8" indent="0" algn="l" rtl="0">
              <a:spcBef>
                <a:spcPts val="0"/>
              </a:spcBef>
              <a:buChar char="■"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37" cy="461962"/>
          </a:xfrm>
          <a:prstGeom prst="rect">
            <a:avLst/>
          </a:prstGeom>
          <a:noFill/>
          <a:ln>
            <a:noFill/>
          </a:ln>
        </p:spPr>
        <p:txBody>
          <a:bodyPr wrap="square" lIns="92375" tIns="46175" rIns="92375" bIns="461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194050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Shape 90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3" name="Shape 15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1" name="Shape 181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188" name="Shape 1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Shape 21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19" name="Shape 219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287" name="Shape 287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25" name="Shape 325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63" name="Shape 363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Shape 40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02" name="Shape 40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42" name="Shape 44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80" name="Shape 48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48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Shape 48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489" name="Shape 489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95" name="Shape 49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4" name="Shape 50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3" name="Shape 51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52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2" name="Shape 522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Shape 530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1" name="Shape 531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Shape 53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9" name="Shape 53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Shape 54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549" name="Shape 549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5" name="Shape 55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3" name="Shape 56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Shape 5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9" name="Shape 57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5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Shape 5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8" name="Shape 5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Shape 595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6" name="Shape 59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4" name="Shape 604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Shape 61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14" name="Shape 614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619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Shape 620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21" name="Shape 621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 rt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62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633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Shape 63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5" name="Shape 635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Shape 64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2" name="Shape 64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50" name="Shape 650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Shape 65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Shape 656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57" name="Shape 657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Shape 662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Shape 663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4" name="Shape 664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670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Shape 671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2" name="Shape 672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Shape 678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Shape 679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0" name="Shape 680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Shape 687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200" cy="4154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8" name="Shape 688"/>
          <p:cNvSpPr txBox="1">
            <a:spLocks noGrp="1"/>
          </p:cNvSpPr>
          <p:nvPr>
            <p:ph type="sldNum" idx="12"/>
          </p:nvPr>
        </p:nvSpPr>
        <p:spPr>
          <a:xfrm>
            <a:off x="3929062" y="8770937"/>
            <a:ext cx="3005100" cy="462000"/>
          </a:xfrm>
          <a:prstGeom prst="rect">
            <a:avLst/>
          </a:prstGeom>
        </p:spPr>
        <p:txBody>
          <a:bodyPr wrap="square" lIns="92375" tIns="46175" rIns="92375" bIns="46175" anchor="b" anchorCtr="0">
            <a:noAutofit/>
          </a:bodyPr>
          <a:lstStyle/>
          <a:p>
            <a:pPr lvl="0">
              <a:spcBef>
                <a:spcPts val="0"/>
              </a:spcBef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694"/>
          <p:cNvSpPr txBox="1">
            <a:spLocks noGrp="1"/>
          </p:cNvSpPr>
          <p:nvPr>
            <p:ph type="body" idx="1"/>
          </p:nvPr>
        </p:nvSpPr>
        <p:spPr>
          <a:xfrm>
            <a:off x="923925" y="4386262"/>
            <a:ext cx="5086350" cy="41544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5" name="Shape 695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92150"/>
            <a:ext cx="4616450" cy="34623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8000"/>
            </a:lvl1pPr>
            <a:lvl2pPr lvl="1" algn="ctr">
              <a:spcBef>
                <a:spcPts val="0"/>
              </a:spcBef>
              <a:buSzPct val="100000"/>
              <a:defRPr sz="8000"/>
            </a:lvl2pPr>
            <a:lvl3pPr lvl="2" algn="ctr">
              <a:spcBef>
                <a:spcPts val="0"/>
              </a:spcBef>
              <a:buSzPct val="100000"/>
              <a:defRPr sz="8000"/>
            </a:lvl3pPr>
            <a:lvl4pPr lvl="3" algn="ctr">
              <a:spcBef>
                <a:spcPts val="0"/>
              </a:spcBef>
              <a:buSzPct val="100000"/>
              <a:defRPr sz="8000"/>
            </a:lvl4pPr>
            <a:lvl5pPr lvl="4" algn="ctr">
              <a:spcBef>
                <a:spcPts val="0"/>
              </a:spcBef>
              <a:buSzPct val="100000"/>
              <a:defRPr sz="8000"/>
            </a:lvl5pPr>
            <a:lvl6pPr lvl="5" algn="ctr">
              <a:spcBef>
                <a:spcPts val="0"/>
              </a:spcBef>
              <a:buSzPct val="100000"/>
              <a:defRPr sz="8000"/>
            </a:lvl6pPr>
            <a:lvl7pPr lvl="6" algn="ctr">
              <a:spcBef>
                <a:spcPts val="0"/>
              </a:spcBef>
              <a:buSzPct val="100000"/>
              <a:defRPr sz="8000"/>
            </a:lvl7pPr>
            <a:lvl8pPr lvl="7" algn="ctr">
              <a:spcBef>
                <a:spcPts val="0"/>
              </a:spcBef>
              <a:buSzPct val="100000"/>
              <a:defRPr sz="8000"/>
            </a:lvl8pPr>
            <a:lvl9pPr lvl="8" algn="ctr">
              <a:spcBef>
                <a:spcPts val="0"/>
              </a:spcBef>
              <a:buSzPct val="100000"/>
              <a:defRPr sz="80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wrap="square" lIns="91425" tIns="91425" rIns="91425" bIns="91425" anchor="ctr" anchorCtr="0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2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4000"/>
            </a:lvl1pPr>
            <a:lvl2pPr lvl="1">
              <a:spcBef>
                <a:spcPts val="0"/>
              </a:spcBef>
              <a:buSzPct val="100000"/>
              <a:defRPr sz="4000"/>
            </a:lvl2pPr>
            <a:lvl3pPr lvl="2">
              <a:spcBef>
                <a:spcPts val="0"/>
              </a:spcBef>
              <a:buSzPct val="100000"/>
              <a:defRPr sz="4000"/>
            </a:lvl3pPr>
            <a:lvl4pPr lvl="3">
              <a:spcBef>
                <a:spcPts val="0"/>
              </a:spcBef>
              <a:buSzPct val="100000"/>
              <a:defRPr sz="4000"/>
            </a:lvl4pPr>
            <a:lvl5pPr lvl="4">
              <a:spcBef>
                <a:spcPts val="0"/>
              </a:spcBef>
              <a:buSzPct val="100000"/>
              <a:defRPr sz="4000"/>
            </a:lvl5pPr>
            <a:lvl6pPr lvl="5">
              <a:spcBef>
                <a:spcPts val="0"/>
              </a:spcBef>
              <a:buSzPct val="100000"/>
              <a:defRPr sz="4000"/>
            </a:lvl6pPr>
            <a:lvl7pPr lvl="6">
              <a:spcBef>
                <a:spcPts val="0"/>
              </a:spcBef>
              <a:buSzPct val="100000"/>
              <a:defRPr sz="4000"/>
            </a:lvl7pPr>
            <a:lvl8pPr lvl="7">
              <a:spcBef>
                <a:spcPts val="0"/>
              </a:spcBef>
              <a:buSzPct val="100000"/>
              <a:defRPr sz="4000"/>
            </a:lvl8pPr>
            <a:lvl9pPr lvl="8">
              <a:spcBef>
                <a:spcPts val="0"/>
              </a:spcBef>
              <a:buSzPct val="100000"/>
              <a:defRPr sz="4000"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3000"/>
            </a:lvl1pPr>
            <a:lvl2pPr lvl="1">
              <a:spcBef>
                <a:spcPts val="0"/>
              </a:spcBef>
              <a:buSzPct val="100000"/>
              <a:defRPr sz="3000"/>
            </a:lvl2pPr>
            <a:lvl3pPr lvl="2">
              <a:spcBef>
                <a:spcPts val="0"/>
              </a:spcBef>
              <a:buSzPct val="100000"/>
              <a:defRPr sz="3000"/>
            </a:lvl3pPr>
            <a:lvl4pPr lvl="3">
              <a:spcBef>
                <a:spcPts val="0"/>
              </a:spcBef>
              <a:buSzPct val="100000"/>
              <a:defRPr sz="3000"/>
            </a:lvl4pPr>
            <a:lvl5pPr lvl="4">
              <a:spcBef>
                <a:spcPts val="0"/>
              </a:spcBef>
              <a:buSzPct val="100000"/>
              <a:defRPr sz="3000"/>
            </a:lvl5pPr>
            <a:lvl6pPr lvl="5">
              <a:spcBef>
                <a:spcPts val="0"/>
              </a:spcBef>
              <a:buSzPct val="100000"/>
              <a:defRPr sz="3000"/>
            </a:lvl6pPr>
            <a:lvl7pPr lvl="6">
              <a:spcBef>
                <a:spcPts val="0"/>
              </a:spcBef>
              <a:buSzPct val="100000"/>
              <a:defRPr sz="3000"/>
            </a:lvl7pPr>
            <a:lvl8pPr lvl="7">
              <a:spcBef>
                <a:spcPts val="0"/>
              </a:spcBef>
              <a:buSzPct val="100000"/>
              <a:defRPr sz="3000"/>
            </a:lvl8pPr>
            <a:lvl9pPr lvl="8">
              <a:spcBef>
                <a:spcPts val="0"/>
              </a:spcBef>
              <a:buSzPct val="100000"/>
              <a:defRPr sz="3000"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accent4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 lang="en-US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2" name="Shape 42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Shape 43"/>
          <p:cNvSpPr txBox="1">
            <a:spLocks noGrp="1"/>
          </p:cNvSpPr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5400"/>
            </a:lvl1pPr>
            <a:lvl2pPr lvl="1" algn="ctr">
              <a:spcBef>
                <a:spcPts val="0"/>
              </a:spcBef>
              <a:buSzPct val="100000"/>
              <a:defRPr sz="5400"/>
            </a:lvl2pPr>
            <a:lvl3pPr lvl="2" algn="ctr">
              <a:spcBef>
                <a:spcPts val="0"/>
              </a:spcBef>
              <a:buSzPct val="100000"/>
              <a:defRPr sz="5400"/>
            </a:lvl3pPr>
            <a:lvl4pPr lvl="3" algn="ctr">
              <a:spcBef>
                <a:spcPts val="0"/>
              </a:spcBef>
              <a:buSzPct val="100000"/>
              <a:defRPr sz="5400"/>
            </a:lvl4pPr>
            <a:lvl5pPr lvl="4" algn="ctr">
              <a:spcBef>
                <a:spcPts val="0"/>
              </a:spcBef>
              <a:buSzPct val="100000"/>
              <a:defRPr sz="5400"/>
            </a:lvl5pPr>
            <a:lvl6pPr lvl="5" algn="ctr">
              <a:spcBef>
                <a:spcPts val="0"/>
              </a:spcBef>
              <a:buSzPct val="100000"/>
              <a:defRPr sz="5400"/>
            </a:lvl6pPr>
            <a:lvl7pPr lvl="6" algn="ctr">
              <a:spcBef>
                <a:spcPts val="0"/>
              </a:spcBef>
              <a:buSzPct val="100000"/>
              <a:defRPr sz="5400"/>
            </a:lvl7pPr>
            <a:lvl8pPr lvl="7" algn="ctr">
              <a:spcBef>
                <a:spcPts val="0"/>
              </a:spcBef>
              <a:buSzPct val="100000"/>
              <a:defRPr sz="5400"/>
            </a:lvl8pPr>
            <a:lvl9pPr lvl="8" algn="ctr">
              <a:spcBef>
                <a:spcPts val="0"/>
              </a:spcBef>
              <a:buSzPct val="100000"/>
              <a:defRPr sz="5400"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ubTitle" idx="1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1800"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wrap="square"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wrap="square" lIns="91425" tIns="91425" rIns="91425" bIns="91425" anchor="b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wrap="square" lIns="91425" tIns="91425" rIns="91425" bIns="91425" anchor="t" anchorCtr="0"/>
          <a:lstStyle>
            <a:lvl1pPr lvl="0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buClr>
                <a:schemeClr val="accent1"/>
              </a:buClr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228600" marR="0" lvl="0" indent="-101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28650" marR="0" lvl="1" indent="-158750" algn="l" rtl="0">
              <a:spcBef>
                <a:spcPts val="5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6350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00150" marR="0" lvl="3" indent="-57150" algn="l" rtl="0">
              <a:spcBef>
                <a:spcPts val="45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85900" marR="0" lvl="4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43100" marR="0" lvl="5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400300" marR="0" lvl="6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857500" marR="0" lvl="7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314700" marR="0" lvl="8" indent="-76200" algn="l" rtl="0">
              <a:spcBef>
                <a:spcPts val="4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»"/>
              <a:defRPr sz="16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4114800" y="65532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buClr>
                <a:schemeClr val="accent1"/>
              </a:buClr>
              <a:buSzPct val="1000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US"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‹#›</a:t>
            </a:fld>
            <a:endParaRPr lang="en-US" sz="10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Merriweather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Git General Training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subTitle" idx="1"/>
          </p:nvPr>
        </p:nvSpPr>
        <p:spPr>
          <a:xfrm>
            <a:off x="1600200" y="47244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inspection of basic commands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Ilya Rokhkin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2023</a:t>
            </a:r>
            <a:endParaRPr lang="en-US" sz="2000" b="0" dirty="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– meaning?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609600" y="2514600"/>
            <a:ext cx="8229600" cy="1676400"/>
          </a:xfrm>
        </p:spPr>
        <p:txBody>
          <a:bodyPr/>
          <a:lstStyle/>
          <a:p>
            <a:pPr marL="127000" indent="0">
              <a:buNone/>
            </a:pPr>
            <a:r>
              <a:rPr lang="en-US" sz="4000" dirty="0"/>
              <a:t>What does the word Git mean?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/>
        </p:nvSpPr>
        <p:spPr>
          <a:xfrm>
            <a:off x="153897" y="228600"/>
            <a:ext cx="8229600" cy="6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400" dirty="0">
                <a:solidFill>
                  <a:schemeClr val="dk2"/>
                </a:solidFill>
              </a:rPr>
              <a:t>GIT Overview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7" y="965250"/>
            <a:ext cx="855345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41844"/>
            <a:ext cx="6820072" cy="255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 hidden="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 hidden="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Agenda: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676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1. Basic concepts and commands</a:t>
            </a:r>
          </a:p>
          <a:p>
            <a:pPr marL="628650" lvl="1" indent="-285750" rtl="0">
              <a:spcBef>
                <a:spcPts val="0"/>
              </a:spcBef>
              <a:buClr>
                <a:srgbClr val="EA411A"/>
              </a:buClr>
              <a:buSzPct val="100000"/>
              <a:buFont typeface="Arial"/>
              <a:buChar char="–"/>
            </a:pPr>
            <a:r>
              <a:rPr lang="en-US"/>
              <a:t>Git Architecture, data model</a:t>
            </a:r>
          </a:p>
          <a:p>
            <a:pPr marL="628650" lvl="1" indent="-285750" rtl="0">
              <a:spcBef>
                <a:spcPts val="0"/>
              </a:spcBef>
              <a:buClr>
                <a:srgbClr val="EA411A"/>
              </a:buClr>
              <a:buSzPct val="100000"/>
              <a:buFont typeface="Arial"/>
              <a:buChar char="–"/>
            </a:pPr>
            <a:r>
              <a:rPr lang="en-US"/>
              <a:t>DVCS, Repository, Commit, Parent Commit, Tree, Blob, Index.</a:t>
            </a:r>
          </a:p>
          <a:p>
            <a:pPr marL="628650" lvl="1" indent="-285750" rtl="0">
              <a:spcBef>
                <a:spcPts val="0"/>
              </a:spcBef>
              <a:buClr>
                <a:srgbClr val="EA411A"/>
              </a:buClr>
              <a:buSzPct val="100000"/>
              <a:buFont typeface="Arial"/>
              <a:buChar char="–"/>
            </a:pPr>
            <a:r>
              <a:rPr lang="en-US"/>
              <a:t>Staged, Modified, Committed files.</a:t>
            </a:r>
          </a:p>
          <a:p>
            <a:pPr marL="628650" lvl="1" indent="-285750" rtl="0">
              <a:spcBef>
                <a:spcPts val="0"/>
              </a:spcBef>
              <a:buClr>
                <a:srgbClr val="EA411A"/>
              </a:buClr>
              <a:buSzPct val="100000"/>
              <a:buFont typeface="Arial"/>
              <a:buChar char="–"/>
            </a:pPr>
            <a:r>
              <a:rPr lang="en-US"/>
              <a:t>Basic commands to work in Repository and outside.</a:t>
            </a:r>
          </a:p>
          <a:p>
            <a:pPr marL="628650" lvl="1" indent="-285750" rtl="0">
              <a:spcBef>
                <a:spcPts val="0"/>
              </a:spcBef>
              <a:buClr>
                <a:srgbClr val="EA411A"/>
              </a:buClr>
              <a:buSzPct val="100000"/>
              <a:buFont typeface="Arial"/>
              <a:buChar char="–"/>
            </a:pPr>
            <a:r>
              <a:rPr lang="en-US"/>
              <a:t>Sharing work with peers.</a:t>
            </a:r>
          </a:p>
          <a:p>
            <a:pPr marL="628650" lvl="1" indent="-285750" rtl="0">
              <a:spcBef>
                <a:spcPts val="0"/>
              </a:spcBef>
              <a:buClr>
                <a:srgbClr val="EA411A"/>
              </a:buClr>
              <a:buSzPct val="100000"/>
              <a:buFont typeface="Arial"/>
              <a:buChar char="–"/>
            </a:pPr>
            <a:r>
              <a:rPr lang="en-US"/>
              <a:t>Best practices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 b="0" i="0" u="none" strike="noStrike" cap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strike="noStrike" cap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2. Practical part, lab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206850" y="1793700"/>
            <a:ext cx="8229600" cy="327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Quick and efficient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Expedite distributed development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Atomic transactions, commit, </a:t>
            </a:r>
            <a:r>
              <a:rPr lang="en-US"/>
              <a:t>cross repository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/>
              <a:t>Commits (Change) management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 clea</a:t>
            </a:r>
            <a:r>
              <a:rPr lang="en-US"/>
              <a:t>r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internal design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Suited to</a:t>
            </a:r>
            <a:r>
              <a:rPr lang="en-US"/>
              <a:t> handle everything from small to very large projects with speed and efficiency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Support and encourage branched development</a:t>
            </a:r>
          </a:p>
          <a:p>
            <a:pPr marL="2286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Shape 79"/>
          <p:cNvSpPr txBox="1"/>
          <p:nvPr/>
        </p:nvSpPr>
        <p:spPr>
          <a:xfrm>
            <a:off x="461825" y="708025"/>
            <a:ext cx="8229600" cy="641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3400">
                <a:solidFill>
                  <a:schemeClr val="dk2"/>
                </a:solidFill>
              </a:rPr>
              <a:t>GIT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14600"/>
          </a:xfrm>
        </p:spPr>
        <p:txBody>
          <a:bodyPr/>
          <a:lstStyle/>
          <a:p>
            <a:r>
              <a:rPr lang="en-US" dirty="0"/>
              <a:t>About myself: Ilya Rokhkin </a:t>
            </a:r>
            <a:br>
              <a:rPr lang="en-US" dirty="0"/>
            </a:br>
            <a:r>
              <a:rPr lang="en-US" dirty="0"/>
              <a:t>- </a:t>
            </a:r>
            <a:r>
              <a:rPr lang="en-US" sz="2800" dirty="0"/>
              <a:t>20+ years experience in Version Control Systems</a:t>
            </a:r>
            <a:br>
              <a:rPr lang="en-US" sz="2800" dirty="0"/>
            </a:br>
            <a:r>
              <a:rPr lang="en-US" sz="2800" dirty="0"/>
              <a:t>- Official Git trainer in Checkpoint, Intel, Marvell.</a:t>
            </a:r>
            <a:br>
              <a:rPr lang="en-US" sz="2800" dirty="0"/>
            </a:br>
            <a:r>
              <a:rPr lang="en-US" sz="2800" dirty="0"/>
              <a:t>- Freelance Git trainer.</a:t>
            </a:r>
            <a:br>
              <a:rPr lang="en-US" sz="2800" dirty="0"/>
            </a:br>
            <a:r>
              <a:rPr lang="en-US" sz="2800" dirty="0"/>
              <a:t>- Volunteer as Hebrew teacher in “</a:t>
            </a:r>
            <a:r>
              <a:rPr lang="en-US" sz="2800" dirty="0" err="1"/>
              <a:t>Ulpan</a:t>
            </a:r>
            <a:r>
              <a:rPr lang="en-US" sz="2800" dirty="0"/>
              <a:t>” 10+ years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 smtClean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514600"/>
            <a:ext cx="523875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79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0" y="200"/>
            <a:ext cx="1617600" cy="6858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Architecture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1800"/>
              <a:t>1 Local repo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1800"/>
              <a:t>2 Remote (Origin)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1800"/>
              <a:t>3 Common</a:t>
            </a:r>
            <a:br>
              <a:rPr lang="en-US" sz="1800"/>
            </a:br>
            <a:r>
              <a:rPr lang="en-US" sz="1800"/>
              <a:t>(Community) Remote Origin</a:t>
            </a:r>
          </a:p>
        </p:txBody>
      </p:sp>
      <p:sp>
        <p:nvSpPr>
          <p:cNvPr id="85" name="Shape 85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Nov 20,2011</a:t>
            </a:r>
          </a:p>
        </p:txBody>
      </p:sp>
      <p:sp>
        <p:nvSpPr>
          <p:cNvPr id="86" name="Shape 86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Shape 87" descr="Github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825" y="0"/>
            <a:ext cx="76791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-25" y="0"/>
            <a:ext cx="9144000" cy="6858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Demo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Lab 1 - 2</a:t>
            </a:r>
            <a:br>
              <a:rPr lang="en-US" sz="3600"/>
            </a:br>
            <a:endParaRPr lang="en-US" sz="3600"/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We will configure your git user and e-mail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Will create remote, bare repository in home dir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Clone it to work repo1 in home dir also, add,commit and push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Restructure files, add, commit and push</a:t>
            </a:r>
            <a:br>
              <a:rPr lang="en-US" sz="3000"/>
            </a:br>
            <a:endParaRPr lang="en-US" sz="3000"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Git repository structure (.git)</a:t>
            </a:r>
          </a:p>
        </p:txBody>
      </p:sp>
      <p:sp>
        <p:nvSpPr>
          <p:cNvPr id="100" name="Shape 100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01" name="Shape 101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Shape 10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47800"/>
            <a:ext cx="7696200" cy="49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/>
              <a:t>W</a:t>
            </a: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orking Tree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246475" y="1596700"/>
            <a:ext cx="8440200" cy="4876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Working tree has all files and folders as found in your HEAD,</a:t>
            </a: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plus the changes you made since your last commit</a:t>
            </a: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There is only ONE main working tree per repository (and only 1 .git</a:t>
            </a: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folder as well)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Working Tree</a:t>
            </a: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Shape 10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Shape 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2800" y="3097650"/>
            <a:ext cx="3276600" cy="30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Shape 112"/>
          <p:cNvSpPr/>
          <p:nvPr/>
        </p:nvSpPr>
        <p:spPr>
          <a:xfrm>
            <a:off x="2537325" y="4654150"/>
            <a:ext cx="1203300" cy="87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States of files in Working Tree</a:t>
            </a: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1" i="0" u="none">
                <a:solidFill>
                  <a:srgbClr val="ACACAC"/>
                </a:solidFill>
                <a:latin typeface="Arial"/>
                <a:ea typeface="Arial"/>
                <a:cs typeface="Arial"/>
                <a:sym typeface="Arial"/>
              </a:rPr>
              <a:t>Untracked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– in the repository folder, git does not keep a version of it.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1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Modified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– tracked, modified since last stage or commit.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1" i="0" u="none">
                <a:solidFill>
                  <a:srgbClr val="13911F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r>
              <a:rPr lang="en-US" sz="2000" b="0" i="0" u="none">
                <a:solidFill>
                  <a:srgbClr val="1391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– a snapshot of the file, ready to be committed. Even if modified, git will still keep the snapshot.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1" i="0" u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Committed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– version of file saved in repository 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Objects </a:t>
            </a: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8763000" cy="58674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Every object in GIT composed of </a:t>
            </a:r>
            <a:r>
              <a:rPr lang="en-US" dirty="0"/>
              <a:t>those</a:t>
            </a:r>
            <a:r>
              <a:rPr lang="en-US" sz="2000" b="0" i="0" u="none" dirty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elements – </a:t>
            </a:r>
          </a:p>
          <a:p>
            <a:pPr marL="45720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 sz="1800" b="1" dirty="0">
              <a:solidFill>
                <a:srgbClr val="000000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–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“blob”, “tree”, “commit”, “refs” (branch/tag).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0" marR="0" lvl="0" indent="45720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"blob" is basically like a file – it is used to store the content of a source file.</a:t>
            </a:r>
          </a:p>
          <a:p>
            <a:pPr marL="6286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"tree" is basically like a directory - it references a group of other</a:t>
            </a:r>
          </a:p>
          <a:p>
            <a:pPr marL="6286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trees (subdirectories) and/or blobs (files).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</a:rPr>
              <a:t> A "commit" points to a single tree, marking it as what the project</a:t>
            </a: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rgbClr val="000000"/>
                </a:solidFill>
              </a:rPr>
              <a:t>   looked like at a certain point in time. Keeps changed files since the last commit, author of the changes, a reference to the parent commit(s), etc.</a:t>
            </a: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r>
              <a:rPr lang="en-US" sz="1800" dirty="0">
                <a:solidFill>
                  <a:srgbClr val="000000"/>
                </a:solidFill>
              </a:rPr>
              <a:t> A “refs" is a way to mark a specific commit as special in some way. It is usually used to tag certain commits as specific releases or something along those lines.</a:t>
            </a:r>
          </a:p>
          <a:p>
            <a:pPr marL="457200" marR="0" lvl="0" indent="-69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61111"/>
              <a:buFont typeface="Arial"/>
              <a:buNone/>
            </a:pPr>
            <a:endParaRPr sz="1800" dirty="0">
              <a:solidFill>
                <a:srgbClr val="000000"/>
              </a:solidFill>
            </a:endParaRPr>
          </a:p>
          <a:p>
            <a:pPr marL="2286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 b="0" i="0" u="none" dirty="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Objects cont.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152400" y="11430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Almost all of GIT is built around manipulating this simple structure of four different object types. It is sort of </a:t>
            </a:r>
            <a:r>
              <a:rPr lang="en-US"/>
              <a:t>it's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own little file system that sits on top of your machine's file system.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/>
              <a:t>Let's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say we have a small project that looks like this: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If we will commit this project to a GIT repository, it will be represented in GIT like this: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Shape 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617787"/>
            <a:ext cx="3276600" cy="216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>
            <a:spLocks noGrp="1"/>
          </p:cNvSpPr>
          <p:nvPr>
            <p:ph type="title"/>
          </p:nvPr>
        </p:nvSpPr>
        <p:spPr>
          <a:xfrm>
            <a:off x="607062" y="86475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Commit Object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Shape 1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7050" y="603700"/>
            <a:ext cx="8146500" cy="61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78300" y="0"/>
            <a:ext cx="8563200" cy="12324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Commit object with its parent</a:t>
            </a:r>
          </a:p>
          <a:p>
            <a:pPr marL="457200" lvl="0" indent="-381000">
              <a:spcBef>
                <a:spcPts val="0"/>
              </a:spcBef>
              <a:buClr>
                <a:schemeClr val="accent5"/>
              </a:buClr>
              <a:buSzPct val="100000"/>
              <a:buChar char="●"/>
            </a:pPr>
            <a:r>
              <a:rPr lang="en-US" sz="2400"/>
              <a:t>Links from tree object to common blobs</a:t>
            </a:r>
          </a:p>
        </p:txBody>
      </p:sp>
      <p:sp>
        <p:nvSpPr>
          <p:cNvPr id="146" name="Shape 146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pic>
        <p:nvPicPr>
          <p:cNvPr id="147" name="Shape 147" descr="Git_objec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750" y="1318025"/>
            <a:ext cx="7252150" cy="53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Shape 148"/>
          <p:cNvSpPr txBox="1"/>
          <p:nvPr/>
        </p:nvSpPr>
        <p:spPr>
          <a:xfrm>
            <a:off x="318975" y="1754375"/>
            <a:ext cx="1449900" cy="60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/>
              <a:t>Commit Obj</a:t>
            </a:r>
          </a:p>
        </p:txBody>
      </p:sp>
      <p:sp>
        <p:nvSpPr>
          <p:cNvPr id="149" name="Shape 149"/>
          <p:cNvSpPr txBox="1"/>
          <p:nvPr/>
        </p:nvSpPr>
        <p:spPr>
          <a:xfrm>
            <a:off x="434925" y="3699500"/>
            <a:ext cx="1218000" cy="60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/>
              <a:t>Tree Obj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58000" y="5669075"/>
            <a:ext cx="1218000" cy="60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/>
              <a:t>Blob obj.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>
            <a:spLocks noGrp="1"/>
          </p:cNvSpPr>
          <p:nvPr>
            <p:ph type="title"/>
          </p:nvPr>
        </p:nvSpPr>
        <p:spPr>
          <a:xfrm>
            <a:off x="139262" y="161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Secure Hash Algorithm – SHA1</a:t>
            </a:r>
          </a:p>
        </p:txBody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0" y="729300"/>
            <a:ext cx="8368800" cy="5724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Each object in GIT is represented by a 40-digit string, that looks something like that: 7bf68ebf3d8cff042bd3cb87e7592ddda9caa665. 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   This string is being calculated by taking the SHA1 hash of the 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   contents of the object.</a:t>
            </a:r>
          </a:p>
          <a:p>
            <a:pPr marL="0" marR="0" lvl="0" indent="-1270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br>
              <a:rPr lang="en-US"/>
            </a:br>
            <a:r>
              <a:rPr lang="en-US"/>
              <a:t>Each commit has </a:t>
            </a:r>
            <a:br>
              <a:rPr lang="en-US"/>
            </a:br>
            <a:r>
              <a:rPr lang="en-US"/>
              <a:t>Author and Committer</a:t>
            </a:r>
          </a:p>
          <a:p>
            <a:pPr marL="0" marR="0" lvl="0" indent="-1270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r>
              <a:rPr lang="en-US" b="1"/>
              <a:t>Author</a:t>
            </a:r>
            <a:r>
              <a:rPr lang="en-US"/>
              <a:t> is who really </a:t>
            </a:r>
            <a:br>
              <a:rPr lang="en-US"/>
            </a:br>
            <a:r>
              <a:rPr lang="en-US"/>
              <a:t>wrote the code and </a:t>
            </a:r>
            <a:br>
              <a:rPr lang="en-US"/>
            </a:br>
            <a:r>
              <a:rPr lang="en-US"/>
              <a:t>committed</a:t>
            </a:r>
          </a:p>
          <a:p>
            <a:pPr marL="0" marR="0" lvl="0" indent="-127000" algn="l" rtl="0"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r>
              <a:rPr lang="en-US" b="1"/>
              <a:t>Committer</a:t>
            </a:r>
            <a:r>
              <a:rPr lang="en-US"/>
              <a:t>, if not the </a:t>
            </a:r>
            <a:br>
              <a:rPr lang="en-US"/>
            </a:br>
            <a:r>
              <a:rPr lang="en-US"/>
              <a:t>same as Author, took </a:t>
            </a:r>
            <a:br>
              <a:rPr lang="en-US"/>
            </a:br>
            <a:r>
              <a:rPr lang="en-US"/>
              <a:t>Original commit and</a:t>
            </a:r>
            <a:br>
              <a:rPr lang="en-US"/>
            </a:br>
            <a:r>
              <a:rPr lang="en-US"/>
              <a:t>reused it in his branch 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Shape 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5050" y="2005650"/>
            <a:ext cx="6498950" cy="4950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HEAD</a:t>
            </a:r>
          </a:p>
        </p:txBody>
      </p:sp>
      <p:sp>
        <p:nvSpPr>
          <p:cNvPr id="165" name="Shape 165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Shape 16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b="48469"/>
          <a:stretch/>
        </p:blipFill>
        <p:spPr>
          <a:xfrm>
            <a:off x="356725" y="3914700"/>
            <a:ext cx="8251800" cy="2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Shape 168"/>
          <p:cNvSpPr/>
          <p:nvPr/>
        </p:nvSpPr>
        <p:spPr>
          <a:xfrm>
            <a:off x="2477300" y="291575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69" name="Shape 169"/>
          <p:cNvSpPr/>
          <p:nvPr/>
        </p:nvSpPr>
        <p:spPr>
          <a:xfrm>
            <a:off x="3660525" y="291575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170" name="Shape 170"/>
          <p:cNvSpPr/>
          <p:nvPr/>
        </p:nvSpPr>
        <p:spPr>
          <a:xfrm>
            <a:off x="4843750" y="291575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171" name="Shape 171"/>
          <p:cNvCxnSpPr>
            <a:stCxn id="169" idx="1"/>
            <a:endCxn id="168" idx="3"/>
          </p:cNvCxnSpPr>
          <p:nvPr/>
        </p:nvCxnSpPr>
        <p:spPr>
          <a:xfrm rot="10800000">
            <a:off x="3251925" y="309350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2" name="Shape 172"/>
          <p:cNvCxnSpPr>
            <a:stCxn id="170" idx="1"/>
            <a:endCxn id="169" idx="3"/>
          </p:cNvCxnSpPr>
          <p:nvPr/>
        </p:nvCxnSpPr>
        <p:spPr>
          <a:xfrm rot="10800000">
            <a:off x="4435150" y="309350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3" name="Shape 173"/>
          <p:cNvSpPr txBox="1"/>
          <p:nvPr/>
        </p:nvSpPr>
        <p:spPr>
          <a:xfrm>
            <a:off x="1766700" y="174430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174" name="Shape 174"/>
          <p:cNvSpPr/>
          <p:nvPr/>
        </p:nvSpPr>
        <p:spPr>
          <a:xfrm>
            <a:off x="4799350" y="195105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175" name="Shape 175"/>
          <p:cNvCxnSpPr>
            <a:stCxn id="174" idx="2"/>
            <a:endCxn id="170" idx="0"/>
          </p:cNvCxnSpPr>
          <p:nvPr/>
        </p:nvCxnSpPr>
        <p:spPr>
          <a:xfrm>
            <a:off x="5231050" y="2460450"/>
            <a:ext cx="0" cy="455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6" name="Shape 176"/>
          <p:cNvSpPr/>
          <p:nvPr/>
        </p:nvSpPr>
        <p:spPr>
          <a:xfrm>
            <a:off x="4095525" y="899400"/>
            <a:ext cx="2168100" cy="688200"/>
          </a:xfrm>
          <a:prstGeom prst="rect">
            <a:avLst/>
          </a:prstGeom>
          <a:solidFill>
            <a:srgbClr val="666666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240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177" name="Shape 177"/>
          <p:cNvCxnSpPr>
            <a:endCxn id="174" idx="0"/>
          </p:cNvCxnSpPr>
          <p:nvPr/>
        </p:nvCxnSpPr>
        <p:spPr>
          <a:xfrm>
            <a:off x="5231050" y="1625250"/>
            <a:ext cx="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Demo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Lab 3</a:t>
            </a:r>
            <a:br>
              <a:rPr lang="en-US" sz="3600"/>
            </a:br>
            <a:endParaRPr lang="en-US" sz="3600"/>
          </a:p>
          <a:p>
            <a:pPr marL="0" lvl="0" indent="0" rtl="0">
              <a:spcBef>
                <a:spcPts val="0"/>
              </a:spcBef>
              <a:buNone/>
            </a:pPr>
            <a:r>
              <a:rPr lang="en-US" sz="3000"/>
              <a:t>Teamwork, parallel work: 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We will clone second work repo2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Will commit changes in both repositories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Push and pull with silent rebase to apply the commit of one repo into another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Overview results </a:t>
            </a:r>
          </a:p>
        </p:txBody>
      </p:sp>
      <p:sp>
        <p:nvSpPr>
          <p:cNvPr id="184" name="Shape 18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sp>
        <p:nvSpPr>
          <p:cNvPr id="191" name="Shape 191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2" name="Shape 192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193" name="Shape 193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194" name="Shape 194"/>
          <p:cNvCxnSpPr>
            <a:stCxn id="192" idx="1"/>
            <a:endCxn id="191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95" name="Shape 195"/>
          <p:cNvCxnSpPr>
            <a:stCxn id="193" idx="1"/>
            <a:endCxn id="192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197" name="Shape 197"/>
          <p:cNvSpPr/>
          <p:nvPr/>
        </p:nvSpPr>
        <p:spPr>
          <a:xfrm>
            <a:off x="48920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198" name="Shape 198"/>
          <p:cNvSpPr/>
          <p:nvPr/>
        </p:nvSpPr>
        <p:spPr>
          <a:xfrm>
            <a:off x="1672425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199" name="Shape 199"/>
          <p:cNvSpPr/>
          <p:nvPr/>
        </p:nvSpPr>
        <p:spPr>
          <a:xfrm>
            <a:off x="2855650" y="488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00" name="Shape 200"/>
          <p:cNvCxnSpPr>
            <a:stCxn id="198" idx="1"/>
            <a:endCxn id="197" idx="3"/>
          </p:cNvCxnSpPr>
          <p:nvPr/>
        </p:nvCxnSpPr>
        <p:spPr>
          <a:xfrm rot="10800000">
            <a:off x="1263825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01" name="Shape 201"/>
          <p:cNvCxnSpPr>
            <a:stCxn id="199" idx="1"/>
            <a:endCxn id="198" idx="3"/>
          </p:cNvCxnSpPr>
          <p:nvPr/>
        </p:nvCxnSpPr>
        <p:spPr>
          <a:xfrm rot="10800000">
            <a:off x="2447050" y="506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2" name="Shape 202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1075" y="3995738"/>
            <a:ext cx="2533625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dirty="0"/>
              <a:t> Remote Repository</a:t>
            </a:r>
          </a:p>
        </p:txBody>
      </p:sp>
      <p:sp>
        <p:nvSpPr>
          <p:cNvPr id="204" name="Shape 204"/>
          <p:cNvSpPr/>
          <p:nvPr/>
        </p:nvSpPr>
        <p:spPr>
          <a:xfrm>
            <a:off x="1893825" y="5669925"/>
            <a:ext cx="267817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205" name="Shape 205"/>
          <p:cNvCxnSpPr>
            <a:cxnSpLocks/>
            <a:stCxn id="204" idx="0"/>
            <a:endCxn id="199" idx="2"/>
          </p:cNvCxnSpPr>
          <p:nvPr/>
        </p:nvCxnSpPr>
        <p:spPr>
          <a:xfrm flipV="1">
            <a:off x="3232913" y="5243100"/>
            <a:ext cx="10037" cy="426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6" name="Shape 206"/>
          <p:cNvSpPr/>
          <p:nvPr/>
        </p:nvSpPr>
        <p:spPr>
          <a:xfrm>
            <a:off x="2447025" y="3103900"/>
            <a:ext cx="2250142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207" name="Shape 207"/>
          <p:cNvCxnSpPr/>
          <p:nvPr/>
        </p:nvCxnSpPr>
        <p:spPr>
          <a:xfrm rot="10800000">
            <a:off x="3464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8" name="Shape 208"/>
          <p:cNvSpPr/>
          <p:nvPr/>
        </p:nvSpPr>
        <p:spPr>
          <a:xfrm>
            <a:off x="2617450" y="1356800"/>
            <a:ext cx="17259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</a:t>
            </a:r>
            <a:r>
              <a:rPr lang="en-US"/>
              <a:t>/PRJ-777</a:t>
            </a:r>
            <a:endParaRPr lang="en-US" dirty="0"/>
          </a:p>
        </p:txBody>
      </p:sp>
      <p:cxnSp>
        <p:nvCxnSpPr>
          <p:cNvPr id="209" name="Shape 209"/>
          <p:cNvCxnSpPr>
            <a:cxnSpLocks/>
            <a:stCxn id="208" idx="2"/>
            <a:endCxn id="193" idx="0"/>
          </p:cNvCxnSpPr>
          <p:nvPr/>
        </p:nvCxnSpPr>
        <p:spPr>
          <a:xfrm flipH="1">
            <a:off x="3464350" y="1866200"/>
            <a:ext cx="16075" cy="45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0" name="Shape 210"/>
          <p:cNvSpPr txBox="1"/>
          <p:nvPr/>
        </p:nvSpPr>
        <p:spPr>
          <a:xfrm>
            <a:off x="5043900" y="3103900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4697175" y="131867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212" name="Shape 212"/>
          <p:cNvSpPr/>
          <p:nvPr/>
        </p:nvSpPr>
        <p:spPr>
          <a:xfrm>
            <a:off x="3045250" y="728400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13" name="Shape 213"/>
          <p:cNvCxnSpPr>
            <a:cxnSpLocks/>
            <a:endCxn id="208" idx="0"/>
          </p:cNvCxnSpPr>
          <p:nvPr/>
        </p:nvCxnSpPr>
        <p:spPr>
          <a:xfrm>
            <a:off x="3464350" y="1031000"/>
            <a:ext cx="16075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4" name="Shape 214"/>
          <p:cNvSpPr txBox="1"/>
          <p:nvPr/>
        </p:nvSpPr>
        <p:spPr>
          <a:xfrm>
            <a:off x="4097350" y="4095500"/>
            <a:ext cx="5046600" cy="1686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/>
              <a:t>After clone/pull Remote Tracking Branch and Tracking (Local) branch pointing to the same commit</a:t>
            </a:r>
          </a:p>
        </p:txBody>
      </p:sp>
      <p:cxnSp>
        <p:nvCxnSpPr>
          <p:cNvPr id="215" name="Shape 215"/>
          <p:cNvCxnSpPr/>
          <p:nvPr/>
        </p:nvCxnSpPr>
        <p:spPr>
          <a:xfrm>
            <a:off x="32125" y="3822500"/>
            <a:ext cx="5171700" cy="1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Shape 235">
            <a:extLst>
              <a:ext uri="{FF2B5EF4-FFF2-40B4-BE49-F238E27FC236}">
                <a16:creationId xmlns:a16="http://schemas.microsoft.com/office/drawing/2014/main" id="{A67DD659-27BD-8D11-EF2B-B1AA044CAFEC}"/>
              </a:ext>
            </a:extLst>
          </p:cNvPr>
          <p:cNvSpPr/>
          <p:nvPr/>
        </p:nvSpPr>
        <p:spPr>
          <a:xfrm>
            <a:off x="2638175" y="4050507"/>
            <a:ext cx="11062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3" name="Shape 248">
            <a:extLst>
              <a:ext uri="{FF2B5EF4-FFF2-40B4-BE49-F238E27FC236}">
                <a16:creationId xmlns:a16="http://schemas.microsoft.com/office/drawing/2014/main" id="{9F375992-F6D7-7AEA-9E71-63E8C1503A34}"/>
              </a:ext>
            </a:extLst>
          </p:cNvPr>
          <p:cNvCxnSpPr>
            <a:cxnSpLocks/>
            <a:stCxn id="12" idx="2"/>
            <a:endCxn id="199" idx="0"/>
          </p:cNvCxnSpPr>
          <p:nvPr/>
        </p:nvCxnSpPr>
        <p:spPr>
          <a:xfrm>
            <a:off x="3191275" y="4596507"/>
            <a:ext cx="51675" cy="29109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Shape 235">
            <a:extLst>
              <a:ext uri="{FF2B5EF4-FFF2-40B4-BE49-F238E27FC236}">
                <a16:creationId xmlns:a16="http://schemas.microsoft.com/office/drawing/2014/main" id="{7BA0771D-5917-4A9F-15D3-2387FF7F6259}"/>
              </a:ext>
            </a:extLst>
          </p:cNvPr>
          <p:cNvSpPr/>
          <p:nvPr/>
        </p:nvSpPr>
        <p:spPr>
          <a:xfrm>
            <a:off x="710600" y="3089596"/>
            <a:ext cx="1389692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7" name="Shape 248">
            <a:extLst>
              <a:ext uri="{FF2B5EF4-FFF2-40B4-BE49-F238E27FC236}">
                <a16:creationId xmlns:a16="http://schemas.microsoft.com/office/drawing/2014/main" id="{25BC36AE-302C-116D-7BD5-AB0708097814}"/>
              </a:ext>
            </a:extLst>
          </p:cNvPr>
          <p:cNvCxnSpPr>
            <a:cxnSpLocks/>
          </p:cNvCxnSpPr>
          <p:nvPr/>
        </p:nvCxnSpPr>
        <p:spPr>
          <a:xfrm flipV="1">
            <a:off x="1485200" y="2652188"/>
            <a:ext cx="1757750" cy="43510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23" name="Shape 223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24" name="Shape 224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25" name="Shape 225"/>
          <p:cNvCxnSpPr>
            <a:stCxn id="223" idx="1"/>
            <a:endCxn id="222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26" name="Shape 226"/>
          <p:cNvCxnSpPr>
            <a:stCxn id="224" idx="1"/>
            <a:endCxn id="223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27" name="Shape 2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28" name="Shape 228"/>
          <p:cNvSpPr/>
          <p:nvPr/>
        </p:nvSpPr>
        <p:spPr>
          <a:xfrm>
            <a:off x="587275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29" name="Shape 229"/>
          <p:cNvSpPr/>
          <p:nvPr/>
        </p:nvSpPr>
        <p:spPr>
          <a:xfrm>
            <a:off x="1770500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30" name="Shape 230"/>
          <p:cNvSpPr/>
          <p:nvPr/>
        </p:nvSpPr>
        <p:spPr>
          <a:xfrm>
            <a:off x="2953725" y="5071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31" name="Shape 231"/>
          <p:cNvCxnSpPr>
            <a:stCxn id="229" idx="1"/>
            <a:endCxn id="228" idx="3"/>
          </p:cNvCxnSpPr>
          <p:nvPr/>
        </p:nvCxnSpPr>
        <p:spPr>
          <a:xfrm rot="10800000">
            <a:off x="1361900" y="5249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32" name="Shape 232"/>
          <p:cNvCxnSpPr>
            <a:stCxn id="230" idx="1"/>
            <a:endCxn id="229" idx="3"/>
          </p:cNvCxnSpPr>
          <p:nvPr/>
        </p:nvCxnSpPr>
        <p:spPr>
          <a:xfrm rot="10800000">
            <a:off x="2545125" y="5249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3" name="Shape 233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149150" y="4179438"/>
            <a:ext cx="2595268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dirty="0"/>
              <a:t> Remote Repository</a:t>
            </a:r>
          </a:p>
        </p:txBody>
      </p:sp>
      <p:sp>
        <p:nvSpPr>
          <p:cNvPr id="235" name="Shape 235"/>
          <p:cNvSpPr/>
          <p:nvPr/>
        </p:nvSpPr>
        <p:spPr>
          <a:xfrm>
            <a:off x="2141746" y="5853625"/>
            <a:ext cx="2408367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236" name="Shape 236"/>
          <p:cNvCxnSpPr>
            <a:cxnSpLocks/>
            <a:stCxn id="235" idx="0"/>
            <a:endCxn id="230" idx="2"/>
          </p:cNvCxnSpPr>
          <p:nvPr/>
        </p:nvCxnSpPr>
        <p:spPr>
          <a:xfrm flipH="1" flipV="1">
            <a:off x="3341025" y="5426800"/>
            <a:ext cx="4905" cy="4268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7" name="Shape 237"/>
          <p:cNvSpPr/>
          <p:nvPr/>
        </p:nvSpPr>
        <p:spPr>
          <a:xfrm>
            <a:off x="2141746" y="3140792"/>
            <a:ext cx="28161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238" name="Shape 238"/>
          <p:cNvCxnSpPr/>
          <p:nvPr/>
        </p:nvCxnSpPr>
        <p:spPr>
          <a:xfrm rot="10800000">
            <a:off x="3464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39" name="Shape 239"/>
          <p:cNvSpPr/>
          <p:nvPr/>
        </p:nvSpPr>
        <p:spPr>
          <a:xfrm>
            <a:off x="3928599" y="1354425"/>
            <a:ext cx="171019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feat/PRJ-777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40" name="Shape 240"/>
          <p:cNvSpPr txBox="1"/>
          <p:nvPr/>
        </p:nvSpPr>
        <p:spPr>
          <a:xfrm>
            <a:off x="5842013" y="2955968"/>
            <a:ext cx="28161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5733413" y="1236383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242" name="Shape 242"/>
          <p:cNvSpPr/>
          <p:nvPr/>
        </p:nvSpPr>
        <p:spPr>
          <a:xfrm>
            <a:off x="4151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43" name="Shape 243"/>
          <p:cNvCxnSpPr>
            <a:cxnSpLocks/>
          </p:cNvCxnSpPr>
          <p:nvPr/>
        </p:nvCxnSpPr>
        <p:spPr>
          <a:xfrm>
            <a:off x="4570550" y="1028625"/>
            <a:ext cx="0" cy="355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4" name="Shape 244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245" name="Shape 245"/>
          <p:cNvCxnSpPr>
            <a:stCxn id="244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6" name="Shape 246"/>
          <p:cNvSpPr txBox="1"/>
          <p:nvPr/>
        </p:nvSpPr>
        <p:spPr>
          <a:xfrm>
            <a:off x="4368550" y="3693650"/>
            <a:ext cx="4775400" cy="97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 b="1"/>
              <a:t>Commit on local repository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sz="1800"/>
              <a:t>$ git commit</a:t>
            </a:r>
          </a:p>
        </p:txBody>
      </p:sp>
      <p:cxnSp>
        <p:nvCxnSpPr>
          <p:cNvPr id="247" name="Shape 247"/>
          <p:cNvCxnSpPr/>
          <p:nvPr/>
        </p:nvCxnSpPr>
        <p:spPr>
          <a:xfrm>
            <a:off x="16050" y="39349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8" name="Shape 248"/>
          <p:cNvCxnSpPr>
            <a:cxnSpLocks/>
            <a:endCxn id="244" idx="0"/>
          </p:cNvCxnSpPr>
          <p:nvPr/>
        </p:nvCxnSpPr>
        <p:spPr>
          <a:xfrm>
            <a:off x="4570550" y="1856967"/>
            <a:ext cx="0" cy="46453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2" name="Shape 235">
            <a:extLst>
              <a:ext uri="{FF2B5EF4-FFF2-40B4-BE49-F238E27FC236}">
                <a16:creationId xmlns:a16="http://schemas.microsoft.com/office/drawing/2014/main" id="{F619D4D0-4678-DFBD-91C6-E2CFA022BCCF}"/>
              </a:ext>
            </a:extLst>
          </p:cNvPr>
          <p:cNvSpPr/>
          <p:nvPr/>
        </p:nvSpPr>
        <p:spPr>
          <a:xfrm>
            <a:off x="2787925" y="4107051"/>
            <a:ext cx="11062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3" name="Shape 248">
            <a:extLst>
              <a:ext uri="{FF2B5EF4-FFF2-40B4-BE49-F238E27FC236}">
                <a16:creationId xmlns:a16="http://schemas.microsoft.com/office/drawing/2014/main" id="{4BD0B368-5620-9560-8AA9-F8528F7D1782}"/>
              </a:ext>
            </a:extLst>
          </p:cNvPr>
          <p:cNvCxnSpPr>
            <a:cxnSpLocks/>
            <a:stCxn id="12" idx="2"/>
            <a:endCxn id="230" idx="0"/>
          </p:cNvCxnSpPr>
          <p:nvPr/>
        </p:nvCxnSpPr>
        <p:spPr>
          <a:xfrm>
            <a:off x="3341025" y="4616451"/>
            <a:ext cx="0" cy="454849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7" name="Shape 235">
            <a:extLst>
              <a:ext uri="{FF2B5EF4-FFF2-40B4-BE49-F238E27FC236}">
                <a16:creationId xmlns:a16="http://schemas.microsoft.com/office/drawing/2014/main" id="{53EE6FEC-3F41-FF8C-0D7C-FAFA258A6252}"/>
              </a:ext>
            </a:extLst>
          </p:cNvPr>
          <p:cNvSpPr/>
          <p:nvPr/>
        </p:nvSpPr>
        <p:spPr>
          <a:xfrm>
            <a:off x="2545100" y="1347567"/>
            <a:ext cx="13065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/>
              <a:t>origin/master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8" name="Shape 248">
            <a:extLst>
              <a:ext uri="{FF2B5EF4-FFF2-40B4-BE49-F238E27FC236}">
                <a16:creationId xmlns:a16="http://schemas.microsoft.com/office/drawing/2014/main" id="{2143BE47-64FB-FC65-CC27-91EFE21B38A8}"/>
              </a:ext>
            </a:extLst>
          </p:cNvPr>
          <p:cNvCxnSpPr>
            <a:cxnSpLocks/>
          </p:cNvCxnSpPr>
          <p:nvPr/>
        </p:nvCxnSpPr>
        <p:spPr>
          <a:xfrm flipH="1">
            <a:off x="3298550" y="1863825"/>
            <a:ext cx="1" cy="4479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sp>
        <p:nvSpPr>
          <p:cNvPr id="255" name="Shape 255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56" name="Shape 256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57" name="Shape 257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58" name="Shape 258"/>
          <p:cNvCxnSpPr>
            <a:stCxn id="256" idx="1"/>
            <a:endCxn id="255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59" name="Shape 259"/>
          <p:cNvCxnSpPr>
            <a:stCxn id="257" idx="1"/>
            <a:endCxn id="256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0" name="Shape 2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61" name="Shape 261"/>
          <p:cNvSpPr/>
          <p:nvPr/>
        </p:nvSpPr>
        <p:spPr>
          <a:xfrm>
            <a:off x="452150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62" name="Shape 262"/>
          <p:cNvSpPr/>
          <p:nvPr/>
        </p:nvSpPr>
        <p:spPr>
          <a:xfrm>
            <a:off x="1635375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63" name="Shape 263"/>
          <p:cNvSpPr/>
          <p:nvPr/>
        </p:nvSpPr>
        <p:spPr>
          <a:xfrm>
            <a:off x="2818600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64" name="Shape 264"/>
          <p:cNvCxnSpPr>
            <a:stCxn id="262" idx="1"/>
            <a:endCxn id="261" idx="3"/>
          </p:cNvCxnSpPr>
          <p:nvPr/>
        </p:nvCxnSpPr>
        <p:spPr>
          <a:xfrm rot="10800000">
            <a:off x="1226775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65" name="Shape 265"/>
          <p:cNvCxnSpPr>
            <a:stCxn id="263" idx="1"/>
            <a:endCxn id="262" idx="3"/>
          </p:cNvCxnSpPr>
          <p:nvPr/>
        </p:nvCxnSpPr>
        <p:spPr>
          <a:xfrm rot="10800000">
            <a:off x="2410000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66" name="Shape 266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87450" y="4203025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268" name="Shape 268"/>
          <p:cNvSpPr/>
          <p:nvPr/>
        </p:nvSpPr>
        <p:spPr>
          <a:xfrm>
            <a:off x="3957425" y="58177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sp>
        <p:nvSpPr>
          <p:cNvPr id="269" name="Shape 269"/>
          <p:cNvSpPr/>
          <p:nvPr/>
        </p:nvSpPr>
        <p:spPr>
          <a:xfrm>
            <a:off x="2514601" y="310390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270" name="Shape 270"/>
          <p:cNvCxnSpPr/>
          <p:nvPr/>
        </p:nvCxnSpPr>
        <p:spPr>
          <a:xfrm rot="10800000">
            <a:off x="3464350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1" name="Shape 271"/>
          <p:cNvSpPr/>
          <p:nvPr/>
        </p:nvSpPr>
        <p:spPr>
          <a:xfrm>
            <a:off x="3941717" y="1372787"/>
            <a:ext cx="1255976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272" name="Shape 272"/>
          <p:cNvCxnSpPr>
            <a:cxnSpLocks/>
            <a:stCxn id="271" idx="2"/>
            <a:endCxn id="273" idx="0"/>
          </p:cNvCxnSpPr>
          <p:nvPr/>
        </p:nvCxnSpPr>
        <p:spPr>
          <a:xfrm>
            <a:off x="4569705" y="1882187"/>
            <a:ext cx="845" cy="4393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4" name="Shape 274"/>
          <p:cNvSpPr txBox="1"/>
          <p:nvPr/>
        </p:nvSpPr>
        <p:spPr>
          <a:xfrm>
            <a:off x="0" y="2982075"/>
            <a:ext cx="189382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5795600" y="125482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276" name="Shape 276"/>
          <p:cNvSpPr/>
          <p:nvPr/>
        </p:nvSpPr>
        <p:spPr>
          <a:xfrm>
            <a:off x="4151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277" name="Shape 277"/>
          <p:cNvCxnSpPr>
            <a:cxnSpLocks/>
            <a:stCxn id="276" idx="2"/>
            <a:endCxn id="271" idx="0"/>
          </p:cNvCxnSpPr>
          <p:nvPr/>
        </p:nvCxnSpPr>
        <p:spPr>
          <a:xfrm flipH="1">
            <a:off x="4569705" y="1081525"/>
            <a:ext cx="845" cy="29126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3" name="Shape 273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278" name="Shape 278"/>
          <p:cNvCxnSpPr>
            <a:stCxn id="273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79" name="Shape 279"/>
          <p:cNvSpPr/>
          <p:nvPr/>
        </p:nvSpPr>
        <p:spPr>
          <a:xfrm>
            <a:off x="4001825" y="50353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280" name="Shape 280"/>
          <p:cNvCxnSpPr>
            <a:stCxn id="279" idx="1"/>
            <a:endCxn id="263" idx="3"/>
          </p:cNvCxnSpPr>
          <p:nvPr/>
        </p:nvCxnSpPr>
        <p:spPr>
          <a:xfrm rot="10800000">
            <a:off x="3593225" y="52130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81" name="Shape 281"/>
          <p:cNvSpPr txBox="1"/>
          <p:nvPr/>
        </p:nvSpPr>
        <p:spPr>
          <a:xfrm>
            <a:off x="5002250" y="3995750"/>
            <a:ext cx="4141800" cy="1962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 b="1" dirty="0"/>
              <a:t>Merge another Commit to remote repository from another feature branch</a:t>
            </a:r>
          </a:p>
        </p:txBody>
      </p:sp>
      <p:cxnSp>
        <p:nvCxnSpPr>
          <p:cNvPr id="282" name="Shape 282"/>
          <p:cNvCxnSpPr/>
          <p:nvPr/>
        </p:nvCxnSpPr>
        <p:spPr>
          <a:xfrm>
            <a:off x="0" y="3916750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3" name="Shape 283"/>
          <p:cNvCxnSpPr>
            <a:stCxn id="268" idx="0"/>
            <a:endCxn id="279" idx="2"/>
          </p:cNvCxnSpPr>
          <p:nvPr/>
        </p:nvCxnSpPr>
        <p:spPr>
          <a:xfrm rot="10800000">
            <a:off x="4389125" y="53908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6" name="Shape 239">
            <a:extLst>
              <a:ext uri="{FF2B5EF4-FFF2-40B4-BE49-F238E27FC236}">
                <a16:creationId xmlns:a16="http://schemas.microsoft.com/office/drawing/2014/main" id="{FE00801A-5E4A-45F5-FE23-B67D41036E41}"/>
              </a:ext>
            </a:extLst>
          </p:cNvPr>
          <p:cNvSpPr/>
          <p:nvPr/>
        </p:nvSpPr>
        <p:spPr>
          <a:xfrm>
            <a:off x="2492998" y="1362875"/>
            <a:ext cx="1255976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algn="ctr"/>
            <a:br>
              <a:rPr lang="en-US" dirty="0"/>
            </a:br>
            <a:r>
              <a:rPr lang="en-US" dirty="0" err="1"/>
              <a:t>orig</a:t>
            </a:r>
            <a:r>
              <a:rPr lang="en-US" dirty="0"/>
              <a:t>/master</a:t>
            </a:r>
          </a:p>
          <a:p>
            <a:pPr lvl="0" algn="ctr" rtl="0">
              <a:spcBef>
                <a:spcPts val="0"/>
              </a:spcBef>
              <a:buNone/>
            </a:pPr>
            <a:endParaRPr lang="en-US" dirty="0"/>
          </a:p>
        </p:txBody>
      </p:sp>
      <p:cxnSp>
        <p:nvCxnSpPr>
          <p:cNvPr id="17" name="Shape 272">
            <a:extLst>
              <a:ext uri="{FF2B5EF4-FFF2-40B4-BE49-F238E27FC236}">
                <a16:creationId xmlns:a16="http://schemas.microsoft.com/office/drawing/2014/main" id="{F2F32417-F181-1D16-E9AD-474EA551647B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3464349" y="1921984"/>
            <a:ext cx="1" cy="39951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1" name="Shape 272">
            <a:extLst>
              <a:ext uri="{FF2B5EF4-FFF2-40B4-BE49-F238E27FC236}">
                <a16:creationId xmlns:a16="http://schemas.microsoft.com/office/drawing/2014/main" id="{203D1E95-9B5A-D19C-C897-62955FE718BD}"/>
              </a:ext>
            </a:extLst>
          </p:cNvPr>
          <p:cNvCxnSpPr>
            <a:cxnSpLocks/>
          </p:cNvCxnSpPr>
          <p:nvPr/>
        </p:nvCxnSpPr>
        <p:spPr>
          <a:xfrm>
            <a:off x="3187208" y="5378387"/>
            <a:ext cx="845" cy="43931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" name="Shape 269">
            <a:extLst>
              <a:ext uri="{FF2B5EF4-FFF2-40B4-BE49-F238E27FC236}">
                <a16:creationId xmlns:a16="http://schemas.microsoft.com/office/drawing/2014/main" id="{8E228DF1-D7D6-5D9F-FB80-2532A8B4916D}"/>
              </a:ext>
            </a:extLst>
          </p:cNvPr>
          <p:cNvSpPr/>
          <p:nvPr/>
        </p:nvSpPr>
        <p:spPr>
          <a:xfrm>
            <a:off x="1788575" y="580925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sp>
        <p:nvSpPr>
          <p:cNvPr id="290" name="Shape 290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91" name="Shape 291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92" name="Shape 292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93" name="Shape 293"/>
          <p:cNvCxnSpPr>
            <a:stCxn id="291" idx="1"/>
            <a:endCxn id="290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294" name="Shape 294"/>
          <p:cNvCxnSpPr>
            <a:stCxn id="292" idx="1"/>
            <a:endCxn id="291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95" name="Shape 2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296" name="Shape 296"/>
          <p:cNvSpPr/>
          <p:nvPr/>
        </p:nvSpPr>
        <p:spPr>
          <a:xfrm>
            <a:off x="461225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297" name="Shape 297"/>
          <p:cNvSpPr/>
          <p:nvPr/>
        </p:nvSpPr>
        <p:spPr>
          <a:xfrm>
            <a:off x="1644450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298" name="Shape 298"/>
          <p:cNvSpPr/>
          <p:nvPr/>
        </p:nvSpPr>
        <p:spPr>
          <a:xfrm>
            <a:off x="2827675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299" name="Shape 299"/>
          <p:cNvCxnSpPr>
            <a:stCxn id="297" idx="1"/>
            <a:endCxn id="296" idx="3"/>
          </p:cNvCxnSpPr>
          <p:nvPr/>
        </p:nvCxnSpPr>
        <p:spPr>
          <a:xfrm rot="10800000">
            <a:off x="1235850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00" name="Shape 300"/>
          <p:cNvCxnSpPr>
            <a:stCxn id="298" idx="1"/>
            <a:endCxn id="297" idx="3"/>
          </p:cNvCxnSpPr>
          <p:nvPr/>
        </p:nvCxnSpPr>
        <p:spPr>
          <a:xfrm rot="10800000">
            <a:off x="2419075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1" name="Shape 301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23100" y="46571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303" name="Shape 303"/>
          <p:cNvSpPr/>
          <p:nvPr/>
        </p:nvSpPr>
        <p:spPr>
          <a:xfrm>
            <a:off x="3966500" y="62000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304" name="Shape 304"/>
          <p:cNvCxnSpPr>
            <a:stCxn id="303" idx="0"/>
            <a:endCxn id="305" idx="2"/>
          </p:cNvCxnSpPr>
          <p:nvPr/>
        </p:nvCxnSpPr>
        <p:spPr>
          <a:xfrm rot="10800000">
            <a:off x="4398200" y="57731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6" name="Shape 306"/>
          <p:cNvSpPr/>
          <p:nvPr/>
        </p:nvSpPr>
        <p:spPr>
          <a:xfrm>
            <a:off x="4960100" y="38141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origin/master</a:t>
            </a:r>
          </a:p>
        </p:txBody>
      </p:sp>
      <p:cxnSp>
        <p:nvCxnSpPr>
          <p:cNvPr id="307" name="Shape 307"/>
          <p:cNvCxnSpPr/>
          <p:nvPr/>
        </p:nvCxnSpPr>
        <p:spPr>
          <a:xfrm rot="10800000">
            <a:off x="5593100" y="33819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8" name="Shape 308"/>
          <p:cNvSpPr/>
          <p:nvPr/>
        </p:nvSpPr>
        <p:spPr>
          <a:xfrm>
            <a:off x="3851650" y="1354425"/>
            <a:ext cx="14823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309" name="Shape 309"/>
          <p:cNvCxnSpPr>
            <a:cxnSpLocks/>
            <a:stCxn id="308" idx="2"/>
            <a:endCxn id="310" idx="0"/>
          </p:cNvCxnSpPr>
          <p:nvPr/>
        </p:nvCxnSpPr>
        <p:spPr>
          <a:xfrm flipH="1">
            <a:off x="4570550" y="1863825"/>
            <a:ext cx="22275" cy="45767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1" name="Shape 311"/>
          <p:cNvSpPr txBox="1"/>
          <p:nvPr/>
        </p:nvSpPr>
        <p:spPr>
          <a:xfrm>
            <a:off x="1826993" y="3731151"/>
            <a:ext cx="27969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5753100" y="1254825"/>
            <a:ext cx="30333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313" name="Shape 313"/>
          <p:cNvSpPr/>
          <p:nvPr/>
        </p:nvSpPr>
        <p:spPr>
          <a:xfrm>
            <a:off x="4151450" y="72602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14" name="Shape 314"/>
          <p:cNvCxnSpPr>
            <a:cxnSpLocks/>
            <a:endCxn id="308" idx="0"/>
          </p:cNvCxnSpPr>
          <p:nvPr/>
        </p:nvCxnSpPr>
        <p:spPr>
          <a:xfrm>
            <a:off x="4570550" y="1028625"/>
            <a:ext cx="22275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0" name="Shape 310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315" name="Shape 315"/>
          <p:cNvCxnSpPr>
            <a:stCxn id="310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05" name="Shape 305"/>
          <p:cNvSpPr/>
          <p:nvPr/>
        </p:nvSpPr>
        <p:spPr>
          <a:xfrm>
            <a:off x="4010900" y="54176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16" name="Shape 316"/>
          <p:cNvCxnSpPr>
            <a:stCxn id="305" idx="1"/>
            <a:endCxn id="298" idx="3"/>
          </p:cNvCxnSpPr>
          <p:nvPr/>
        </p:nvCxnSpPr>
        <p:spPr>
          <a:xfrm rot="10800000">
            <a:off x="3602300" y="55953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17" name="Shape 317"/>
          <p:cNvSpPr txBox="1"/>
          <p:nvPr/>
        </p:nvSpPr>
        <p:spPr>
          <a:xfrm>
            <a:off x="6226100" y="2195275"/>
            <a:ext cx="2796900" cy="4505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lvl="0" indent="-381000" rtl="0">
              <a:spcBef>
                <a:spcPts val="0"/>
              </a:spcBef>
              <a:buClr>
                <a:srgbClr val="FF0000"/>
              </a:buClr>
              <a:buSzPct val="100000"/>
              <a:buChar char="●"/>
            </a:pPr>
            <a:r>
              <a:rPr lang="en-US" sz="2400" b="1"/>
              <a:t>Fetch/Pull the Commit from remote repository to Remote Tracking Branch</a:t>
            </a:r>
          </a:p>
        </p:txBody>
      </p:sp>
      <p:sp>
        <p:nvSpPr>
          <p:cNvPr id="318" name="Shape 318"/>
          <p:cNvSpPr/>
          <p:nvPr/>
        </p:nvSpPr>
        <p:spPr>
          <a:xfrm>
            <a:off x="5205800" y="30264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19" name="Shape 319"/>
          <p:cNvCxnSpPr>
            <a:stCxn id="318" idx="1"/>
            <a:endCxn id="292" idx="2"/>
          </p:cNvCxnSpPr>
          <p:nvPr/>
        </p:nvCxnSpPr>
        <p:spPr>
          <a:xfrm rot="10800000">
            <a:off x="3464300" y="2677050"/>
            <a:ext cx="1741500" cy="52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20" name="Shape 320"/>
          <p:cNvSpPr/>
          <p:nvPr/>
        </p:nvSpPr>
        <p:spPr>
          <a:xfrm>
            <a:off x="4991900" y="4497050"/>
            <a:ext cx="988500" cy="20562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321" name="Shape 321"/>
          <p:cNvCxnSpPr/>
          <p:nvPr/>
        </p:nvCxnSpPr>
        <p:spPr>
          <a:xfrm>
            <a:off x="0" y="44328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Shape 269">
            <a:extLst>
              <a:ext uri="{FF2B5EF4-FFF2-40B4-BE49-F238E27FC236}">
                <a16:creationId xmlns:a16="http://schemas.microsoft.com/office/drawing/2014/main" id="{B034F0C2-27BA-9B89-3754-A3FD53C727BB}"/>
              </a:ext>
            </a:extLst>
          </p:cNvPr>
          <p:cNvSpPr/>
          <p:nvPr/>
        </p:nvSpPr>
        <p:spPr>
          <a:xfrm>
            <a:off x="1826993" y="6164967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sp>
        <p:nvSpPr>
          <p:cNvPr id="11" name="Shape 269">
            <a:extLst>
              <a:ext uri="{FF2B5EF4-FFF2-40B4-BE49-F238E27FC236}">
                <a16:creationId xmlns:a16="http://schemas.microsoft.com/office/drawing/2014/main" id="{E4695B24-9243-1647-67C8-AE19325B91FE}"/>
              </a:ext>
            </a:extLst>
          </p:cNvPr>
          <p:cNvSpPr/>
          <p:nvPr/>
        </p:nvSpPr>
        <p:spPr>
          <a:xfrm>
            <a:off x="2194680" y="3100676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12" name="Shape 304">
            <a:extLst>
              <a:ext uri="{FF2B5EF4-FFF2-40B4-BE49-F238E27FC236}">
                <a16:creationId xmlns:a16="http://schemas.microsoft.com/office/drawing/2014/main" id="{DAB89635-5CB3-2A45-5913-C2D3E95A5239}"/>
              </a:ext>
            </a:extLst>
          </p:cNvPr>
          <p:cNvCxnSpPr/>
          <p:nvPr/>
        </p:nvCxnSpPr>
        <p:spPr>
          <a:xfrm rot="10800000">
            <a:off x="3184316" y="5738067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" name="Shape 304">
            <a:extLst>
              <a:ext uri="{FF2B5EF4-FFF2-40B4-BE49-F238E27FC236}">
                <a16:creationId xmlns:a16="http://schemas.microsoft.com/office/drawing/2014/main" id="{5F4D6748-CFD8-6B3B-810D-5513DFA3C495}"/>
              </a:ext>
            </a:extLst>
          </p:cNvPr>
          <p:cNvCxnSpPr/>
          <p:nvPr/>
        </p:nvCxnSpPr>
        <p:spPr>
          <a:xfrm rot="10800000">
            <a:off x="3425550" y="2673776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327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23</a:t>
            </a:fld>
            <a:endParaRPr lang="en-US"/>
          </a:p>
        </p:txBody>
      </p:sp>
      <p:sp>
        <p:nvSpPr>
          <p:cNvPr id="328" name="Shape 328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29" name="Shape 329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30" name="Shape 330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31" name="Shape 331"/>
          <p:cNvCxnSpPr>
            <a:stCxn id="329" idx="1"/>
            <a:endCxn id="328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2" name="Shape 332"/>
          <p:cNvCxnSpPr>
            <a:stCxn id="330" idx="1"/>
            <a:endCxn id="329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3" name="Shape 3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 dirty="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origin/master</a:t>
            </a:r>
            <a:endParaRPr lang="en-US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4" name="Shape 334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35" name="Shape 335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36" name="Shape 336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37" name="Shape 337"/>
          <p:cNvCxnSpPr>
            <a:stCxn id="335" idx="1"/>
            <a:endCxn id="334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38" name="Shape 338"/>
          <p:cNvCxnSpPr>
            <a:stCxn id="336" idx="1"/>
            <a:endCxn id="335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39" name="Shape 339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341" name="Shape 341"/>
          <p:cNvSpPr/>
          <p:nvPr/>
        </p:nvSpPr>
        <p:spPr>
          <a:xfrm>
            <a:off x="3978425" y="62724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342" name="Shape 342"/>
          <p:cNvCxnSpPr>
            <a:stCxn id="341" idx="0"/>
            <a:endCxn id="343" idx="2"/>
          </p:cNvCxnSpPr>
          <p:nvPr/>
        </p:nvCxnSpPr>
        <p:spPr>
          <a:xfrm rot="10800000">
            <a:off x="4410125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4" name="Shape 344"/>
          <p:cNvSpPr/>
          <p:nvPr/>
        </p:nvSpPr>
        <p:spPr>
          <a:xfrm>
            <a:off x="4960100" y="38141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origin/master</a:t>
            </a:r>
          </a:p>
        </p:txBody>
      </p:sp>
      <p:cxnSp>
        <p:nvCxnSpPr>
          <p:cNvPr id="345" name="Shape 345"/>
          <p:cNvCxnSpPr/>
          <p:nvPr/>
        </p:nvCxnSpPr>
        <p:spPr>
          <a:xfrm rot="10800000">
            <a:off x="5593100" y="33819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6" name="Shape 346"/>
          <p:cNvSpPr/>
          <p:nvPr/>
        </p:nvSpPr>
        <p:spPr>
          <a:xfrm>
            <a:off x="4862800" y="1557675"/>
            <a:ext cx="14618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347" name="Shape 347"/>
          <p:cNvCxnSpPr>
            <a:cxnSpLocks/>
            <a:stCxn id="346" idx="2"/>
            <a:endCxn id="348" idx="0"/>
          </p:cNvCxnSpPr>
          <p:nvPr/>
        </p:nvCxnSpPr>
        <p:spPr>
          <a:xfrm flipH="1">
            <a:off x="5593100" y="2067075"/>
            <a:ext cx="600" cy="959325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9" name="Shape 349"/>
          <p:cNvSpPr txBox="1"/>
          <p:nvPr/>
        </p:nvSpPr>
        <p:spPr>
          <a:xfrm>
            <a:off x="2000525" y="4001149"/>
            <a:ext cx="279690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6502050" y="1286667"/>
            <a:ext cx="201325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351" name="Shape 351"/>
          <p:cNvSpPr/>
          <p:nvPr/>
        </p:nvSpPr>
        <p:spPr>
          <a:xfrm>
            <a:off x="5174000" y="929275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52" name="Shape 352"/>
          <p:cNvCxnSpPr>
            <a:cxnSpLocks/>
            <a:endCxn id="346" idx="0"/>
          </p:cNvCxnSpPr>
          <p:nvPr/>
        </p:nvCxnSpPr>
        <p:spPr>
          <a:xfrm>
            <a:off x="5593100" y="1231875"/>
            <a:ext cx="60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3" name="Shape 353"/>
          <p:cNvSpPr/>
          <p:nvPr/>
        </p:nvSpPr>
        <p:spPr>
          <a:xfrm>
            <a:off x="41832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6df01</a:t>
            </a:r>
          </a:p>
        </p:txBody>
      </p:sp>
      <p:cxnSp>
        <p:nvCxnSpPr>
          <p:cNvPr id="354" name="Shape 354"/>
          <p:cNvCxnSpPr>
            <a:stCxn id="353" idx="1"/>
          </p:cNvCxnSpPr>
          <p:nvPr/>
        </p:nvCxnSpPr>
        <p:spPr>
          <a:xfrm rot="10800000">
            <a:off x="3851750" y="2499250"/>
            <a:ext cx="3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43" name="Shape 343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55" name="Shape 355"/>
          <p:cNvCxnSpPr>
            <a:stCxn id="343" idx="1"/>
            <a:endCxn id="336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56" name="Shape 356"/>
          <p:cNvSpPr txBox="1"/>
          <p:nvPr/>
        </p:nvSpPr>
        <p:spPr>
          <a:xfrm>
            <a:off x="6226100" y="2067075"/>
            <a:ext cx="2796900" cy="281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810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$ git rebase origin/master</a:t>
            </a:r>
            <a:b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First, rewinding head to replay your work on top of it...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348" name="Shape 348"/>
          <p:cNvSpPr/>
          <p:nvPr/>
        </p:nvSpPr>
        <p:spPr>
          <a:xfrm>
            <a:off x="5205800" y="30264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57" name="Shape 357"/>
          <p:cNvCxnSpPr>
            <a:stCxn id="348" idx="1"/>
            <a:endCxn id="330" idx="2"/>
          </p:cNvCxnSpPr>
          <p:nvPr/>
        </p:nvCxnSpPr>
        <p:spPr>
          <a:xfrm rot="10800000">
            <a:off x="3464300" y="2677050"/>
            <a:ext cx="1741500" cy="52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58" name="Shape 358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59" name="Shape 359"/>
          <p:cNvSpPr txBox="1"/>
          <p:nvPr/>
        </p:nvSpPr>
        <p:spPr>
          <a:xfrm>
            <a:off x="7901950" y="2537625"/>
            <a:ext cx="7336500" cy="855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" name="Shape 269">
            <a:extLst>
              <a:ext uri="{FF2B5EF4-FFF2-40B4-BE49-F238E27FC236}">
                <a16:creationId xmlns:a16="http://schemas.microsoft.com/office/drawing/2014/main" id="{E9820D03-692E-C87D-F049-DFF45A95611E}"/>
              </a:ext>
            </a:extLst>
          </p:cNvPr>
          <p:cNvSpPr/>
          <p:nvPr/>
        </p:nvSpPr>
        <p:spPr>
          <a:xfrm>
            <a:off x="2418609" y="311495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7" name="Shape 345">
            <a:extLst>
              <a:ext uri="{FF2B5EF4-FFF2-40B4-BE49-F238E27FC236}">
                <a16:creationId xmlns:a16="http://schemas.microsoft.com/office/drawing/2014/main" id="{48C3A37E-0984-04ED-1C9D-D5173E0052DA}"/>
              </a:ext>
            </a:extLst>
          </p:cNvPr>
          <p:cNvCxnSpPr/>
          <p:nvPr/>
        </p:nvCxnSpPr>
        <p:spPr>
          <a:xfrm rot="10800000">
            <a:off x="3452467" y="26770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Shape 269">
            <a:extLst>
              <a:ext uri="{FF2B5EF4-FFF2-40B4-BE49-F238E27FC236}">
                <a16:creationId xmlns:a16="http://schemas.microsoft.com/office/drawing/2014/main" id="{0A894F88-E942-D7CF-F866-C84C554048BC}"/>
              </a:ext>
            </a:extLst>
          </p:cNvPr>
          <p:cNvSpPr/>
          <p:nvPr/>
        </p:nvSpPr>
        <p:spPr>
          <a:xfrm>
            <a:off x="1811631" y="615143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9" name="Shape 342">
            <a:extLst>
              <a:ext uri="{FF2B5EF4-FFF2-40B4-BE49-F238E27FC236}">
                <a16:creationId xmlns:a16="http://schemas.microsoft.com/office/drawing/2014/main" id="{2FDB4CF3-60E7-7B12-0172-9779E049F986}"/>
              </a:ext>
            </a:extLst>
          </p:cNvPr>
          <p:cNvCxnSpPr>
            <a:cxnSpLocks/>
          </p:cNvCxnSpPr>
          <p:nvPr/>
        </p:nvCxnSpPr>
        <p:spPr>
          <a:xfrm flipV="1">
            <a:off x="3135308" y="5845500"/>
            <a:ext cx="0" cy="31946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Shape 365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24</a:t>
            </a:fld>
            <a:endParaRPr lang="en-US"/>
          </a:p>
        </p:txBody>
      </p:sp>
      <p:sp>
        <p:nvSpPr>
          <p:cNvPr id="366" name="Shape 366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67" name="Shape 367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68" name="Shape 368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69" name="Shape 369"/>
          <p:cNvCxnSpPr>
            <a:stCxn id="367" idx="1"/>
            <a:endCxn id="366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0" name="Shape 370"/>
          <p:cNvCxnSpPr>
            <a:stCxn id="368" idx="1"/>
            <a:endCxn id="367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71" name="Shape 3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372" name="Shape 372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373" name="Shape 373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374" name="Shape 374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375" name="Shape 375"/>
          <p:cNvCxnSpPr>
            <a:stCxn id="373" idx="1"/>
            <a:endCxn id="372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76" name="Shape 376"/>
          <p:cNvCxnSpPr>
            <a:stCxn id="374" idx="1"/>
            <a:endCxn id="373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77" name="Shape 377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379" name="Shape 379"/>
          <p:cNvSpPr/>
          <p:nvPr/>
        </p:nvSpPr>
        <p:spPr>
          <a:xfrm>
            <a:off x="3978425" y="6272400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380" name="Shape 380"/>
          <p:cNvCxnSpPr>
            <a:stCxn id="379" idx="0"/>
            <a:endCxn id="381" idx="2"/>
          </p:cNvCxnSpPr>
          <p:nvPr/>
        </p:nvCxnSpPr>
        <p:spPr>
          <a:xfrm rot="10800000">
            <a:off x="4410125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2" name="Shape 382"/>
          <p:cNvSpPr/>
          <p:nvPr/>
        </p:nvSpPr>
        <p:spPr>
          <a:xfrm>
            <a:off x="4958750" y="3107425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origin/master</a:t>
            </a:r>
          </a:p>
        </p:txBody>
      </p:sp>
      <p:cxnSp>
        <p:nvCxnSpPr>
          <p:cNvPr id="383" name="Shape 383"/>
          <p:cNvCxnSpPr>
            <a:stCxn id="382" idx="0"/>
            <a:endCxn id="384" idx="2"/>
          </p:cNvCxnSpPr>
          <p:nvPr/>
        </p:nvCxnSpPr>
        <p:spPr>
          <a:xfrm rot="10800000">
            <a:off x="5591750" y="2647525"/>
            <a:ext cx="0" cy="459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5" name="Shape 385"/>
          <p:cNvSpPr/>
          <p:nvPr/>
        </p:nvSpPr>
        <p:spPr>
          <a:xfrm>
            <a:off x="6060183" y="1443697"/>
            <a:ext cx="1227725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386" name="Shape 386"/>
          <p:cNvCxnSpPr>
            <a:cxnSpLocks/>
            <a:endCxn id="387" idx="0"/>
          </p:cNvCxnSpPr>
          <p:nvPr/>
        </p:nvCxnSpPr>
        <p:spPr>
          <a:xfrm>
            <a:off x="6775075" y="1919613"/>
            <a:ext cx="0" cy="3724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8" name="Shape 388"/>
          <p:cNvSpPr txBox="1"/>
          <p:nvPr/>
        </p:nvSpPr>
        <p:spPr>
          <a:xfrm>
            <a:off x="352162" y="3084475"/>
            <a:ext cx="2055936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389" name="Shape 389"/>
          <p:cNvSpPr txBox="1"/>
          <p:nvPr/>
        </p:nvSpPr>
        <p:spPr>
          <a:xfrm>
            <a:off x="7619999" y="1378925"/>
            <a:ext cx="152387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390" name="Shape 390"/>
          <p:cNvSpPr/>
          <p:nvPr/>
        </p:nvSpPr>
        <p:spPr>
          <a:xfrm>
            <a:off x="6254945" y="833589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391" name="Shape 391"/>
          <p:cNvCxnSpPr>
            <a:cxnSpLocks/>
            <a:stCxn id="390" idx="2"/>
            <a:endCxn id="385" idx="0"/>
          </p:cNvCxnSpPr>
          <p:nvPr/>
        </p:nvCxnSpPr>
        <p:spPr>
          <a:xfrm>
            <a:off x="6674045" y="1189089"/>
            <a:ext cx="1" cy="25460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2" name="Shape 392"/>
          <p:cNvSpPr/>
          <p:nvPr/>
        </p:nvSpPr>
        <p:spPr>
          <a:xfrm>
            <a:off x="4063500" y="1634625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b="1">
                <a:solidFill>
                  <a:srgbClr val="666666"/>
                </a:solidFill>
              </a:rPr>
              <a:t>6df0</a:t>
            </a:r>
            <a:r>
              <a:rPr lang="en-US" b="1">
                <a:solidFill>
                  <a:srgbClr val="CCCCCC"/>
                </a:solidFill>
              </a:rPr>
              <a:t>1</a:t>
            </a:r>
          </a:p>
        </p:txBody>
      </p:sp>
      <p:cxnSp>
        <p:nvCxnSpPr>
          <p:cNvPr id="393" name="Shape 393"/>
          <p:cNvCxnSpPr>
            <a:stCxn id="392" idx="1"/>
          </p:cNvCxnSpPr>
          <p:nvPr/>
        </p:nvCxnSpPr>
        <p:spPr>
          <a:xfrm flipH="1">
            <a:off x="3432600" y="1812375"/>
            <a:ext cx="630900" cy="50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81" name="Shape 381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94" name="Shape 394"/>
          <p:cNvCxnSpPr>
            <a:stCxn id="381" idx="1"/>
            <a:endCxn id="374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395" name="Shape 395"/>
          <p:cNvSpPr txBox="1"/>
          <p:nvPr/>
        </p:nvSpPr>
        <p:spPr>
          <a:xfrm>
            <a:off x="6366350" y="2604229"/>
            <a:ext cx="2889300" cy="4065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810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$ git rebase origin/master</a:t>
            </a:r>
            <a:b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...to replay your work on top of it…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Applying: diff/patch of commit 6dfo on top of origin/master to create commit 3f9f9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384" name="Shape 384"/>
          <p:cNvSpPr/>
          <p:nvPr/>
        </p:nvSpPr>
        <p:spPr>
          <a:xfrm>
            <a:off x="5204450" y="2292038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396" name="Shape 396"/>
          <p:cNvCxnSpPr>
            <a:stCxn id="384" idx="1"/>
            <a:endCxn id="368" idx="3"/>
          </p:cNvCxnSpPr>
          <p:nvPr/>
        </p:nvCxnSpPr>
        <p:spPr>
          <a:xfrm flipH="1">
            <a:off x="3851750" y="2469788"/>
            <a:ext cx="1352700" cy="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397" name="Shape 397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87" name="Shape 387"/>
          <p:cNvSpPr/>
          <p:nvPr/>
        </p:nvSpPr>
        <p:spPr>
          <a:xfrm>
            <a:off x="6387775" y="229205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398" name="Shape 398"/>
          <p:cNvCxnSpPr>
            <a:stCxn id="387" idx="1"/>
            <a:endCxn id="384" idx="3"/>
          </p:cNvCxnSpPr>
          <p:nvPr/>
        </p:nvCxnSpPr>
        <p:spPr>
          <a:xfrm rot="10800000">
            <a:off x="5979175" y="246980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4" name="Shape 269">
            <a:extLst>
              <a:ext uri="{FF2B5EF4-FFF2-40B4-BE49-F238E27FC236}">
                <a16:creationId xmlns:a16="http://schemas.microsoft.com/office/drawing/2014/main" id="{5F36A1DE-9CD7-8B9D-0B37-1F361757147C}"/>
              </a:ext>
            </a:extLst>
          </p:cNvPr>
          <p:cNvSpPr/>
          <p:nvPr/>
        </p:nvSpPr>
        <p:spPr>
          <a:xfrm>
            <a:off x="1844780" y="6272400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15" name="Shape 380">
            <a:extLst>
              <a:ext uri="{FF2B5EF4-FFF2-40B4-BE49-F238E27FC236}">
                <a16:creationId xmlns:a16="http://schemas.microsoft.com/office/drawing/2014/main" id="{038499B2-AF21-EAD7-9016-48266F0D7CD2}"/>
              </a:ext>
            </a:extLst>
          </p:cNvPr>
          <p:cNvCxnSpPr/>
          <p:nvPr/>
        </p:nvCxnSpPr>
        <p:spPr>
          <a:xfrm rot="10800000">
            <a:off x="3221637" y="58455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6" name="Shape 380">
            <a:extLst>
              <a:ext uri="{FF2B5EF4-FFF2-40B4-BE49-F238E27FC236}">
                <a16:creationId xmlns:a16="http://schemas.microsoft.com/office/drawing/2014/main" id="{7443A553-4EC3-CB9D-3E3B-2309AEECAA4E}"/>
              </a:ext>
            </a:extLst>
          </p:cNvPr>
          <p:cNvCxnSpPr/>
          <p:nvPr/>
        </p:nvCxnSpPr>
        <p:spPr>
          <a:xfrm rot="10800000">
            <a:off x="3432600" y="2676937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0" name="Shape 269">
            <a:extLst>
              <a:ext uri="{FF2B5EF4-FFF2-40B4-BE49-F238E27FC236}">
                <a16:creationId xmlns:a16="http://schemas.microsoft.com/office/drawing/2014/main" id="{77146BD0-A41F-ED51-FB9C-12D1961F9D9F}"/>
              </a:ext>
            </a:extLst>
          </p:cNvPr>
          <p:cNvSpPr/>
          <p:nvPr/>
        </p:nvSpPr>
        <p:spPr>
          <a:xfrm>
            <a:off x="2418609" y="3114954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25</a:t>
            </a:fld>
            <a:endParaRPr lang="en-US"/>
          </a:p>
        </p:txBody>
      </p:sp>
      <p:sp>
        <p:nvSpPr>
          <p:cNvPr id="405" name="Shape 405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06" name="Shape 406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07" name="Shape 407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08" name="Shape 408"/>
          <p:cNvCxnSpPr>
            <a:stCxn id="406" idx="1"/>
            <a:endCxn id="405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09" name="Shape 409"/>
          <p:cNvCxnSpPr>
            <a:stCxn id="407" idx="1"/>
            <a:endCxn id="406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0" name="Shape 4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411" name="Shape 411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12" name="Shape 412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13" name="Shape 413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14" name="Shape 414"/>
          <p:cNvCxnSpPr>
            <a:stCxn id="412" idx="1"/>
            <a:endCxn id="411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15" name="Shape 415"/>
          <p:cNvCxnSpPr>
            <a:stCxn id="413" idx="1"/>
            <a:endCxn id="412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16" name="Shape 416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418" name="Shape 418"/>
          <p:cNvSpPr/>
          <p:nvPr/>
        </p:nvSpPr>
        <p:spPr>
          <a:xfrm>
            <a:off x="3978425" y="6288774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419" name="Shape 419"/>
          <p:cNvCxnSpPr>
            <a:cxnSpLocks/>
            <a:stCxn id="418" idx="0"/>
            <a:endCxn id="431" idx="2"/>
          </p:cNvCxnSpPr>
          <p:nvPr/>
        </p:nvCxnSpPr>
        <p:spPr>
          <a:xfrm flipV="1">
            <a:off x="4410125" y="5845500"/>
            <a:ext cx="0" cy="44327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1" name="Shape 421"/>
          <p:cNvSpPr/>
          <p:nvPr/>
        </p:nvSpPr>
        <p:spPr>
          <a:xfrm>
            <a:off x="4946000" y="3094553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422" name="Shape 422"/>
          <p:cNvCxnSpPr>
            <a:cxnSpLocks/>
            <a:endCxn id="423" idx="2"/>
          </p:cNvCxnSpPr>
          <p:nvPr/>
        </p:nvCxnSpPr>
        <p:spPr>
          <a:xfrm flipV="1">
            <a:off x="5591750" y="2647538"/>
            <a:ext cx="0" cy="44877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4" name="Shape 424"/>
          <p:cNvSpPr/>
          <p:nvPr/>
        </p:nvSpPr>
        <p:spPr>
          <a:xfrm>
            <a:off x="5979050" y="1478513"/>
            <a:ext cx="156475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425" name="Shape 425"/>
          <p:cNvCxnSpPr>
            <a:cxnSpLocks/>
            <a:stCxn id="424" idx="2"/>
            <a:endCxn id="426" idx="0"/>
          </p:cNvCxnSpPr>
          <p:nvPr/>
        </p:nvCxnSpPr>
        <p:spPr>
          <a:xfrm>
            <a:off x="6761425" y="1987913"/>
            <a:ext cx="13650" cy="30413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7" name="Shape 427"/>
          <p:cNvSpPr txBox="1"/>
          <p:nvPr/>
        </p:nvSpPr>
        <p:spPr>
          <a:xfrm>
            <a:off x="897440" y="2869237"/>
            <a:ext cx="1146235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428" name="Shape 428"/>
          <p:cNvSpPr txBox="1"/>
          <p:nvPr/>
        </p:nvSpPr>
        <p:spPr>
          <a:xfrm>
            <a:off x="7727555" y="1140583"/>
            <a:ext cx="1323237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429" name="Shape 429"/>
          <p:cNvSpPr/>
          <p:nvPr/>
        </p:nvSpPr>
        <p:spPr>
          <a:xfrm>
            <a:off x="6355975" y="850113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430" name="Shape 430"/>
          <p:cNvCxnSpPr>
            <a:cxnSpLocks/>
            <a:endCxn id="424" idx="0"/>
          </p:cNvCxnSpPr>
          <p:nvPr/>
        </p:nvCxnSpPr>
        <p:spPr>
          <a:xfrm flipH="1">
            <a:off x="6761425" y="1152713"/>
            <a:ext cx="13650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1" name="Shape 431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32" name="Shape 432"/>
          <p:cNvCxnSpPr>
            <a:stCxn id="431" idx="1"/>
            <a:endCxn id="413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3" name="Shape 433"/>
          <p:cNvSpPr txBox="1"/>
          <p:nvPr/>
        </p:nvSpPr>
        <p:spPr>
          <a:xfrm>
            <a:off x="7543800" y="2677000"/>
            <a:ext cx="1600425" cy="3419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810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33333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$ git push</a:t>
            </a:r>
            <a:b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</a:br>
            <a:r>
              <a:rPr lang="en-US" sz="2400" dirty="0">
                <a:solidFill>
                  <a:srgbClr val="333333"/>
                </a:solidFill>
                <a:highlight>
                  <a:srgbClr val="FFFFFF"/>
                </a:highlight>
              </a:rPr>
              <a:t>of commit 3f9f9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423" name="Shape 423"/>
          <p:cNvSpPr/>
          <p:nvPr/>
        </p:nvSpPr>
        <p:spPr>
          <a:xfrm>
            <a:off x="5204450" y="2292038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34" name="Shape 434"/>
          <p:cNvCxnSpPr>
            <a:stCxn id="423" idx="1"/>
            <a:endCxn id="407" idx="3"/>
          </p:cNvCxnSpPr>
          <p:nvPr/>
        </p:nvCxnSpPr>
        <p:spPr>
          <a:xfrm flipH="1">
            <a:off x="3851750" y="2469788"/>
            <a:ext cx="1352700" cy="29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35" name="Shape 435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26" name="Shape 426"/>
          <p:cNvSpPr/>
          <p:nvPr/>
        </p:nvSpPr>
        <p:spPr>
          <a:xfrm>
            <a:off x="6387775" y="229205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36" name="Shape 436"/>
          <p:cNvCxnSpPr>
            <a:stCxn id="426" idx="1"/>
            <a:endCxn id="423" idx="3"/>
          </p:cNvCxnSpPr>
          <p:nvPr/>
        </p:nvCxnSpPr>
        <p:spPr>
          <a:xfrm rot="10800000">
            <a:off x="5979175" y="2469801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20" name="Shape 420"/>
          <p:cNvSpPr/>
          <p:nvPr/>
        </p:nvSpPr>
        <p:spPr>
          <a:xfrm>
            <a:off x="6286113" y="5490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37" name="Shape 437"/>
          <p:cNvCxnSpPr>
            <a:stCxn id="420" idx="1"/>
            <a:endCxn id="431" idx="3"/>
          </p:cNvCxnSpPr>
          <p:nvPr/>
        </p:nvCxnSpPr>
        <p:spPr>
          <a:xfrm rot="10800000">
            <a:off x="4797513" y="5667751"/>
            <a:ext cx="14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38" name="Shape 438"/>
          <p:cNvSpPr/>
          <p:nvPr/>
        </p:nvSpPr>
        <p:spPr>
          <a:xfrm>
            <a:off x="6387574" y="2825302"/>
            <a:ext cx="610200" cy="260628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" name="Shape 380">
            <a:extLst>
              <a:ext uri="{FF2B5EF4-FFF2-40B4-BE49-F238E27FC236}">
                <a16:creationId xmlns:a16="http://schemas.microsoft.com/office/drawing/2014/main" id="{710486FB-EA5A-71CE-4307-82ECFE648C7C}"/>
              </a:ext>
            </a:extLst>
          </p:cNvPr>
          <p:cNvCxnSpPr/>
          <p:nvPr/>
        </p:nvCxnSpPr>
        <p:spPr>
          <a:xfrm rot="10800000">
            <a:off x="6651741" y="5810658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Shape 269">
            <a:extLst>
              <a:ext uri="{FF2B5EF4-FFF2-40B4-BE49-F238E27FC236}">
                <a16:creationId xmlns:a16="http://schemas.microsoft.com/office/drawing/2014/main" id="{59C92189-9734-4F4B-C387-EFB6615831BC}"/>
              </a:ext>
            </a:extLst>
          </p:cNvPr>
          <p:cNvSpPr/>
          <p:nvPr/>
        </p:nvSpPr>
        <p:spPr>
          <a:xfrm>
            <a:off x="5637750" y="6248675"/>
            <a:ext cx="2055938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10" name="Shape 380">
            <a:extLst>
              <a:ext uri="{FF2B5EF4-FFF2-40B4-BE49-F238E27FC236}">
                <a16:creationId xmlns:a16="http://schemas.microsoft.com/office/drawing/2014/main" id="{93CDAE70-4668-B885-45DC-EF336EAAC62F}"/>
              </a:ext>
            </a:extLst>
          </p:cNvPr>
          <p:cNvCxnSpPr>
            <a:cxnSpLocks/>
          </p:cNvCxnSpPr>
          <p:nvPr/>
        </p:nvCxnSpPr>
        <p:spPr>
          <a:xfrm flipV="1">
            <a:off x="3321618" y="2659488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" name="Shape 269">
            <a:extLst>
              <a:ext uri="{FF2B5EF4-FFF2-40B4-BE49-F238E27FC236}">
                <a16:creationId xmlns:a16="http://schemas.microsoft.com/office/drawing/2014/main" id="{2979DD7D-F776-B608-310D-4814481A5454}"/>
              </a:ext>
            </a:extLst>
          </p:cNvPr>
          <p:cNvSpPr/>
          <p:nvPr/>
        </p:nvSpPr>
        <p:spPr>
          <a:xfrm>
            <a:off x="2453217" y="3097505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-US"/>
              <a:t>26</a:t>
            </a:fld>
            <a:endParaRPr lang="en-US"/>
          </a:p>
        </p:txBody>
      </p:sp>
      <p:sp>
        <p:nvSpPr>
          <p:cNvPr id="445" name="Shape 445"/>
          <p:cNvSpPr/>
          <p:nvPr/>
        </p:nvSpPr>
        <p:spPr>
          <a:xfrm>
            <a:off x="71060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46" name="Shape 446"/>
          <p:cNvSpPr/>
          <p:nvPr/>
        </p:nvSpPr>
        <p:spPr>
          <a:xfrm>
            <a:off x="189382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47" name="Shape 447"/>
          <p:cNvSpPr/>
          <p:nvPr/>
        </p:nvSpPr>
        <p:spPr>
          <a:xfrm>
            <a:off x="3077050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48" name="Shape 448"/>
          <p:cNvCxnSpPr>
            <a:stCxn id="446" idx="1"/>
            <a:endCxn id="445" idx="3"/>
          </p:cNvCxnSpPr>
          <p:nvPr/>
        </p:nvCxnSpPr>
        <p:spPr>
          <a:xfrm rot="10800000">
            <a:off x="1485225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49" name="Shape 449"/>
          <p:cNvCxnSpPr>
            <a:stCxn id="447" idx="1"/>
            <a:endCxn id="446" idx="3"/>
          </p:cNvCxnSpPr>
          <p:nvPr/>
        </p:nvCxnSpPr>
        <p:spPr>
          <a:xfrm rot="10800000">
            <a:off x="2668450" y="24992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0" name="Shape 4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Rebasing </a:t>
            </a:r>
            <a:r>
              <a:rPr lang="en-US">
                <a:latin typeface="Merriweather"/>
                <a:ea typeface="Merriweather"/>
                <a:cs typeface="Merriweather"/>
                <a:sym typeface="Merriweather"/>
              </a:rPr>
              <a:t>Remote Tracking Branch</a:t>
            </a:r>
          </a:p>
        </p:txBody>
      </p:sp>
      <p:sp>
        <p:nvSpPr>
          <p:cNvPr id="451" name="Shape 451"/>
          <p:cNvSpPr/>
          <p:nvPr/>
        </p:nvSpPr>
        <p:spPr>
          <a:xfrm>
            <a:off x="47315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98ca9</a:t>
            </a:r>
          </a:p>
        </p:txBody>
      </p:sp>
      <p:sp>
        <p:nvSpPr>
          <p:cNvPr id="452" name="Shape 452"/>
          <p:cNvSpPr/>
          <p:nvPr/>
        </p:nvSpPr>
        <p:spPr>
          <a:xfrm>
            <a:off x="165637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34ac2</a:t>
            </a:r>
          </a:p>
        </p:txBody>
      </p:sp>
      <p:sp>
        <p:nvSpPr>
          <p:cNvPr id="453" name="Shape 453"/>
          <p:cNvSpPr/>
          <p:nvPr/>
        </p:nvSpPr>
        <p:spPr>
          <a:xfrm>
            <a:off x="2839600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f30ab</a:t>
            </a:r>
          </a:p>
        </p:txBody>
      </p:sp>
      <p:cxnSp>
        <p:nvCxnSpPr>
          <p:cNvPr id="454" name="Shape 454"/>
          <p:cNvCxnSpPr>
            <a:stCxn id="452" idx="1"/>
            <a:endCxn id="451" idx="3"/>
          </p:cNvCxnSpPr>
          <p:nvPr/>
        </p:nvCxnSpPr>
        <p:spPr>
          <a:xfrm rot="10800000">
            <a:off x="124777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55" name="Shape 455"/>
          <p:cNvCxnSpPr>
            <a:stCxn id="453" idx="1"/>
            <a:endCxn id="452" idx="3"/>
          </p:cNvCxnSpPr>
          <p:nvPr/>
        </p:nvCxnSpPr>
        <p:spPr>
          <a:xfrm rot="10800000">
            <a:off x="2431000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56" name="Shape 456"/>
          <p:cNvSpPr txBox="1"/>
          <p:nvPr/>
        </p:nvSpPr>
        <p:spPr>
          <a:xfrm>
            <a:off x="0" y="1150050"/>
            <a:ext cx="26685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Local Repository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35025" y="4729563"/>
            <a:ext cx="3276900" cy="546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/>
              <a:t> Remote Repository</a:t>
            </a:r>
          </a:p>
        </p:txBody>
      </p:sp>
      <p:sp>
        <p:nvSpPr>
          <p:cNvPr id="458" name="Shape 458"/>
          <p:cNvSpPr/>
          <p:nvPr/>
        </p:nvSpPr>
        <p:spPr>
          <a:xfrm>
            <a:off x="3978425" y="6261974"/>
            <a:ext cx="863400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master</a:t>
            </a:r>
          </a:p>
        </p:txBody>
      </p:sp>
      <p:cxnSp>
        <p:nvCxnSpPr>
          <p:cNvPr id="459" name="Shape 459"/>
          <p:cNvCxnSpPr>
            <a:cxnSpLocks/>
            <a:stCxn id="458" idx="0"/>
            <a:endCxn id="470" idx="2"/>
          </p:cNvCxnSpPr>
          <p:nvPr/>
        </p:nvCxnSpPr>
        <p:spPr>
          <a:xfrm flipV="1">
            <a:off x="4410125" y="5845500"/>
            <a:ext cx="0" cy="41647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1" name="Shape 461"/>
          <p:cNvSpPr/>
          <p:nvPr/>
        </p:nvSpPr>
        <p:spPr>
          <a:xfrm>
            <a:off x="4319128" y="3109231"/>
            <a:ext cx="1266000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origin/master</a:t>
            </a:r>
          </a:p>
        </p:txBody>
      </p:sp>
      <p:cxnSp>
        <p:nvCxnSpPr>
          <p:cNvPr id="462" name="Shape 462"/>
          <p:cNvCxnSpPr>
            <a:cxnSpLocks/>
            <a:stCxn id="461" idx="0"/>
            <a:endCxn id="473" idx="2"/>
          </p:cNvCxnSpPr>
          <p:nvPr/>
        </p:nvCxnSpPr>
        <p:spPr>
          <a:xfrm flipV="1">
            <a:off x="4952128" y="2677000"/>
            <a:ext cx="614947" cy="43223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4" name="Shape 464"/>
          <p:cNvSpPr/>
          <p:nvPr/>
        </p:nvSpPr>
        <p:spPr>
          <a:xfrm>
            <a:off x="5791199" y="1509673"/>
            <a:ext cx="1937099" cy="509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  <p:cxnSp>
        <p:nvCxnSpPr>
          <p:cNvPr id="465" name="Shape 465"/>
          <p:cNvCxnSpPr>
            <a:cxnSpLocks/>
            <a:stCxn id="464" idx="2"/>
            <a:endCxn id="463" idx="0"/>
          </p:cNvCxnSpPr>
          <p:nvPr/>
        </p:nvCxnSpPr>
        <p:spPr>
          <a:xfrm flipH="1">
            <a:off x="6757593" y="2019073"/>
            <a:ext cx="2156" cy="30406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6" name="Shape 466"/>
          <p:cNvSpPr txBox="1"/>
          <p:nvPr/>
        </p:nvSpPr>
        <p:spPr>
          <a:xfrm>
            <a:off x="1452075" y="3097625"/>
            <a:ext cx="1855646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Remote Tracking Branch</a:t>
            </a:r>
          </a:p>
        </p:txBody>
      </p:sp>
      <p:sp>
        <p:nvSpPr>
          <p:cNvPr id="467" name="Shape 467"/>
          <p:cNvSpPr txBox="1"/>
          <p:nvPr/>
        </p:nvSpPr>
        <p:spPr>
          <a:xfrm>
            <a:off x="7578830" y="575710"/>
            <a:ext cx="1565170" cy="70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/>
              <a:t>Tracking Branch (Local)</a:t>
            </a:r>
          </a:p>
        </p:txBody>
      </p:sp>
      <p:sp>
        <p:nvSpPr>
          <p:cNvPr id="468" name="Shape 468"/>
          <p:cNvSpPr/>
          <p:nvPr/>
        </p:nvSpPr>
        <p:spPr>
          <a:xfrm>
            <a:off x="6355975" y="850113"/>
            <a:ext cx="838200" cy="355500"/>
          </a:xfrm>
          <a:prstGeom prst="rect">
            <a:avLst/>
          </a:prstGeom>
          <a:solidFill>
            <a:srgbClr val="666666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>
                <a:solidFill>
                  <a:srgbClr val="FFFFFF"/>
                </a:solidFill>
              </a:rPr>
              <a:t>HEAD</a:t>
            </a:r>
          </a:p>
        </p:txBody>
      </p:sp>
      <p:cxnSp>
        <p:nvCxnSpPr>
          <p:cNvPr id="469" name="Shape 469"/>
          <p:cNvCxnSpPr>
            <a:cxnSpLocks/>
            <a:endCxn id="464" idx="0"/>
          </p:cNvCxnSpPr>
          <p:nvPr/>
        </p:nvCxnSpPr>
        <p:spPr>
          <a:xfrm>
            <a:off x="6740630" y="1183873"/>
            <a:ext cx="19119" cy="325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0" name="Shape 470"/>
          <p:cNvSpPr/>
          <p:nvPr/>
        </p:nvSpPr>
        <p:spPr>
          <a:xfrm>
            <a:off x="4022825" y="54900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71" name="Shape 471"/>
          <p:cNvCxnSpPr>
            <a:stCxn id="470" idx="1"/>
            <a:endCxn id="453" idx="3"/>
          </p:cNvCxnSpPr>
          <p:nvPr/>
        </p:nvCxnSpPr>
        <p:spPr>
          <a:xfrm rot="10800000">
            <a:off x="3614225" y="5667750"/>
            <a:ext cx="40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72" name="Shape 472"/>
          <p:cNvSpPr txBox="1"/>
          <p:nvPr/>
        </p:nvSpPr>
        <p:spPr>
          <a:xfrm>
            <a:off x="7331850" y="2469800"/>
            <a:ext cx="1739700" cy="4312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marL="457200" marR="25400" lvl="0" indent="-34290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SzPct val="100000"/>
              <a:buChar char="●"/>
            </a:pPr>
            <a:r>
              <a:rPr lang="en-US" sz="1800" dirty="0">
                <a:solidFill>
                  <a:srgbClr val="333333"/>
                </a:solidFill>
                <a:highlight>
                  <a:srgbClr val="FFFFFF"/>
                </a:highlight>
              </a:rPr>
              <a:t>After push Remote Tracking Branch and Tracking (Local) branch points to the same commit </a:t>
            </a:r>
          </a:p>
          <a:p>
            <a:pPr marR="25400" lvl="0" rtl="0">
              <a:lnSpc>
                <a:spcPct val="113400"/>
              </a:lnSpc>
              <a:spcBef>
                <a:spcPts val="800"/>
              </a:spcBef>
              <a:spcAft>
                <a:spcPts val="800"/>
              </a:spcAft>
              <a:buNone/>
            </a:pPr>
            <a:endParaRPr sz="2400" dirty="0">
              <a:solidFill>
                <a:srgbClr val="333333"/>
              </a:solidFill>
              <a:highlight>
                <a:srgbClr val="EEEEEE"/>
              </a:highlight>
            </a:endParaRP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</p:txBody>
      </p:sp>
      <p:sp>
        <p:nvSpPr>
          <p:cNvPr id="473" name="Shape 473"/>
          <p:cNvSpPr/>
          <p:nvPr/>
        </p:nvSpPr>
        <p:spPr>
          <a:xfrm>
            <a:off x="5179775" y="2321500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/>
              <a:t>0bddb</a:t>
            </a:r>
          </a:p>
        </p:txBody>
      </p:sp>
      <p:cxnSp>
        <p:nvCxnSpPr>
          <p:cNvPr id="474" name="Shape 474"/>
          <p:cNvCxnSpPr>
            <a:stCxn id="473" idx="1"/>
            <a:endCxn id="447" idx="3"/>
          </p:cNvCxnSpPr>
          <p:nvPr/>
        </p:nvCxnSpPr>
        <p:spPr>
          <a:xfrm flipH="1">
            <a:off x="3851650" y="2499250"/>
            <a:ext cx="1328125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475" name="Shape 475"/>
          <p:cNvCxnSpPr/>
          <p:nvPr/>
        </p:nvCxnSpPr>
        <p:spPr>
          <a:xfrm>
            <a:off x="0" y="4537325"/>
            <a:ext cx="4063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63" name="Shape 463"/>
          <p:cNvSpPr/>
          <p:nvPr/>
        </p:nvSpPr>
        <p:spPr>
          <a:xfrm>
            <a:off x="6370293" y="2323133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76" name="Shape 476"/>
          <p:cNvCxnSpPr>
            <a:stCxn id="463" idx="1"/>
            <a:endCxn id="473" idx="3"/>
          </p:cNvCxnSpPr>
          <p:nvPr/>
        </p:nvCxnSpPr>
        <p:spPr>
          <a:xfrm flipH="1" flipV="1">
            <a:off x="5954375" y="2499250"/>
            <a:ext cx="415918" cy="163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460" name="Shape 460"/>
          <p:cNvSpPr/>
          <p:nvPr/>
        </p:nvSpPr>
        <p:spPr>
          <a:xfrm>
            <a:off x="6286113" y="5490001"/>
            <a:ext cx="774600" cy="355500"/>
          </a:xfrm>
          <a:prstGeom prst="roundRect">
            <a:avLst>
              <a:gd name="adj" fmla="val 16667"/>
            </a:avLst>
          </a:prstGeom>
          <a:solidFill>
            <a:srgbClr val="A7FFAB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/>
              <a:t>3f9f9</a:t>
            </a:r>
          </a:p>
        </p:txBody>
      </p:sp>
      <p:cxnSp>
        <p:nvCxnSpPr>
          <p:cNvPr id="477" name="Shape 477"/>
          <p:cNvCxnSpPr>
            <a:stCxn id="460" idx="1"/>
            <a:endCxn id="470" idx="3"/>
          </p:cNvCxnSpPr>
          <p:nvPr/>
        </p:nvCxnSpPr>
        <p:spPr>
          <a:xfrm rot="10800000">
            <a:off x="4797513" y="5667751"/>
            <a:ext cx="14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7" name="Shape 380">
            <a:extLst>
              <a:ext uri="{FF2B5EF4-FFF2-40B4-BE49-F238E27FC236}">
                <a16:creationId xmlns:a16="http://schemas.microsoft.com/office/drawing/2014/main" id="{AAC57456-22F8-962D-1BBB-ECBADC25B401}"/>
              </a:ext>
            </a:extLst>
          </p:cNvPr>
          <p:cNvCxnSpPr>
            <a:cxnSpLocks/>
          </p:cNvCxnSpPr>
          <p:nvPr/>
        </p:nvCxnSpPr>
        <p:spPr>
          <a:xfrm flipV="1">
            <a:off x="6746302" y="2675412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8" name="Shape 269">
            <a:extLst>
              <a:ext uri="{FF2B5EF4-FFF2-40B4-BE49-F238E27FC236}">
                <a16:creationId xmlns:a16="http://schemas.microsoft.com/office/drawing/2014/main" id="{037DC6C4-E27D-B9D4-4FB4-E79864C7265C}"/>
              </a:ext>
            </a:extLst>
          </p:cNvPr>
          <p:cNvSpPr/>
          <p:nvPr/>
        </p:nvSpPr>
        <p:spPr>
          <a:xfrm>
            <a:off x="5877901" y="3113429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origin/feat/PRJ-777</a:t>
            </a:r>
          </a:p>
        </p:txBody>
      </p:sp>
      <p:cxnSp>
        <p:nvCxnSpPr>
          <p:cNvPr id="20" name="Shape 380">
            <a:extLst>
              <a:ext uri="{FF2B5EF4-FFF2-40B4-BE49-F238E27FC236}">
                <a16:creationId xmlns:a16="http://schemas.microsoft.com/office/drawing/2014/main" id="{24CF52AD-2B95-815F-4C5B-DB79A1242DB1}"/>
              </a:ext>
            </a:extLst>
          </p:cNvPr>
          <p:cNvCxnSpPr>
            <a:cxnSpLocks/>
          </p:cNvCxnSpPr>
          <p:nvPr/>
        </p:nvCxnSpPr>
        <p:spPr>
          <a:xfrm flipV="1">
            <a:off x="6659600" y="5809100"/>
            <a:ext cx="0" cy="42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1" name="Shape 269">
            <a:extLst>
              <a:ext uri="{FF2B5EF4-FFF2-40B4-BE49-F238E27FC236}">
                <a16:creationId xmlns:a16="http://schemas.microsoft.com/office/drawing/2014/main" id="{16FCD6BD-B9FE-9470-66FE-BE611566BFA5}"/>
              </a:ext>
            </a:extLst>
          </p:cNvPr>
          <p:cNvSpPr/>
          <p:nvPr/>
        </p:nvSpPr>
        <p:spPr>
          <a:xfrm>
            <a:off x="5791199" y="6247117"/>
            <a:ext cx="1910347" cy="5460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dirty="0"/>
              <a:t>feat/PRJ-777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2000" b="1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Do not rebase commits that you have pushed to a public repository.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Merriweather"/>
              <a:buNone/>
            </a:pPr>
            <a:r>
              <a:rPr lang="en-US" sz="1800" b="0" i="0" u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If you follow that guideline, you’ll be fine. If you don’t, people will hate you, and you’ll be scorned by friends and family.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28600" marR="0" lvl="0" indent="-228600" algn="l" rtl="0"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1" i="0" u="none">
              <a:solidFill>
                <a:srgbClr val="0070C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83" name="Shape 483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Perils of rebase</a:t>
            </a:r>
          </a:p>
        </p:txBody>
      </p:sp>
      <p:sp>
        <p:nvSpPr>
          <p:cNvPr id="484" name="Shape 484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485" name="Shape 485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Demo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Lab 4</a:t>
            </a:r>
            <a:br>
              <a:rPr lang="en-US" sz="3600"/>
            </a:br>
            <a:endParaRPr lang="en-US" sz="3600"/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Teamwork, parallel work with rebase and conflicts resolution: 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We will do commits in both repos, with change in the same line of the same file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Pull with rebase, resolve conflicts, save the resolution file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Add the file to the staging area - means resolve.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Commit and push</a:t>
            </a:r>
          </a:p>
        </p:txBody>
      </p:sp>
      <p:sp>
        <p:nvSpPr>
          <p:cNvPr id="492" name="Shape 492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49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Git branches</a:t>
            </a:r>
          </a:p>
        </p:txBody>
      </p:sp>
      <p:sp>
        <p:nvSpPr>
          <p:cNvPr id="498" name="Shape 498"/>
          <p:cNvSpPr txBox="1">
            <a:spLocks noGrp="1"/>
          </p:cNvSpPr>
          <p:nvPr>
            <p:ph type="body" idx="1"/>
          </p:nvPr>
        </p:nvSpPr>
        <p:spPr>
          <a:xfrm>
            <a:off x="592137" y="1447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1800" b="0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Git branch is simply a movable pointer to a commit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1800" b="0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Pointer moves forward automatically with each commit on a branch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800" b="1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2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9" name="Shape 49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00" name="Shape 50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1" name="Shape 5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0750" y="1981200"/>
            <a:ext cx="4762500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Creating new branch</a:t>
            </a:r>
          </a:p>
        </p:txBody>
      </p:sp>
      <p:sp>
        <p:nvSpPr>
          <p:cNvPr id="507" name="Shape 507"/>
          <p:cNvSpPr txBox="1">
            <a:spLocks noGrp="1"/>
          </p:cNvSpPr>
          <p:nvPr>
            <p:ph type="body" idx="1"/>
          </p:nvPr>
        </p:nvSpPr>
        <p:spPr>
          <a:xfrm>
            <a:off x="592137" y="11430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1800" b="0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New branch creates a new reference</a:t>
            </a:r>
          </a:p>
          <a:p>
            <a:pPr marL="342900" marR="0" lvl="3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Courier New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&gt; git branch testing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800" b="0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800" b="1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2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8" name="Shape 50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09" name="Shape 50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Shape 5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2235200"/>
            <a:ext cx="5943600" cy="41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Shape 515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Switching to a branch</a:t>
            </a:r>
          </a:p>
        </p:txBody>
      </p:sp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xfrm>
            <a:off x="592137" y="1447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1800" b="0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Git checkout </a:t>
            </a:r>
            <a:r>
              <a:rPr lang="en-US" sz="1800" b="0" i="1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branch-name</a:t>
            </a:r>
            <a:r>
              <a:rPr lang="en-US" sz="1800" b="0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 switches to an existing branch</a:t>
            </a:r>
          </a:p>
          <a:p>
            <a:pPr marL="342900" marR="0" lvl="3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Courier New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&gt; git checkout testing</a:t>
            </a:r>
          </a:p>
          <a:p>
            <a:pPr marL="285750" marR="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800" b="1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2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7" name="Shape 517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18" name="Shape 518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9" name="Shape 5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05100" y="2133600"/>
            <a:ext cx="3733800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524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New commit moves current branch</a:t>
            </a:r>
          </a:p>
        </p:txBody>
      </p:sp>
      <p:sp>
        <p:nvSpPr>
          <p:cNvPr id="525" name="Shape 525"/>
          <p:cNvSpPr txBox="1">
            <a:spLocks noGrp="1"/>
          </p:cNvSpPr>
          <p:nvPr>
            <p:ph type="body" idx="1"/>
          </p:nvPr>
        </p:nvSpPr>
        <p:spPr>
          <a:xfrm>
            <a:off x="592137" y="1447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Courier New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&gt; vi file04.txt</a:t>
            </a:r>
          </a:p>
          <a:p>
            <a:pPr marL="342900" marR="0" lvl="3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Courier New"/>
              <a:buNone/>
            </a:pPr>
            <a:r>
              <a:rPr lang="en-US" sz="1400" b="1" i="0" u="none" strike="noStrike" cap="none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&gt; git commit -a -m 'Commit message'</a:t>
            </a:r>
          </a:p>
          <a:p>
            <a:pPr marL="342900" marR="0" lvl="3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800" b="0" i="0" u="none" strike="noStrike" cap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57150" marR="0" lvl="0" indent="-63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800" b="1" i="0" u="none">
              <a:solidFill>
                <a:srgbClr val="5E5E5E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342900" marR="0" lvl="2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25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1400" b="1" i="0" u="none" strike="noStrike" cap="none">
              <a:solidFill>
                <a:srgbClr val="0070C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6" name="Shape 526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Shape 5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0750" y="2295525"/>
            <a:ext cx="47625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533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Merging branches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Shape 5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95400"/>
            <a:ext cx="5791200" cy="49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592137" y="1447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85750" marR="0" lvl="0" indent="-23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Merriweather"/>
              <a:buChar char="•"/>
            </a:pPr>
            <a:r>
              <a:rPr lang="en-US" sz="1800" b="0" i="0" u="none">
                <a:solidFill>
                  <a:srgbClr val="5E5E5E"/>
                </a:solidFill>
                <a:latin typeface="Merriweather"/>
                <a:ea typeface="Merriweather"/>
                <a:cs typeface="Merriweather"/>
                <a:sym typeface="Merriweather"/>
              </a:rPr>
              <a:t>As a result of merge Git creates a new commit, which has two parents:</a:t>
            </a:r>
          </a:p>
        </p:txBody>
      </p:sp>
      <p:sp>
        <p:nvSpPr>
          <p:cNvPr id="542" name="Shape 542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Merriweather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Merging branches (continued)</a:t>
            </a:r>
          </a:p>
        </p:txBody>
      </p:sp>
      <p:sp>
        <p:nvSpPr>
          <p:cNvPr id="543" name="Shape 543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44" name="Shape 544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5" name="Shape 5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1737" y="2314575"/>
            <a:ext cx="4200525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Shape 551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Demo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Lab 5 - 7</a:t>
            </a:r>
            <a:br>
              <a:rPr lang="en-US" sz="3600"/>
            </a:br>
            <a:endParaRPr lang="en-US" sz="3600"/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We will create tag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Create branch bugfix from the tag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Will do bugfix commit in bugfix branch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Check out master branch and commit new change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Merge bugfix branch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Overview results</a:t>
            </a:r>
          </a:p>
        </p:txBody>
      </p:sp>
      <p:sp>
        <p:nvSpPr>
          <p:cNvPr id="552" name="Shape 552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commit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Shape 55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59" name="Shape 55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0" name="Shape 56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273175"/>
            <a:ext cx="8796337" cy="48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squashing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Shape 566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67" name="Shape 567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8" name="Shape 56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1549400"/>
            <a:ext cx="9150350" cy="43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xfrm>
            <a:off x="0" y="149800"/>
            <a:ext cx="91440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/>
              <a:t>Best practices - concise commit messages</a:t>
            </a:r>
          </a:p>
        </p:txBody>
      </p:sp>
      <p:sp>
        <p:nvSpPr>
          <p:cNvPr id="575" name="Shape 575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 lang="en-US"/>
          </a:p>
        </p:txBody>
      </p:sp>
      <p:pic>
        <p:nvPicPr>
          <p:cNvPr id="576" name="Shape 576" descr="commit_message_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14500"/>
            <a:ext cx="9144000" cy="39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960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local feature branches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Shape 582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583" name="Shape 583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4" name="Shape 58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417637"/>
            <a:ext cx="8758237" cy="4678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590"/>
          <p:cNvSpPr txBox="1">
            <a:spLocks noGrp="1"/>
          </p:cNvSpPr>
          <p:nvPr>
            <p:ph type="title"/>
          </p:nvPr>
        </p:nvSpPr>
        <p:spPr>
          <a:xfrm>
            <a:off x="12" y="0"/>
            <a:ext cx="82296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2"/>
              </a:buClr>
              <a:buSzPct val="25000"/>
              <a:buFont typeface="Arial"/>
              <a:buNone/>
            </a:pPr>
            <a:r>
              <a:rPr lang="en-US"/>
              <a:t>Best practices – Branch Layout</a:t>
            </a:r>
            <a:br>
              <a:rPr lang="en-US"/>
            </a:br>
            <a:endParaRPr lang="en-US"/>
          </a:p>
        </p:txBody>
      </p:sp>
      <p:sp>
        <p:nvSpPr>
          <p:cNvPr id="591" name="Shape 591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2" name="Shape 592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 lang="en-US"/>
          </a:p>
        </p:txBody>
      </p:sp>
      <p:pic>
        <p:nvPicPr>
          <p:cNvPr id="593" name="Shape 5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8125"/>
            <a:ext cx="9143999" cy="59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5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825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clean up local branches</a:t>
            </a:r>
            <a:br>
              <a:rPr lang="en-US"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Shape 59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0" name="Shape 60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Shape 601" descr="Delete_local_feature_branc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7850"/>
            <a:ext cx="9144001" cy="57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Best practices – tag milestones</a:t>
            </a: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Shape 607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None/>
            </a:pPr>
            <a:endParaRPr sz="2000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Shape 608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09" name="Shape 609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Shape 6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89050"/>
            <a:ext cx="9109075" cy="46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61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Lab 8 - 10</a:t>
            </a:r>
          </a:p>
          <a:p>
            <a:pPr marL="0" lvl="0" indent="0" algn="l" rtl="0">
              <a:spcBef>
                <a:spcPts val="0"/>
              </a:spcBef>
              <a:buNone/>
            </a:pPr>
            <a:endParaRPr sz="3000"/>
          </a:p>
          <a:p>
            <a:pPr marL="457200" lvl="0" indent="-419100" algn="l" rtl="0">
              <a:spcBef>
                <a:spcPts val="0"/>
              </a:spcBef>
              <a:buSzPct val="100000"/>
            </a:pPr>
            <a:r>
              <a:rPr lang="en-US" sz="3000"/>
              <a:t>We will create branch bugfix2, from Release_01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Cherry-pick 1 commit from master branch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Undo modified file, undo staged file</a:t>
            </a:r>
          </a:p>
          <a:p>
            <a:pPr marL="0" lvl="0" indent="457200" rtl="0">
              <a:spcBef>
                <a:spcPts val="0"/>
              </a:spcBef>
              <a:buNone/>
            </a:pPr>
            <a:r>
              <a:rPr lang="en-US" sz="3000"/>
              <a:t>Undo latest local commit, revert pushed commit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Stash meanwhile work aside, make commit, return work from stash</a:t>
            </a:r>
          </a:p>
        </p:txBody>
      </p:sp>
      <p:sp>
        <p:nvSpPr>
          <p:cNvPr id="617" name="Shape 617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600"/>
              <a:t>Lab 11 - 13</a:t>
            </a:r>
            <a:br>
              <a:rPr lang="en-US" sz="3600"/>
            </a:br>
            <a:endParaRPr lang="en-US" sz="3600"/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Format patch in 1 repository, and apply it in another repository	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We will create 2 local commits and squash them to 1 commit by interactive rebase, and push only 1 commit to remote repository  </a:t>
            </a:r>
          </a:p>
          <a:p>
            <a:pPr marL="457200" lvl="0" indent="-419100" rtl="0">
              <a:spcBef>
                <a:spcPts val="0"/>
              </a:spcBef>
              <a:buSzPct val="100000"/>
            </a:pPr>
            <a:r>
              <a:rPr lang="en-US" sz="3000"/>
              <a:t>Create commit in 1 repository and pull it from another repository, without pushing to origin repository</a:t>
            </a:r>
          </a:p>
        </p:txBody>
      </p:sp>
      <p:sp>
        <p:nvSpPr>
          <p:cNvPr id="624" name="Shape 624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 rt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Shape 629"/>
          <p:cNvSpPr txBox="1">
            <a:spLocks noGrp="1"/>
          </p:cNvSpPr>
          <p:nvPr>
            <p:ph type="title"/>
          </p:nvPr>
        </p:nvSpPr>
        <p:spPr>
          <a:xfrm>
            <a:off x="457200" y="25709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Question?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44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440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4400"/>
              <a:t>Thanks!</a:t>
            </a:r>
          </a:p>
        </p:txBody>
      </p:sp>
      <p:sp>
        <p:nvSpPr>
          <p:cNvPr id="630" name="Shape 630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631" name="Shape 631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637"/>
          <p:cNvSpPr txBox="1">
            <a:spLocks noGrp="1"/>
          </p:cNvSpPr>
          <p:nvPr>
            <p:ph type="title"/>
          </p:nvPr>
        </p:nvSpPr>
        <p:spPr>
          <a:xfrm>
            <a:off x="592137" y="533400"/>
            <a:ext cx="8229600" cy="7587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/>
              <a:t>Backup slides</a:t>
            </a:r>
          </a:p>
        </p:txBody>
      </p:sp>
      <p:sp>
        <p:nvSpPr>
          <p:cNvPr id="638" name="Shape 638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5" name="Shape 645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 lang="en-US"/>
          </a:p>
        </p:txBody>
      </p:sp>
      <p:pic>
        <p:nvPicPr>
          <p:cNvPr id="646" name="Shape 6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4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652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 lang="en-US"/>
          </a:p>
        </p:txBody>
      </p:sp>
      <p:pic>
        <p:nvPicPr>
          <p:cNvPr id="653" name="Shape 6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139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659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 lang="en-US"/>
          </a:p>
        </p:txBody>
      </p:sp>
      <p:pic>
        <p:nvPicPr>
          <p:cNvPr id="660" name="Shape 6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031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Shape 666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7" name="Shape 667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 lang="en-US"/>
          </a:p>
        </p:txBody>
      </p:sp>
      <p:pic>
        <p:nvPicPr>
          <p:cNvPr id="668" name="Shape 6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4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674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5" name="Shape 675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 lang="en-US"/>
          </a:p>
        </p:txBody>
      </p:sp>
      <p:pic>
        <p:nvPicPr>
          <p:cNvPr id="676" name="Shape 6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995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682"/>
          <p:cNvSpPr txBox="1">
            <a:spLocks noGrp="1"/>
          </p:cNvSpPr>
          <p:nvPr>
            <p:ph type="body" idx="1"/>
          </p:nvPr>
        </p:nvSpPr>
        <p:spPr>
          <a:xfrm>
            <a:off x="592137" y="1676400"/>
            <a:ext cx="8229600" cy="42672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3" name="Shape 683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52</a:t>
            </a:fld>
            <a:endParaRPr lang="en-US"/>
          </a:p>
        </p:txBody>
      </p:sp>
      <p:pic>
        <p:nvPicPr>
          <p:cNvPr id="684" name="Shape 6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87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Shape 690"/>
          <p:cNvSpPr txBox="1">
            <a:spLocks noGrp="1"/>
          </p:cNvSpPr>
          <p:nvPr>
            <p:ph type="sldNum" idx="12"/>
          </p:nvPr>
        </p:nvSpPr>
        <p:spPr>
          <a:xfrm>
            <a:off x="8077200" y="6553200"/>
            <a:ext cx="838200" cy="228600"/>
          </a:xfrm>
          <a:prstGeom prst="rect">
            <a:avLst/>
          </a:prstGeom>
        </p:spPr>
        <p:txBody>
          <a:bodyPr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/>
              <a:t>53</a:t>
            </a:fld>
            <a:endParaRPr lang="en-US"/>
          </a:p>
        </p:txBody>
      </p:sp>
      <p:pic>
        <p:nvPicPr>
          <p:cNvPr id="691" name="Shape 691" descr="image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375" y="75825"/>
            <a:ext cx="7273626" cy="678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Shape 692"/>
          <p:cNvSpPr txBox="1"/>
          <p:nvPr/>
        </p:nvSpPr>
        <p:spPr>
          <a:xfrm>
            <a:off x="0" y="434975"/>
            <a:ext cx="2740200" cy="16383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2400"/>
              <a:t>Git Master-&gt;Slave </a:t>
            </a:r>
          </a:p>
          <a:p>
            <a:pPr lvl="0">
              <a:spcBef>
                <a:spcPts val="0"/>
              </a:spcBef>
              <a:buNone/>
            </a:pPr>
            <a:endParaRPr sz="2400"/>
          </a:p>
          <a:p>
            <a:pPr lvl="0">
              <a:spcBef>
                <a:spcPts val="0"/>
              </a:spcBef>
              <a:buNone/>
            </a:pPr>
            <a:r>
              <a:rPr lang="en-US" sz="2400"/>
              <a:t>Mirroring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hape 697"/>
          <p:cNvSpPr txBox="1">
            <a:spLocks noGrp="1"/>
          </p:cNvSpPr>
          <p:nvPr>
            <p:ph type="title"/>
          </p:nvPr>
        </p:nvSpPr>
        <p:spPr>
          <a:xfrm>
            <a:off x="0" y="5334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-US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are tracking and remote-tracking branches?</a:t>
            </a:r>
            <a:br>
              <a:rPr lang="en-US"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3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Shape 698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8229600" cy="1905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The combination of these branches defines a relationship</a:t>
            </a: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between a local branch and one in the remote repository.</a:t>
            </a: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411A"/>
              </a:buClr>
              <a:buSzPct val="100000"/>
              <a:buFont typeface="Arial"/>
              <a:buChar char="•"/>
            </a:pP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When a repository is cloned, Git automatically creates </a:t>
            </a:r>
            <a:r>
              <a:rPr lang="en-US" sz="2000" b="1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remote-tracking branches 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(e.g., origin/master) for the remote branches and a </a:t>
            </a:r>
            <a:r>
              <a:rPr lang="en-US" sz="2000" b="1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tracking branch </a:t>
            </a:r>
            <a: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(e.g., master) to allow for local changes in relationship to the remote branch</a:t>
            </a: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000" b="0" i="0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</a:br>
            <a:endParaRPr lang="en-US" sz="2000" b="0" i="0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Shape 699"/>
          <p:cNvSpPr txBox="1"/>
          <p:nvPr/>
        </p:nvSpPr>
        <p:spPr>
          <a:xfrm>
            <a:off x="6477000" y="6553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r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</a:p>
        </p:txBody>
      </p:sp>
      <p:sp>
        <p:nvSpPr>
          <p:cNvPr id="700" name="Shape 700"/>
          <p:cNvSpPr txBox="1"/>
          <p:nvPr/>
        </p:nvSpPr>
        <p:spPr>
          <a:xfrm>
            <a:off x="8077200" y="6553200"/>
            <a:ext cx="8382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25000"/>
              <a:buFont typeface="Arial"/>
              <a:buNone/>
            </a:pPr>
            <a:fld id="{00000000-1234-1234-1234-123412341234}" type="slidenum">
              <a:rPr lang="en-US" sz="700" b="0" i="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54</a:t>
            </a:fld>
            <a:endParaRPr lang="en-US" sz="700" b="0" i="0" u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Shape 7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462" y="3810000"/>
            <a:ext cx="8077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0cf9a1c-2cb1-4d38-9733-321b2d511f49}" enabled="1" method="Standar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1786</Words>
  <Application>Microsoft Macintosh PowerPoint</Application>
  <PresentationFormat>On-screen Show (4:3)</PresentationFormat>
  <Paragraphs>446</Paragraphs>
  <Slides>54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Courier New</vt:lpstr>
      <vt:lpstr>Merriweather</vt:lpstr>
      <vt:lpstr>Arial</vt:lpstr>
      <vt:lpstr>Amatic SC</vt:lpstr>
      <vt:lpstr>Source Code Pro</vt:lpstr>
      <vt:lpstr>Beach Day</vt:lpstr>
      <vt:lpstr>Git General Training</vt:lpstr>
      <vt:lpstr>Git – meaning?</vt:lpstr>
      <vt:lpstr>PowerPoint Presentation</vt:lpstr>
      <vt:lpstr>Agenda:</vt:lpstr>
      <vt:lpstr>PowerPoint Presentation</vt:lpstr>
      <vt:lpstr>About myself: Ilya Rokhkin  - 20+ years experience in Version Control Systems - Official Git trainer in Checkpoint, Intel, Marvell. - Freelance Git trainer. - Volunteer as Hebrew teacher in “Ulpan” 10+ years  </vt:lpstr>
      <vt:lpstr>GIT  Architecture  1 Local repo 2 Remote (Origin) 3 Common (Community) Remote Origin</vt:lpstr>
      <vt:lpstr>PowerPoint Presentation</vt:lpstr>
      <vt:lpstr>Git repository structure (.git)</vt:lpstr>
      <vt:lpstr>The Working Tree   </vt:lpstr>
      <vt:lpstr>States of files in Working Tree</vt:lpstr>
      <vt:lpstr>Objects </vt:lpstr>
      <vt:lpstr>Objects cont. </vt:lpstr>
      <vt:lpstr>Commit Object</vt:lpstr>
      <vt:lpstr>Commit object with its parent Links from tree object to common blobs</vt:lpstr>
      <vt:lpstr>Secure Hash Algorithm – SHA1</vt:lpstr>
      <vt:lpstr>The HEAD</vt:lpstr>
      <vt:lpstr>PowerPoint Presentation</vt:lpstr>
      <vt:lpstr>Rebasing Remote Tracking Branch</vt:lpstr>
      <vt:lpstr>Rebasing Remote Tracking Branch</vt:lpstr>
      <vt:lpstr>Rebasing Remote Tracking Branch</vt:lpstr>
      <vt:lpstr>Rebasing Remote Tracking Branch</vt:lpstr>
      <vt:lpstr>Rebasing origin/master</vt:lpstr>
      <vt:lpstr>Rebasing Remote Tracking Branch</vt:lpstr>
      <vt:lpstr>Rebasing Remote Tracking Branch</vt:lpstr>
      <vt:lpstr>Rebasing Remote Tracking Branch</vt:lpstr>
      <vt:lpstr>Perils of rebase</vt:lpstr>
      <vt:lpstr>PowerPoint Presentation</vt:lpstr>
      <vt:lpstr>Git branches</vt:lpstr>
      <vt:lpstr>Creating new branch</vt:lpstr>
      <vt:lpstr>Switching to a branch</vt:lpstr>
      <vt:lpstr>New commit moves current branch</vt:lpstr>
      <vt:lpstr>Merging branches</vt:lpstr>
      <vt:lpstr>Merging branches (continued)</vt:lpstr>
      <vt:lpstr>PowerPoint Presentation</vt:lpstr>
      <vt:lpstr>Best practices – commit  </vt:lpstr>
      <vt:lpstr>Best practices – squashing  </vt:lpstr>
      <vt:lpstr>Best practices - concise commit messages</vt:lpstr>
      <vt:lpstr>Best practices – local feature branches  </vt:lpstr>
      <vt:lpstr>Best practices – Branch Layout </vt:lpstr>
      <vt:lpstr>Best practices – clean up local branches </vt:lpstr>
      <vt:lpstr>Best practices – tag milestones  </vt:lpstr>
      <vt:lpstr>PowerPoint Presentation</vt:lpstr>
      <vt:lpstr>PowerPoint Presentation</vt:lpstr>
      <vt:lpstr>Question?   Thanks!</vt:lpstr>
      <vt:lpstr>Backup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tracking and remote-tracking branches?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General Training</dc:title>
  <cp:lastModifiedBy>Ilya Rokhkin</cp:lastModifiedBy>
  <cp:revision>15</cp:revision>
  <dcterms:modified xsi:type="dcterms:W3CDTF">2024-03-17T14:07:00Z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qminfo">
    <vt:i4>1</vt:i4>
  </property>
  <property fmtid="{D5CDD505-2E9C-101B-9397-08002B2CF9AE}" pid="3" name="lqmsess">
    <vt:lpwstr>7023367f-5dc9-40c2-96e2-f2d6fcd97955</vt:lpwstr>
  </property>
</Properties>
</file>