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52"/>
  </p:notesMasterIdLst>
  <p:sldIdLst>
    <p:sldId id="339" r:id="rId2"/>
    <p:sldId id="340" r:id="rId3"/>
    <p:sldId id="341" r:id="rId4"/>
    <p:sldId id="266" r:id="rId5"/>
    <p:sldId id="346" r:id="rId6"/>
    <p:sldId id="257" r:id="rId7"/>
    <p:sldId id="342" r:id="rId8"/>
    <p:sldId id="309" r:id="rId9"/>
    <p:sldId id="310" r:id="rId10"/>
    <p:sldId id="308" r:id="rId11"/>
    <p:sldId id="313" r:id="rId12"/>
    <p:sldId id="311" r:id="rId13"/>
    <p:sldId id="314" r:id="rId14"/>
    <p:sldId id="315" r:id="rId15"/>
    <p:sldId id="316" r:id="rId16"/>
    <p:sldId id="318" r:id="rId17"/>
    <p:sldId id="317" r:id="rId18"/>
    <p:sldId id="319" r:id="rId19"/>
    <p:sldId id="320" r:id="rId20"/>
    <p:sldId id="322" r:id="rId21"/>
    <p:sldId id="323" r:id="rId22"/>
    <p:sldId id="324" r:id="rId23"/>
    <p:sldId id="325" r:id="rId24"/>
    <p:sldId id="326" r:id="rId25"/>
    <p:sldId id="348" r:id="rId26"/>
    <p:sldId id="336" r:id="rId27"/>
    <p:sldId id="349" r:id="rId28"/>
    <p:sldId id="330" r:id="rId29"/>
    <p:sldId id="331" r:id="rId30"/>
    <p:sldId id="332" r:id="rId31"/>
    <p:sldId id="350" r:id="rId32"/>
    <p:sldId id="333" r:id="rId33"/>
    <p:sldId id="335" r:id="rId34"/>
    <p:sldId id="351" r:id="rId35"/>
    <p:sldId id="334" r:id="rId36"/>
    <p:sldId id="343" r:id="rId37"/>
    <p:sldId id="344" r:id="rId38"/>
    <p:sldId id="356" r:id="rId39"/>
    <p:sldId id="357" r:id="rId40"/>
    <p:sldId id="358" r:id="rId41"/>
    <p:sldId id="359" r:id="rId42"/>
    <p:sldId id="360" r:id="rId43"/>
    <p:sldId id="345" r:id="rId44"/>
    <p:sldId id="347" r:id="rId45"/>
    <p:sldId id="353" r:id="rId46"/>
    <p:sldId id="354" r:id="rId47"/>
    <p:sldId id="352" r:id="rId48"/>
    <p:sldId id="355" r:id="rId49"/>
    <p:sldId id="337" r:id="rId50"/>
    <p:sldId id="338" r:id="rId51"/>
  </p:sldIdLst>
  <p:sldSz cx="9144000" cy="6858000" type="screen4x3"/>
  <p:notesSz cx="6934200" cy="9232900"/>
  <p:embeddedFontLst>
    <p:embeddedFont>
      <p:font typeface="Amatic SC" pitchFamily="2" charset="-79"/>
      <p:regular r:id="rId53"/>
      <p:bold r:id="rId54"/>
    </p:embeddedFont>
    <p:embeddedFont>
      <p:font typeface="Consolas" panose="020B0609020204030204" pitchFamily="49" charset="0"/>
      <p:regular r:id="rId55"/>
      <p:bold r:id="rId56"/>
      <p:italic r:id="rId57"/>
      <p:boldItalic r:id="rId58"/>
    </p:embeddedFont>
    <p:embeddedFont>
      <p:font typeface="Merriweather" pitchFamily="2" charset="77"/>
      <p:regular r:id="rId59"/>
      <p:bold r:id="rId60"/>
      <p:italic r:id="rId61"/>
      <p:boldItalic r:id="rId62"/>
    </p:embeddedFont>
    <p:embeddedFont>
      <p:font typeface="Source Code Pro" panose="020B0509030403020204" pitchFamily="49" charset="0"/>
      <p:regular r:id="rId63"/>
      <p:bold r:id="rId64"/>
      <p:italic r:id="rId65"/>
      <p:boldItalic r:id="rId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7FF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307"/>
    <p:restoredTop sz="94279"/>
  </p:normalViewPr>
  <p:slideViewPr>
    <p:cSldViewPr>
      <p:cViewPr varScale="1">
        <p:scale>
          <a:sx n="151" d="100"/>
          <a:sy n="151" d="100"/>
        </p:scale>
        <p:origin x="2704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1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font" Target="fonts/font14.fntdata"/><Relationship Id="rId5" Type="http://schemas.openxmlformats.org/officeDocument/2006/relationships/slide" Target="slides/slide4.xml"/><Relationship Id="rId61" Type="http://schemas.openxmlformats.org/officeDocument/2006/relationships/font" Target="fonts/font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font" Target="fonts/font12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29062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Char char="●"/>
              <a:defRPr sz="1800" b="0" i="0" u="none" strike="noStrike" cap="none"/>
            </a:lvl1pPr>
            <a:lvl2pPr marL="457200" marR="0" lvl="1" indent="0" algn="l" rtl="0">
              <a:spcBef>
                <a:spcPts val="0"/>
              </a:spcBef>
              <a:buChar char="○"/>
              <a:defRPr sz="1800" b="0" i="0" u="none" strike="noStrike" cap="none"/>
            </a:lvl2pPr>
            <a:lvl3pPr marL="914400" marR="0" lvl="2" indent="0" algn="l" rtl="0">
              <a:spcBef>
                <a:spcPts val="0"/>
              </a:spcBef>
              <a:buChar char="■"/>
              <a:defRPr sz="1800" b="0" i="0" u="none" strike="noStrike" cap="none"/>
            </a:lvl3pPr>
            <a:lvl4pPr marL="1371600" marR="0" lvl="3" indent="0" algn="l" rtl="0">
              <a:spcBef>
                <a:spcPts val="0"/>
              </a:spcBef>
              <a:buChar char="●"/>
              <a:defRPr sz="1800" b="0" i="0" u="none" strike="noStrike" cap="none"/>
            </a:lvl4pPr>
            <a:lvl5pPr marL="1828800" marR="0" lvl="4" indent="0" algn="l" rtl="0">
              <a:spcBef>
                <a:spcPts val="0"/>
              </a:spcBef>
              <a:buChar char="○"/>
              <a:defRPr sz="1800" b="0" i="0" u="none" strike="noStrike" cap="none"/>
            </a:lvl5pPr>
            <a:lvl6pPr marL="2286000" marR="0" lvl="5" indent="0" algn="l" rtl="0">
              <a:spcBef>
                <a:spcPts val="0"/>
              </a:spcBef>
              <a:buChar char="■"/>
              <a:defRPr sz="1800" b="0" i="0" u="none" strike="noStrike" cap="none"/>
            </a:lvl6pPr>
            <a:lvl7pPr marL="2743200" marR="0" lvl="6" indent="0" algn="l" rtl="0">
              <a:spcBef>
                <a:spcPts val="0"/>
              </a:spcBef>
              <a:buChar char="●"/>
              <a:defRPr sz="1800" b="0" i="0" u="none" strike="noStrike" cap="none"/>
            </a:lvl7pPr>
            <a:lvl8pPr marL="3200400" marR="0" lvl="7" indent="0" algn="l" rtl="0">
              <a:spcBef>
                <a:spcPts val="0"/>
              </a:spcBef>
              <a:buChar char="○"/>
              <a:defRPr sz="1800" b="0" i="0" u="none" strike="noStrike" cap="none"/>
            </a:lvl8pPr>
            <a:lvl9pPr marL="3657600" marR="0" lvl="8" indent="0" algn="l" rtl="0">
              <a:spcBef>
                <a:spcPts val="0"/>
              </a:spcBef>
              <a:buChar char="■"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2375" tIns="46175" rIns="92375" bIns="461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1940504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Shape 5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8" name="Shape 5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55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5" name="Shape 5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6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04" name="Shape 6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3" name="Shape 56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5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6" name="Shape 59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27" name="Shape 6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bg>
      <p:bgPr>
        <a:solidFill>
          <a:schemeClr val="dk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title"/>
          </p:nvPr>
        </p:nvSpPr>
        <p:spPr>
          <a:xfrm>
            <a:off x="2802750" y="1070000"/>
            <a:ext cx="3538500" cy="4718100"/>
          </a:xfrm>
          <a:prstGeom prst="rect">
            <a:avLst/>
          </a:prstGeom>
          <a:solidFill>
            <a:srgbClr val="FFFFFF"/>
          </a:solidFill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4800"/>
            </a:lvl1pPr>
            <a:lvl2pPr lvl="1" algn="ctr">
              <a:spcBef>
                <a:spcPts val="0"/>
              </a:spcBef>
              <a:buSzPct val="100000"/>
              <a:defRPr sz="4800"/>
            </a:lvl2pPr>
            <a:lvl3pPr lvl="2" algn="ctr">
              <a:spcBef>
                <a:spcPts val="0"/>
              </a:spcBef>
              <a:buSzPct val="100000"/>
              <a:defRPr sz="4800"/>
            </a:lvl3pPr>
            <a:lvl4pPr lvl="3" algn="ctr">
              <a:spcBef>
                <a:spcPts val="0"/>
              </a:spcBef>
              <a:buSzPct val="100000"/>
              <a:defRPr sz="4800"/>
            </a:lvl4pPr>
            <a:lvl5pPr lvl="4" algn="ctr">
              <a:spcBef>
                <a:spcPts val="0"/>
              </a:spcBef>
              <a:buSzPct val="100000"/>
              <a:defRPr sz="4800"/>
            </a:lvl5pPr>
            <a:lvl6pPr lvl="5" algn="ctr">
              <a:spcBef>
                <a:spcPts val="0"/>
              </a:spcBef>
              <a:buSzPct val="100000"/>
              <a:defRPr sz="4800"/>
            </a:lvl6pPr>
            <a:lvl7pPr lvl="6" algn="ctr">
              <a:spcBef>
                <a:spcPts val="0"/>
              </a:spcBef>
              <a:buSzPct val="100000"/>
              <a:defRPr sz="4800"/>
            </a:lvl7pPr>
            <a:lvl8pPr lvl="7" algn="ctr">
              <a:spcBef>
                <a:spcPts val="0"/>
              </a:spcBef>
              <a:buSzPct val="100000"/>
              <a:defRPr sz="4800"/>
            </a:lvl8pPr>
            <a:lvl9pPr lvl="8" algn="ctr">
              <a:spcBef>
                <a:spcPts val="0"/>
              </a:spcBef>
              <a:buSzPct val="100000"/>
              <a:defRPr sz="4800"/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2"/>
          </p:nvPr>
        </p:nvSpPr>
        <p:spPr>
          <a:xfrm>
            <a:off x="48324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 txBox="1">
            <a:spLocks noGrp="1"/>
          </p:cNvSpPr>
          <p:nvPr>
            <p:ph type="title"/>
          </p:nvPr>
        </p:nvSpPr>
        <p:spPr>
          <a:xfrm>
            <a:off x="304800" y="412467"/>
            <a:ext cx="8537700" cy="997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4000"/>
            </a:lvl1pPr>
            <a:lvl2pPr lvl="1">
              <a:spcBef>
                <a:spcPts val="0"/>
              </a:spcBef>
              <a:buSzPct val="100000"/>
              <a:defRPr sz="4000"/>
            </a:lvl2pPr>
            <a:lvl3pPr lvl="2">
              <a:spcBef>
                <a:spcPts val="0"/>
              </a:spcBef>
              <a:buSzPct val="100000"/>
              <a:defRPr sz="4000"/>
            </a:lvl3pPr>
            <a:lvl4pPr lvl="3">
              <a:spcBef>
                <a:spcPts val="0"/>
              </a:spcBef>
              <a:buSzPct val="100000"/>
              <a:defRPr sz="4000"/>
            </a:lvl4pPr>
            <a:lvl5pPr lvl="4">
              <a:spcBef>
                <a:spcPts val="0"/>
              </a:spcBef>
              <a:buSzPct val="100000"/>
              <a:defRPr sz="4000"/>
            </a:lvl5pPr>
            <a:lvl6pPr lvl="5">
              <a:spcBef>
                <a:spcPts val="0"/>
              </a:spcBef>
              <a:buSzPct val="100000"/>
              <a:defRPr sz="4000"/>
            </a:lvl6pPr>
            <a:lvl7pPr lvl="6">
              <a:spcBef>
                <a:spcPts val="0"/>
              </a:spcBef>
              <a:buSzPct val="100000"/>
              <a:defRPr sz="4000"/>
            </a:lvl7pPr>
            <a:lvl8pPr lvl="7">
              <a:spcBef>
                <a:spcPts val="0"/>
              </a:spcBef>
              <a:buSzPct val="100000"/>
              <a:defRPr sz="4000"/>
            </a:lvl8pPr>
            <a:lvl9pPr lvl="8">
              <a:spcBef>
                <a:spcPts val="0"/>
              </a:spcBef>
              <a:buSzPct val="100000"/>
              <a:defRPr sz="4000"/>
            </a:lvl9pPr>
          </a:lstStyle>
          <a:p>
            <a:endParaRPr/>
          </a:p>
        </p:txBody>
      </p:sp>
      <p:sp>
        <p:nvSpPr>
          <p:cNvPr id="32" name="Shape 3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 column 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3000"/>
            </a:lvl1pPr>
            <a:lvl2pPr lvl="1">
              <a:spcBef>
                <a:spcPts val="0"/>
              </a:spcBef>
              <a:buSzPct val="100000"/>
              <a:defRPr sz="3000"/>
            </a:lvl2pPr>
            <a:lvl3pPr lvl="2">
              <a:spcBef>
                <a:spcPts val="0"/>
              </a:spcBef>
              <a:buSzPct val="100000"/>
              <a:defRPr sz="3000"/>
            </a:lvl3pPr>
            <a:lvl4pPr lvl="3">
              <a:spcBef>
                <a:spcPts val="0"/>
              </a:spcBef>
              <a:buSzPct val="100000"/>
              <a:defRPr sz="3000"/>
            </a:lvl4pPr>
            <a:lvl5pPr lvl="4">
              <a:spcBef>
                <a:spcPts val="0"/>
              </a:spcBef>
              <a:buSzPct val="100000"/>
              <a:defRPr sz="3000"/>
            </a:lvl5pPr>
            <a:lvl6pPr lvl="5">
              <a:spcBef>
                <a:spcPts val="0"/>
              </a:spcBef>
              <a:buSzPct val="100000"/>
              <a:defRPr sz="3000"/>
            </a:lvl6pPr>
            <a:lvl7pPr lvl="6">
              <a:spcBef>
                <a:spcPts val="0"/>
              </a:spcBef>
              <a:buSzPct val="100000"/>
              <a:defRPr sz="3000"/>
            </a:lvl7pPr>
            <a:lvl8pPr lvl="7">
              <a:spcBef>
                <a:spcPts val="0"/>
              </a:spcBef>
              <a:buSzPct val="100000"/>
              <a:defRPr sz="3000"/>
            </a:lvl8pPr>
            <a:lvl9pPr lvl="8">
              <a:spcBef>
                <a:spcPts val="0"/>
              </a:spcBef>
              <a:buSzPct val="100000"/>
              <a:defRPr sz="30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2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 point">
    <p:bg>
      <p:bgPr>
        <a:solidFill>
          <a:schemeClr val="accent4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 txBox="1">
            <a:spLocks noGrp="1"/>
          </p:cNvSpPr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>
                <a:solidFill>
                  <a:schemeClr val="lt1"/>
                </a:solidFill>
              </a:rPr>
              <a:t>‹#›</a:t>
            </a:fld>
            <a:endParaRPr lang="en-US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nd 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42" name="Shape 42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265500" y="1441867"/>
            <a:ext cx="4045200" cy="22803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SzPct val="100000"/>
              <a:defRPr sz="5400"/>
            </a:lvl1pPr>
            <a:lvl2pPr lvl="1" algn="ctr">
              <a:spcBef>
                <a:spcPts val="0"/>
              </a:spcBef>
              <a:buSzPct val="100000"/>
              <a:defRPr sz="5400"/>
            </a:lvl2pPr>
            <a:lvl3pPr lvl="2" algn="ctr">
              <a:spcBef>
                <a:spcPts val="0"/>
              </a:spcBef>
              <a:buSzPct val="100000"/>
              <a:defRPr sz="5400"/>
            </a:lvl3pPr>
            <a:lvl4pPr lvl="3" algn="ctr">
              <a:spcBef>
                <a:spcPts val="0"/>
              </a:spcBef>
              <a:buSzPct val="100000"/>
              <a:defRPr sz="5400"/>
            </a:lvl4pPr>
            <a:lvl5pPr lvl="4" algn="ctr">
              <a:spcBef>
                <a:spcPts val="0"/>
              </a:spcBef>
              <a:buSzPct val="100000"/>
              <a:defRPr sz="5400"/>
            </a:lvl5pPr>
            <a:lvl6pPr lvl="5" algn="ctr">
              <a:spcBef>
                <a:spcPts val="0"/>
              </a:spcBef>
              <a:buSzPct val="100000"/>
              <a:defRPr sz="5400"/>
            </a:lvl6pPr>
            <a:lvl7pPr lvl="6" algn="ctr">
              <a:spcBef>
                <a:spcPts val="0"/>
              </a:spcBef>
              <a:buSzPct val="100000"/>
              <a:defRPr sz="5400"/>
            </a:lvl7pPr>
            <a:lvl8pPr lvl="7" algn="ctr">
              <a:spcBef>
                <a:spcPts val="0"/>
              </a:spcBef>
              <a:buSzPct val="100000"/>
              <a:defRPr sz="5400"/>
            </a:lvl8pPr>
            <a:lvl9pPr lvl="8" algn="ctr">
              <a:spcBef>
                <a:spcPts val="0"/>
              </a:spcBef>
              <a:buSzPct val="100000"/>
              <a:defRPr sz="54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subTitle" idx="1"/>
          </p:nvPr>
        </p:nvSpPr>
        <p:spPr>
          <a:xfrm>
            <a:off x="265500" y="3793630"/>
            <a:ext cx="4045200" cy="1794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 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title"/>
          </p:nvPr>
        </p:nvSpPr>
        <p:spPr>
          <a:xfrm>
            <a:off x="311700" y="1653700"/>
            <a:ext cx="8520600" cy="26424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1"/>
          </p:nvPr>
        </p:nvSpPr>
        <p:spPr>
          <a:xfrm>
            <a:off x="311700" y="4406167"/>
            <a:ext cx="8520600" cy="1734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457200" marR="0" lvl="5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914400" marR="0" lvl="6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371600" marR="0" lvl="7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828800" marR="0" lvl="8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228600" marR="0" lvl="0" indent="-101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dt" idx="10"/>
          </p:nvPr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ftr" idx="11"/>
          </p:nvPr>
        </p:nvSpPr>
        <p:spPr>
          <a:xfrm>
            <a:off x="4114800" y="6553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0"/>
            <a:ext cx="91440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8000"/>
            </a:lvl1pPr>
            <a:lvl2pPr lvl="1" algn="ctr">
              <a:spcBef>
                <a:spcPts val="0"/>
              </a:spcBef>
              <a:buSzPct val="100000"/>
              <a:defRPr sz="8000"/>
            </a:lvl2pPr>
            <a:lvl3pPr lvl="2" algn="ctr">
              <a:spcBef>
                <a:spcPts val="0"/>
              </a:spcBef>
              <a:buSzPct val="100000"/>
              <a:defRPr sz="8000"/>
            </a:lvl3pPr>
            <a:lvl4pPr lvl="3" algn="ctr">
              <a:spcBef>
                <a:spcPts val="0"/>
              </a:spcBef>
              <a:buSzPct val="100000"/>
              <a:defRPr sz="8000"/>
            </a:lvl4pPr>
            <a:lvl5pPr lvl="4" algn="ctr">
              <a:spcBef>
                <a:spcPts val="0"/>
              </a:spcBef>
              <a:buSzPct val="100000"/>
              <a:defRPr sz="8000"/>
            </a:lvl5pPr>
            <a:lvl6pPr lvl="5" algn="ctr">
              <a:spcBef>
                <a:spcPts val="0"/>
              </a:spcBef>
              <a:buSzPct val="100000"/>
              <a:defRPr sz="8000"/>
            </a:lvl6pPr>
            <a:lvl7pPr lvl="6" algn="ctr">
              <a:spcBef>
                <a:spcPts val="0"/>
              </a:spcBef>
              <a:buSzPct val="100000"/>
              <a:defRPr sz="8000"/>
            </a:lvl7pPr>
            <a:lvl8pPr lvl="7" algn="ctr">
              <a:spcBef>
                <a:spcPts val="0"/>
              </a:spcBef>
              <a:buSzPct val="100000"/>
              <a:defRPr sz="8000"/>
            </a:lvl8pPr>
            <a:lvl9pPr lvl="8" algn="ctr">
              <a:spcBef>
                <a:spcPts val="0"/>
              </a:spcBef>
              <a:buSzPct val="100000"/>
              <a:defRPr sz="8000"/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ubTitle" idx="1"/>
          </p:nvPr>
        </p:nvSpPr>
        <p:spPr>
          <a:xfrm>
            <a:off x="311700" y="5187200"/>
            <a:ext cx="8520600" cy="9417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147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ach-day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r">
              <a:spcBef>
                <a:spcPts val="0"/>
              </a:spcBef>
              <a:buNone/>
            </a:pPr>
            <a:fld id="{00000000-1234-1234-1234-123412341234}" type="slidenum">
              <a:rPr lang="en-US"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‹#›</a:t>
            </a:fld>
            <a:endParaRPr lang="en-US" sz="1000">
              <a:solidFill>
                <a:schemeClr val="accent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ilyaro/git_gitlab_best_practices/-/blob/master/Commands.md" TargetMode="External"/><Relationship Id="rId2" Type="http://schemas.openxmlformats.org/officeDocument/2006/relationships/hyperlink" Target="https://gitlab.com/ilyaro/git_gitlab_best_practices" TargetMode="Externa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datreeio/node-datreeio/commits/master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ilyaro/demo-be/pipelines" TargetMode="External"/><Relationship Id="rId2" Type="http://schemas.openxmlformats.org/officeDocument/2006/relationships/hyperlink" Target="https://docs.gitlab.com/ee/ci/yaml/" TargetMode="External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lyaro/git_best_practices_ppt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Relationship Id="rId4" Type="http://schemas.openxmlformats.org/officeDocument/2006/relationships/hyperlink" Target="mailto:rokhkin_ilya@yahoo.com" TargetMode="Externa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Merriweather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Git and GitLab Best Practices</a:t>
            </a:r>
          </a:p>
        </p:txBody>
      </p:sp>
      <p:sp>
        <p:nvSpPr>
          <p:cNvPr id="67" name="Shape 67"/>
          <p:cNvSpPr txBox="1">
            <a:spLocks noGrp="1"/>
          </p:cNvSpPr>
          <p:nvPr>
            <p:ph type="subTitle" idx="1"/>
          </p:nvPr>
        </p:nvSpPr>
        <p:spPr>
          <a:xfrm>
            <a:off x="1600200" y="4724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 you really use Git and Gitlab efficiently?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Ilya Rokhkin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2023</a:t>
            </a:r>
            <a:endParaRPr lang="en-US" sz="2000" b="0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sz="quarter" idx="4294967295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26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– meaning?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09600" y="2514600"/>
            <a:ext cx="8229600" cy="1676400"/>
          </a:xfrm>
        </p:spPr>
        <p:txBody>
          <a:bodyPr/>
          <a:lstStyle/>
          <a:p>
            <a:pPr marL="127000" indent="0">
              <a:buNone/>
            </a:pPr>
            <a:r>
              <a:rPr lang="en-US" sz="4000" dirty="0"/>
              <a:t>What does the word Git means?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38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79"/>
          <p:cNvSpPr txBox="1"/>
          <p:nvPr/>
        </p:nvSpPr>
        <p:spPr>
          <a:xfrm>
            <a:off x="153897" y="228600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 dirty="0">
                <a:solidFill>
                  <a:schemeClr val="dk2"/>
                </a:solidFill>
              </a:rPr>
              <a:t>GIT Overview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57" y="965250"/>
            <a:ext cx="8553450" cy="2476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3841844"/>
            <a:ext cx="6820072" cy="2558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145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 txBox="1">
            <a:spLocks noGrp="1"/>
          </p:cNvSpPr>
          <p:nvPr>
            <p:ph type="title"/>
          </p:nvPr>
        </p:nvSpPr>
        <p:spPr>
          <a:xfrm>
            <a:off x="607062" y="86475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Commit Object</a:t>
            </a:r>
          </a:p>
        </p:txBody>
      </p:sp>
      <p:sp>
        <p:nvSpPr>
          <p:cNvPr id="137" name="Shape 13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38" name="Shape 13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Shape 13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07050" y="603700"/>
            <a:ext cx="8146500" cy="617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14600"/>
          </a:xfrm>
        </p:spPr>
        <p:txBody>
          <a:bodyPr/>
          <a:lstStyle/>
          <a:p>
            <a:r>
              <a:rPr lang="en-US" dirty="0"/>
              <a:t>About myself: Ilya Rokhkin </a:t>
            </a:r>
            <a:br>
              <a:rPr lang="en-US" dirty="0"/>
            </a:br>
            <a:r>
              <a:rPr lang="en-US" dirty="0"/>
              <a:t>- </a:t>
            </a:r>
            <a:r>
              <a:rPr lang="en-US" sz="2800" dirty="0"/>
              <a:t>20+ years experience in Version Control Systems</a:t>
            </a:r>
            <a:br>
              <a:rPr lang="en-US" sz="2800" dirty="0"/>
            </a:br>
            <a:r>
              <a:rPr lang="en-US" sz="2800" dirty="0"/>
              <a:t>- Official Git trainer in CKP, Intel, Marvell.</a:t>
            </a:r>
            <a:br>
              <a:rPr lang="en-US" sz="2800" dirty="0"/>
            </a:br>
            <a:r>
              <a:rPr lang="en-US" sz="2800" dirty="0"/>
              <a:t>- Freelance Git trainer.</a:t>
            </a:r>
            <a:br>
              <a:rPr lang="en-US" sz="2800" dirty="0"/>
            </a:br>
            <a:r>
              <a:rPr lang="en-US" sz="2800" dirty="0"/>
              <a:t>- Volunteer as Hebrew teacher in “</a:t>
            </a:r>
            <a:r>
              <a:rPr lang="en-US" sz="2800" dirty="0" err="1"/>
              <a:t>Ulpan</a:t>
            </a:r>
            <a:r>
              <a:rPr lang="en-US" sz="2800" dirty="0"/>
              <a:t>” 10+ years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625" y="2514600"/>
            <a:ext cx="5238750" cy="421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77792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0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Agenda:</a:t>
            </a:r>
          </a:p>
        </p:txBody>
      </p:sp>
      <p:sp>
        <p:nvSpPr>
          <p:cNvPr id="73" name="Shape 73"/>
          <p:cNvSpPr txBox="1">
            <a:spLocks noGrp="1"/>
          </p:cNvSpPr>
          <p:nvPr>
            <p:ph type="body" idx="1"/>
          </p:nvPr>
        </p:nvSpPr>
        <p:spPr>
          <a:xfrm>
            <a:off x="304800" y="1524000"/>
            <a:ext cx="8458200" cy="304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0"/>
              </a:spcBef>
              <a:buClrTx/>
              <a:buFont typeface="+mj-lt"/>
              <a:buAutoNum type="arabicPeriod"/>
            </a:pPr>
            <a:r>
              <a:rPr lang="en-US" sz="3200" b="0" i="0" u="none" strike="noStrike" cap="none" dirty="0">
                <a:solidFill>
                  <a:schemeClr val="bg2"/>
                </a:solidFill>
                <a:sym typeface="Arial"/>
              </a:rPr>
              <a:t>Git + GitLab best practices in a workflow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ClrTx/>
              <a:buFont typeface="+mj-lt"/>
              <a:buAutoNum type="arabicPeriod"/>
            </a:pPr>
            <a:r>
              <a:rPr lang="en-US" sz="3200" dirty="0">
                <a:solidFill>
                  <a:schemeClr val="bg2"/>
                </a:solidFill>
              </a:rPr>
              <a:t>Git + GitLab best practices hands on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ClrTx/>
              <a:buFont typeface="+mj-lt"/>
              <a:buAutoNum type="arabicPeriod"/>
            </a:pPr>
            <a:r>
              <a:rPr lang="en-US" sz="3200" dirty="0">
                <a:solidFill>
                  <a:schemeClr val="bg2"/>
                </a:solidFill>
              </a:rPr>
              <a:t>GitLab Best practices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ClrTx/>
              <a:buFont typeface="+mj-lt"/>
              <a:buAutoNum type="arabicPeriod"/>
            </a:pPr>
            <a:r>
              <a:rPr lang="en-US" sz="3200" dirty="0">
                <a:solidFill>
                  <a:schemeClr val="bg2"/>
                </a:solidFill>
              </a:rPr>
              <a:t>GitLab CI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3999" cy="1828800"/>
          </a:xfrm>
        </p:spPr>
        <p:txBody>
          <a:bodyPr/>
          <a:lstStyle/>
          <a:p>
            <a:pPr lvl="0"/>
            <a:r>
              <a:rPr lang="en-US" sz="3600" dirty="0">
                <a:solidFill>
                  <a:srgbClr val="5E5E5E"/>
                </a:solidFill>
              </a:rPr>
              <a:t>1. Git + GitLab best practices in work flow.</a:t>
            </a:r>
            <a:br>
              <a:rPr lang="en-US" sz="3600" dirty="0">
                <a:solidFill>
                  <a:srgbClr val="5E5E5E"/>
                </a:solidFill>
              </a:rPr>
            </a:br>
            <a:r>
              <a:rPr lang="en-US" sz="3600" dirty="0">
                <a:solidFill>
                  <a:srgbClr val="5E5E5E"/>
                </a:solidFill>
              </a:rPr>
              <a:t>Best practice: 1 Commit per Jira issue in main branches</a:t>
            </a:r>
            <a:br>
              <a:rPr lang="en-US" sz="3600" dirty="0">
                <a:solidFill>
                  <a:srgbClr val="5E5E5E"/>
                </a:solidFill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Shape 191"/>
          <p:cNvSpPr/>
          <p:nvPr/>
        </p:nvSpPr>
        <p:spPr>
          <a:xfrm>
            <a:off x="714330" y="3548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6" name="Shape 192"/>
          <p:cNvSpPr/>
          <p:nvPr/>
        </p:nvSpPr>
        <p:spPr>
          <a:xfrm>
            <a:off x="1897555" y="3548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7" name="Shape 194"/>
          <p:cNvCxnSpPr>
            <a:stCxn id="6" idx="1"/>
            <a:endCxn id="5" idx="3"/>
          </p:cNvCxnSpPr>
          <p:nvPr/>
        </p:nvCxnSpPr>
        <p:spPr>
          <a:xfrm rot="10800000">
            <a:off x="1488955" y="372575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" name="Shape 202"/>
          <p:cNvSpPr txBox="1"/>
          <p:nvPr/>
        </p:nvSpPr>
        <p:spPr>
          <a:xfrm>
            <a:off x="152400" y="2248438"/>
            <a:ext cx="2281125" cy="381001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9" name="Shape 208"/>
          <p:cNvSpPr/>
          <p:nvPr/>
        </p:nvSpPr>
        <p:spPr>
          <a:xfrm>
            <a:off x="5421507" y="2911077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10" name="Shape 209"/>
          <p:cNvCxnSpPr>
            <a:stCxn id="9" idx="2"/>
            <a:endCxn id="13" idx="0"/>
          </p:cNvCxnSpPr>
          <p:nvPr/>
        </p:nvCxnSpPr>
        <p:spPr>
          <a:xfrm flipH="1">
            <a:off x="4712598" y="3165777"/>
            <a:ext cx="1140609" cy="3639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" name="Shape 198"/>
          <p:cNvSpPr/>
          <p:nvPr/>
        </p:nvSpPr>
        <p:spPr>
          <a:xfrm>
            <a:off x="3105786" y="35285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12" name="Shape 200"/>
          <p:cNvCxnSpPr>
            <a:stCxn id="11" idx="1"/>
          </p:cNvCxnSpPr>
          <p:nvPr/>
        </p:nvCxnSpPr>
        <p:spPr>
          <a:xfrm flipH="1">
            <a:off x="2639376" y="3706251"/>
            <a:ext cx="466410" cy="19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3" name="Shape 198"/>
          <p:cNvSpPr/>
          <p:nvPr/>
        </p:nvSpPr>
        <p:spPr>
          <a:xfrm>
            <a:off x="4325298" y="35297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14" name="Shape 200"/>
          <p:cNvCxnSpPr>
            <a:stCxn id="13" idx="1"/>
            <a:endCxn id="11" idx="3"/>
          </p:cNvCxnSpPr>
          <p:nvPr/>
        </p:nvCxnSpPr>
        <p:spPr>
          <a:xfrm flipH="1" flipV="1">
            <a:off x="3880386" y="3706251"/>
            <a:ext cx="444912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5" name="Shape 204"/>
          <p:cNvSpPr/>
          <p:nvPr/>
        </p:nvSpPr>
        <p:spPr>
          <a:xfrm>
            <a:off x="4242579" y="293510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FTR-10</a:t>
            </a:r>
          </a:p>
        </p:txBody>
      </p:sp>
      <p:cxnSp>
        <p:nvCxnSpPr>
          <p:cNvPr id="16" name="Shape 205"/>
          <p:cNvCxnSpPr>
            <a:stCxn id="15" idx="2"/>
            <a:endCxn id="13" idx="0"/>
          </p:cNvCxnSpPr>
          <p:nvPr/>
        </p:nvCxnSpPr>
        <p:spPr>
          <a:xfrm>
            <a:off x="4701298" y="3208100"/>
            <a:ext cx="11300" cy="3216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" name="Shape 204"/>
          <p:cNvSpPr/>
          <p:nvPr/>
        </p:nvSpPr>
        <p:spPr>
          <a:xfrm>
            <a:off x="3044491" y="291107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18" name="Shape 205"/>
          <p:cNvCxnSpPr>
            <a:stCxn id="17" idx="2"/>
            <a:endCxn id="11" idx="0"/>
          </p:cNvCxnSpPr>
          <p:nvPr/>
        </p:nvCxnSpPr>
        <p:spPr>
          <a:xfrm flipH="1">
            <a:off x="3493086" y="3184077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" name="Shape 204"/>
          <p:cNvSpPr/>
          <p:nvPr/>
        </p:nvSpPr>
        <p:spPr>
          <a:xfrm>
            <a:off x="1832530" y="291107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20" name="Shape 205"/>
          <p:cNvCxnSpPr/>
          <p:nvPr/>
        </p:nvCxnSpPr>
        <p:spPr>
          <a:xfrm flipH="1">
            <a:off x="2279793" y="3184077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" name="Shape 204"/>
          <p:cNvSpPr/>
          <p:nvPr/>
        </p:nvSpPr>
        <p:spPr>
          <a:xfrm>
            <a:off x="642911" y="293510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22" name="Shape 205"/>
          <p:cNvCxnSpPr/>
          <p:nvPr/>
        </p:nvCxnSpPr>
        <p:spPr>
          <a:xfrm flipH="1">
            <a:off x="1090174" y="3208100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556100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Create new feature branch FTR-10 (Jira) 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0" name="Shape 210"/>
          <p:cNvSpPr txBox="1"/>
          <p:nvPr/>
        </p:nvSpPr>
        <p:spPr>
          <a:xfrm>
            <a:off x="4450675" y="30747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211" name="Shape 211"/>
          <p:cNvSpPr txBox="1"/>
          <p:nvPr/>
        </p:nvSpPr>
        <p:spPr>
          <a:xfrm>
            <a:off x="4260200" y="13568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6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cxnSp>
        <p:nvCxnSpPr>
          <p:cNvPr id="51" name="Shape 205"/>
          <p:cNvCxnSpPr>
            <a:stCxn id="50" idx="0"/>
            <a:endCxn id="192" idx="2"/>
          </p:cNvCxnSpPr>
          <p:nvPr/>
        </p:nvCxnSpPr>
        <p:spPr>
          <a:xfrm flipV="1">
            <a:off x="2281125" y="2677000"/>
            <a:ext cx="0" cy="397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1" name="Shape 204"/>
          <p:cNvSpPr/>
          <p:nvPr/>
        </p:nvSpPr>
        <p:spPr>
          <a:xfrm>
            <a:off x="1485200" y="5638800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cxnSp>
        <p:nvCxnSpPr>
          <p:cNvPr id="62" name="Shape 205"/>
          <p:cNvCxnSpPr/>
          <p:nvPr/>
        </p:nvCxnSpPr>
        <p:spPr>
          <a:xfrm flipV="1">
            <a:off x="2059725" y="5254120"/>
            <a:ext cx="0" cy="38468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1640625" y="6115441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0"/>
          </p:cNvCxnSpPr>
          <p:nvPr/>
        </p:nvCxnSpPr>
        <p:spPr>
          <a:xfrm flipH="1" flipV="1">
            <a:off x="2052220" y="5866957"/>
            <a:ext cx="7505" cy="24848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TextBox 1"/>
          <p:cNvSpPr txBox="1"/>
          <p:nvPr/>
        </p:nvSpPr>
        <p:spPr>
          <a:xfrm>
            <a:off x="5578126" y="3866968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Clone + checkout feature branch FTR-10</a:t>
            </a:r>
          </a:p>
        </p:txBody>
      </p:sp>
      <p:sp>
        <p:nvSpPr>
          <p:cNvPr id="28" name="Shape 204"/>
          <p:cNvSpPr/>
          <p:nvPr/>
        </p:nvSpPr>
        <p:spPr>
          <a:xfrm>
            <a:off x="2746238" y="167640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29" name="Shape 205"/>
          <p:cNvCxnSpPr>
            <a:stCxn id="28" idx="2"/>
          </p:cNvCxnSpPr>
          <p:nvPr/>
        </p:nvCxnSpPr>
        <p:spPr>
          <a:xfrm flipH="1">
            <a:off x="2276063" y="1949400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" name="Shape 204"/>
          <p:cNvSpPr/>
          <p:nvPr/>
        </p:nvSpPr>
        <p:spPr>
          <a:xfrm>
            <a:off x="639181" y="1700423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32" name="Shape 205"/>
          <p:cNvCxnSpPr/>
          <p:nvPr/>
        </p:nvCxnSpPr>
        <p:spPr>
          <a:xfrm flipH="1">
            <a:off x="1086444" y="1973423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3358854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11500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Checkout local branch lcl-10, </a:t>
            </a:r>
            <a:br>
              <a:rPr lang="en-US" dirty="0"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save-&gt;auto commit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1" name="Shape 212"/>
          <p:cNvSpPr/>
          <p:nvPr/>
        </p:nvSpPr>
        <p:spPr>
          <a:xfrm>
            <a:off x="2910679" y="6477288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cxnSpLocks/>
            <a:stCxn id="31" idx="0"/>
            <a:endCxn id="46" idx="2"/>
          </p:cNvCxnSpPr>
          <p:nvPr/>
        </p:nvCxnSpPr>
        <p:spPr>
          <a:xfrm flipV="1">
            <a:off x="3329779" y="6269726"/>
            <a:ext cx="36942" cy="2075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" name="Shape 205"/>
          <p:cNvCxnSpPr/>
          <p:nvPr/>
        </p:nvCxnSpPr>
        <p:spPr>
          <a:xfrm flipV="1">
            <a:off x="3261491" y="5749002"/>
            <a:ext cx="11542" cy="2660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TextBox 1"/>
          <p:cNvSpPr txBox="1"/>
          <p:nvPr/>
        </p:nvSpPr>
        <p:spPr>
          <a:xfrm>
            <a:off x="5776850" y="3962400"/>
            <a:ext cx="3015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Changing files Save -&gt; auto commit</a:t>
            </a:r>
          </a:p>
        </p:txBody>
      </p:sp>
      <p:sp>
        <p:nvSpPr>
          <p:cNvPr id="33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35" name="Shape 205"/>
          <p:cNvCxnSpPr>
            <a:stCxn id="33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39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0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cxnSp>
        <p:nvCxnSpPr>
          <p:cNvPr id="43" name="Shape 205"/>
          <p:cNvCxnSpPr/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4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46" name="Shape 204"/>
          <p:cNvSpPr/>
          <p:nvPr/>
        </p:nvSpPr>
        <p:spPr>
          <a:xfrm>
            <a:off x="2800333" y="6015026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cxnSp>
        <p:nvCxnSpPr>
          <p:cNvPr id="48" name="Shape 205"/>
          <p:cNvCxnSpPr/>
          <p:nvPr/>
        </p:nvCxnSpPr>
        <p:spPr>
          <a:xfrm flipV="1">
            <a:off x="2301843" y="2677000"/>
            <a:ext cx="0" cy="38468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3358854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Save -&gt; auto commit, tag important changes: working1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6" name="Shape 204"/>
          <p:cNvSpPr/>
          <p:nvPr/>
        </p:nvSpPr>
        <p:spPr>
          <a:xfrm>
            <a:off x="1249050" y="4268738"/>
            <a:ext cx="1368925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origin/FTR-10</a:t>
            </a:r>
          </a:p>
        </p:txBody>
      </p: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51" name="Shape 205"/>
          <p:cNvCxnSpPr>
            <a:endCxn id="192" idx="2"/>
          </p:cNvCxnSpPr>
          <p:nvPr/>
        </p:nvCxnSpPr>
        <p:spPr>
          <a:xfrm flipV="1">
            <a:off x="2281125" y="2677000"/>
            <a:ext cx="0" cy="397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" name="TextBox 42"/>
          <p:cNvSpPr txBox="1"/>
          <p:nvPr/>
        </p:nvSpPr>
        <p:spPr>
          <a:xfrm>
            <a:off x="5765044" y="4018518"/>
            <a:ext cx="272222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Each save -&gt; auto commit</a:t>
            </a:r>
          </a:p>
          <a:p>
            <a:endParaRPr lang="en-US" dirty="0"/>
          </a:p>
          <a:p>
            <a:r>
              <a:rPr lang="en-US" dirty="0"/>
              <a:t>Tag working commits: </a:t>
            </a:r>
            <a:r>
              <a:rPr lang="en-US" dirty="0" err="1"/>
              <a:t>workingN</a:t>
            </a:r>
            <a:endParaRPr lang="en-US" dirty="0"/>
          </a:p>
        </p:txBody>
      </p:sp>
      <p:sp>
        <p:nvSpPr>
          <p:cNvPr id="46" name="Shape 204"/>
          <p:cNvSpPr/>
          <p:nvPr/>
        </p:nvSpPr>
        <p:spPr>
          <a:xfrm>
            <a:off x="3897956" y="479294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47" name="Shape 205"/>
          <p:cNvCxnSpPr>
            <a:stCxn id="46" idx="2"/>
            <a:endCxn id="39" idx="0"/>
          </p:cNvCxnSpPr>
          <p:nvPr/>
        </p:nvCxnSpPr>
        <p:spPr>
          <a:xfrm flipH="1">
            <a:off x="4345499" y="5065942"/>
            <a:ext cx="11176" cy="3421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8" name="Shape 212"/>
          <p:cNvSpPr/>
          <p:nvPr/>
        </p:nvSpPr>
        <p:spPr>
          <a:xfrm>
            <a:off x="4027123" y="6493299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52" name="Shape 205"/>
          <p:cNvCxnSpPr>
            <a:stCxn id="48" idx="0"/>
          </p:cNvCxnSpPr>
          <p:nvPr/>
        </p:nvCxnSpPr>
        <p:spPr>
          <a:xfrm flipH="1" flipV="1">
            <a:off x="4438718" y="6244815"/>
            <a:ext cx="7505" cy="24848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53" name="Shape 205"/>
          <p:cNvCxnSpPr/>
          <p:nvPr/>
        </p:nvCxnSpPr>
        <p:spPr>
          <a:xfrm flipV="1">
            <a:off x="4377935" y="5765013"/>
            <a:ext cx="11542" cy="2660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4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55" name="Shape 205"/>
          <p:cNvCxnSpPr>
            <a:stCxn id="54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6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57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4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45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58" name="Shape 204"/>
          <p:cNvSpPr/>
          <p:nvPr/>
        </p:nvSpPr>
        <p:spPr>
          <a:xfrm>
            <a:off x="3823089" y="6031037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2" name="Shape 204">
            <a:extLst>
              <a:ext uri="{FF2B5EF4-FFF2-40B4-BE49-F238E27FC236}">
                <a16:creationId xmlns:a16="http://schemas.microsoft.com/office/drawing/2014/main" id="{DF3B1B67-FAE3-EA4A-9821-5F51BBAB4845}"/>
              </a:ext>
            </a:extLst>
          </p:cNvPr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3" name="Shape 205">
            <a:extLst>
              <a:ext uri="{FF2B5EF4-FFF2-40B4-BE49-F238E27FC236}">
                <a16:creationId xmlns:a16="http://schemas.microsoft.com/office/drawing/2014/main" id="{456BA669-CFE9-A8B0-154A-41BD56A97DBC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1903803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Making how many auto commits as needed, tagging as needed working2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cxnSpLocks/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51" name="Shape 205"/>
          <p:cNvCxnSpPr>
            <a:endCxn id="192" idx="2"/>
          </p:cNvCxnSpPr>
          <p:nvPr/>
        </p:nvCxnSpPr>
        <p:spPr>
          <a:xfrm flipV="1">
            <a:off x="2281125" y="2677000"/>
            <a:ext cx="0" cy="397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278426" y="6477288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0"/>
          </p:cNvCxnSpPr>
          <p:nvPr/>
        </p:nvCxnSpPr>
        <p:spPr>
          <a:xfrm flipH="1" flipV="1">
            <a:off x="5690021" y="6228804"/>
            <a:ext cx="7505" cy="24848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" name="Shape 205"/>
          <p:cNvCxnSpPr/>
          <p:nvPr/>
        </p:nvCxnSpPr>
        <p:spPr>
          <a:xfrm flipV="1">
            <a:off x="5629238" y="5749002"/>
            <a:ext cx="11542" cy="2660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" name="TextBox 42"/>
          <p:cNvSpPr txBox="1"/>
          <p:nvPr/>
        </p:nvSpPr>
        <p:spPr>
          <a:xfrm>
            <a:off x="6417600" y="3732667"/>
            <a:ext cx="2621230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Changing files + auto commit</a:t>
            </a:r>
            <a:br>
              <a:rPr lang="en-US" dirty="0"/>
            </a:br>
            <a:r>
              <a:rPr lang="en-US" dirty="0"/>
              <a:t>Each save -&gt; auto commit</a:t>
            </a:r>
            <a:br>
              <a:rPr lang="en-US" dirty="0"/>
            </a:br>
            <a:r>
              <a:rPr lang="en-US" dirty="0"/>
              <a:t>git tag working2</a:t>
            </a:r>
          </a:p>
          <a:p>
            <a:br>
              <a:rPr lang="en-US" dirty="0"/>
            </a:br>
            <a:r>
              <a:rPr lang="en-US" dirty="0"/>
              <a:t>For backup you can also push </a:t>
            </a:r>
            <a:br>
              <a:rPr lang="en-US" dirty="0"/>
            </a:br>
            <a:r>
              <a:rPr lang="en-US" dirty="0"/>
              <a:t>all commits to remote repo </a:t>
            </a:r>
            <a:br>
              <a:rPr lang="en-US" dirty="0"/>
            </a:br>
            <a:endParaRPr lang="en-US" dirty="0"/>
          </a:p>
          <a:p>
            <a:r>
              <a:rPr lang="en-US" dirty="0"/>
              <a:t>git push origin</a:t>
            </a:r>
          </a:p>
        </p:txBody>
      </p:sp>
      <p:sp>
        <p:nvSpPr>
          <p:cNvPr id="46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47" name="Shape 205"/>
          <p:cNvCxnSpPr>
            <a:stCxn id="46" idx="0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4" name="Shape 204"/>
          <p:cNvSpPr/>
          <p:nvPr/>
        </p:nvSpPr>
        <p:spPr>
          <a:xfrm>
            <a:off x="5199188" y="488460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48" name="Shape 205"/>
          <p:cNvCxnSpPr/>
          <p:nvPr/>
        </p:nvCxnSpPr>
        <p:spPr>
          <a:xfrm>
            <a:off x="5640780" y="5157608"/>
            <a:ext cx="0" cy="28885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9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52" name="Shape 205"/>
          <p:cNvCxnSpPr>
            <a:stCxn id="49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54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6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57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58" name="Shape 204"/>
          <p:cNvSpPr/>
          <p:nvPr/>
        </p:nvSpPr>
        <p:spPr>
          <a:xfrm>
            <a:off x="5199188" y="6026665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3898289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Merge --squash lcl-10 to fix/FTR-10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51" name="Shape 205"/>
          <p:cNvCxnSpPr>
            <a:endCxn id="192" idx="2"/>
          </p:cNvCxnSpPr>
          <p:nvPr/>
        </p:nvCxnSpPr>
        <p:spPr>
          <a:xfrm flipV="1">
            <a:off x="2281125" y="2677000"/>
            <a:ext cx="0" cy="397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 flipH="1">
            <a:off x="6263796" y="4582869"/>
            <a:ext cx="7717" cy="3157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856057" y="366095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</p:cNvCxnSpPr>
          <p:nvPr/>
        </p:nvCxnSpPr>
        <p:spPr>
          <a:xfrm flipH="1">
            <a:off x="6271513" y="4016450"/>
            <a:ext cx="3644" cy="26583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" name="TextBox 42"/>
          <p:cNvSpPr txBox="1"/>
          <p:nvPr/>
        </p:nvSpPr>
        <p:spPr>
          <a:xfrm>
            <a:off x="5852412" y="838200"/>
            <a:ext cx="286884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Squash to 1 commit in FTR-10 branch</a:t>
            </a:r>
          </a:p>
          <a:p>
            <a:endParaRPr lang="en-US" dirty="0"/>
          </a:p>
          <a:p>
            <a:r>
              <a:rPr lang="en-US" dirty="0"/>
              <a:t>git reset –soft origin/master</a:t>
            </a:r>
            <a:br>
              <a:rPr lang="en-US" dirty="0"/>
            </a:br>
            <a:r>
              <a:rPr lang="en-US" dirty="0"/>
              <a:t>git commit -m “My awesome commit message” </a:t>
            </a:r>
          </a:p>
          <a:p>
            <a:endParaRPr lang="en-US" dirty="0"/>
          </a:p>
          <a:p>
            <a:r>
              <a:rPr lang="en-US" dirty="0"/>
              <a:t>(Possibly Rebase origin/master)</a:t>
            </a:r>
            <a:br>
              <a:rPr lang="en-US" dirty="0"/>
            </a:br>
            <a:r>
              <a:rPr lang="en-US" dirty="0"/>
              <a:t>git fetch origin</a:t>
            </a:r>
          </a:p>
          <a:p>
            <a:r>
              <a:rPr lang="en-US" dirty="0"/>
              <a:t>git rebase origin/master</a:t>
            </a:r>
          </a:p>
        </p:txBody>
      </p: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6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97" name="Shape 205"/>
          <p:cNvCxnSpPr>
            <a:stCxn id="96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8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99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48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49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4061388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Push -&gt; trigger CI, remove branch lcl-10 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>
            <a:off x="6225199" y="4541738"/>
            <a:ext cx="38597" cy="35688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804297" y="366095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</p:cNvCxnSpPr>
          <p:nvPr/>
        </p:nvCxnSpPr>
        <p:spPr>
          <a:xfrm>
            <a:off x="6223397" y="4016450"/>
            <a:ext cx="1802" cy="2522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5250050" y="6388491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cxnSpLocks/>
          </p:cNvCxnSpPr>
          <p:nvPr/>
        </p:nvCxnSpPr>
        <p:spPr>
          <a:xfrm flipV="1">
            <a:off x="5666180" y="5763543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91965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251232" cy="46487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9" name="Shape 205"/>
          <p:cNvCxnSpPr>
            <a:endCxn id="46" idx="0"/>
          </p:cNvCxnSpPr>
          <p:nvPr/>
        </p:nvCxnSpPr>
        <p:spPr>
          <a:xfrm>
            <a:off x="6306957" y="2549693"/>
            <a:ext cx="0" cy="23668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4" name="Elbow Connector 13"/>
          <p:cNvCxnSpPr>
            <a:stCxn id="35" idx="0"/>
          </p:cNvCxnSpPr>
          <p:nvPr/>
        </p:nvCxnSpPr>
        <p:spPr>
          <a:xfrm rot="16200000" flipV="1">
            <a:off x="5748812" y="4383635"/>
            <a:ext cx="183951" cy="8460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>
            <a:endCxn id="46" idx="2"/>
          </p:cNvCxnSpPr>
          <p:nvPr/>
        </p:nvCxnSpPr>
        <p:spPr>
          <a:xfrm rot="5400000" flipH="1" flipV="1">
            <a:off x="5075969" y="3483682"/>
            <a:ext cx="1572794" cy="889181"/>
          </a:xfrm>
          <a:prstGeom prst="bentConnector3">
            <a:avLst>
              <a:gd name="adj1" fmla="val 8111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32799" y="3419341"/>
            <a:ext cx="684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857" y="622831"/>
            <a:ext cx="2221143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Push triggers CI pipeline: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Build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Unit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Static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Code coverage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Snippet, Security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Deploy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</a:t>
            </a:r>
          </a:p>
        </p:txBody>
      </p:sp>
      <p:cxnSp>
        <p:nvCxnSpPr>
          <p:cNvPr id="23" name="Elbow Connector 22"/>
          <p:cNvCxnSpPr>
            <a:stCxn id="46" idx="3"/>
            <a:endCxn id="20" idx="2"/>
          </p:cNvCxnSpPr>
          <p:nvPr/>
        </p:nvCxnSpPr>
        <p:spPr>
          <a:xfrm flipV="1">
            <a:off x="6694257" y="2869600"/>
            <a:ext cx="1339172" cy="94525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4" name="Shape 205"/>
          <p:cNvCxnSpPr>
            <a:stCxn id="73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76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8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79" name="Shape 204"/>
          <p:cNvSpPr/>
          <p:nvPr/>
        </p:nvSpPr>
        <p:spPr>
          <a:xfrm>
            <a:off x="5640780" y="2164286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0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3670459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Open Gitlab MR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 flipH="1">
            <a:off x="6263796" y="4582869"/>
            <a:ext cx="7717" cy="3157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856057" y="366095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</p:cNvCxnSpPr>
          <p:nvPr/>
        </p:nvCxnSpPr>
        <p:spPr>
          <a:xfrm flipH="1">
            <a:off x="6271513" y="4016450"/>
            <a:ext cx="3644" cy="26583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91965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251232" cy="46487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9" name="Shape 205"/>
          <p:cNvCxnSpPr>
            <a:stCxn id="55" idx="2"/>
            <a:endCxn id="46" idx="0"/>
          </p:cNvCxnSpPr>
          <p:nvPr/>
        </p:nvCxnSpPr>
        <p:spPr>
          <a:xfrm>
            <a:off x="6294592" y="2470209"/>
            <a:ext cx="12365" cy="31616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TextBox 19"/>
          <p:cNvSpPr txBox="1"/>
          <p:nvPr/>
        </p:nvSpPr>
        <p:spPr>
          <a:xfrm>
            <a:off x="6922857" y="609600"/>
            <a:ext cx="2221143" cy="5232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Open Merge Request </a:t>
            </a:r>
          </a:p>
          <a:p>
            <a:r>
              <a:rPr lang="en-US" dirty="0">
                <a:solidFill>
                  <a:srgbClr val="000000"/>
                </a:solidFill>
              </a:rPr>
              <a:t>If CI succeeded </a:t>
            </a:r>
            <a:r>
              <a:rPr lang="en-US" b="1" dirty="0">
                <a:solidFill>
                  <a:srgbClr val="000000"/>
                </a:solidFill>
              </a:rPr>
              <a:t>only</a:t>
            </a:r>
          </a:p>
        </p:txBody>
      </p:sp>
      <p:cxnSp>
        <p:nvCxnSpPr>
          <p:cNvPr id="23" name="Elbow Connector 22"/>
          <p:cNvCxnSpPr>
            <a:endCxn id="20" idx="2"/>
          </p:cNvCxnSpPr>
          <p:nvPr/>
        </p:nvCxnSpPr>
        <p:spPr>
          <a:xfrm flipV="1">
            <a:off x="6694257" y="1132820"/>
            <a:ext cx="1339172" cy="181807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51" name="Shape 205"/>
          <p:cNvCxnSpPr>
            <a:stCxn id="50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2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53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4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55" name="Shape 204"/>
          <p:cNvSpPr/>
          <p:nvPr/>
        </p:nvSpPr>
        <p:spPr>
          <a:xfrm>
            <a:off x="5681009" y="2136125"/>
            <a:ext cx="1227166" cy="33408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56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3684863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Change not approved, need to fix comments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 flipH="1">
            <a:off x="6263796" y="4582869"/>
            <a:ext cx="7717" cy="3157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856057" y="366095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</p:cNvCxnSpPr>
          <p:nvPr/>
        </p:nvCxnSpPr>
        <p:spPr>
          <a:xfrm flipH="1">
            <a:off x="6271513" y="4016450"/>
            <a:ext cx="3644" cy="26583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91965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251232" cy="46487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9" name="Shape 205"/>
          <p:cNvCxnSpPr>
            <a:endCxn id="46" idx="0"/>
          </p:cNvCxnSpPr>
          <p:nvPr/>
        </p:nvCxnSpPr>
        <p:spPr>
          <a:xfrm>
            <a:off x="6306957" y="2565225"/>
            <a:ext cx="0" cy="2211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TextBox 19"/>
          <p:cNvSpPr txBox="1"/>
          <p:nvPr/>
        </p:nvSpPr>
        <p:spPr>
          <a:xfrm>
            <a:off x="6477001" y="622831"/>
            <a:ext cx="2667000" cy="5232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Code review not approved</a:t>
            </a:r>
          </a:p>
          <a:p>
            <a:r>
              <a:rPr lang="en-US" dirty="0">
                <a:solidFill>
                  <a:srgbClr val="000000"/>
                </a:solidFill>
              </a:rPr>
              <a:t>No go, need to fix</a:t>
            </a:r>
          </a:p>
        </p:txBody>
      </p:sp>
      <p:cxnSp>
        <p:nvCxnSpPr>
          <p:cNvPr id="23" name="Elbow Connector 22"/>
          <p:cNvCxnSpPr>
            <a:stCxn id="46" idx="3"/>
            <a:endCxn id="20" idx="2"/>
          </p:cNvCxnSpPr>
          <p:nvPr/>
        </p:nvCxnSpPr>
        <p:spPr>
          <a:xfrm flipV="1">
            <a:off x="6694257" y="1146051"/>
            <a:ext cx="1116244" cy="181807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51" name="Shape 205"/>
          <p:cNvCxnSpPr>
            <a:stCxn id="50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2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53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4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55" name="Shape 204"/>
          <p:cNvSpPr/>
          <p:nvPr/>
        </p:nvSpPr>
        <p:spPr>
          <a:xfrm>
            <a:off x="5640780" y="2164286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56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1213191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Again checkout lcl-10,save-&gt;</a:t>
            </a:r>
            <a:r>
              <a:rPr lang="en-US" dirty="0" err="1">
                <a:latin typeface="Merriweather"/>
                <a:ea typeface="Merriweather"/>
                <a:cs typeface="Merriweather"/>
                <a:sym typeface="Merriweather"/>
              </a:rPr>
              <a:t>autocommit</a:t>
            </a:r>
            <a:endParaRPr lang="en-US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8264564" y="4740744"/>
            <a:ext cx="838200" cy="340514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cxnSpLocks/>
            <a:stCxn id="31" idx="2"/>
          </p:cNvCxnSpPr>
          <p:nvPr/>
        </p:nvCxnSpPr>
        <p:spPr>
          <a:xfrm>
            <a:off x="8683664" y="5081258"/>
            <a:ext cx="1" cy="34305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91965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251232" cy="46487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9" name="Shape 205"/>
          <p:cNvCxnSpPr>
            <a:endCxn id="46" idx="0"/>
          </p:cNvCxnSpPr>
          <p:nvPr/>
        </p:nvCxnSpPr>
        <p:spPr>
          <a:xfrm>
            <a:off x="6306957" y="2565225"/>
            <a:ext cx="0" cy="2211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TextBox 19"/>
          <p:cNvSpPr txBox="1"/>
          <p:nvPr/>
        </p:nvSpPr>
        <p:spPr>
          <a:xfrm>
            <a:off x="6922857" y="622831"/>
            <a:ext cx="2221143" cy="5232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Code review -2</a:t>
            </a:r>
          </a:p>
          <a:p>
            <a:r>
              <a:rPr lang="en-US" dirty="0">
                <a:solidFill>
                  <a:srgbClr val="000000"/>
                </a:solidFill>
              </a:rPr>
              <a:t>No go, need to fix</a:t>
            </a:r>
          </a:p>
        </p:txBody>
      </p:sp>
      <p:cxnSp>
        <p:nvCxnSpPr>
          <p:cNvPr id="23" name="Elbow Connector 22"/>
          <p:cNvCxnSpPr>
            <a:stCxn id="46" idx="3"/>
            <a:endCxn id="20" idx="2"/>
          </p:cNvCxnSpPr>
          <p:nvPr/>
        </p:nvCxnSpPr>
        <p:spPr>
          <a:xfrm flipV="1">
            <a:off x="6694257" y="1146051"/>
            <a:ext cx="1339172" cy="181807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73" name="Shape 205"/>
          <p:cNvCxnSpPr/>
          <p:nvPr/>
        </p:nvCxnSpPr>
        <p:spPr>
          <a:xfrm>
            <a:off x="8536053" y="5679014"/>
            <a:ext cx="0" cy="21707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" name="TextBox 23"/>
          <p:cNvSpPr txBox="1"/>
          <p:nvPr/>
        </p:nvSpPr>
        <p:spPr>
          <a:xfrm>
            <a:off x="6526027" y="3587639"/>
            <a:ext cx="2617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save-&gt;auto commit</a:t>
            </a:r>
            <a:br>
              <a:rPr lang="en-US" dirty="0"/>
            </a:br>
            <a:r>
              <a:rPr lang="en-US" dirty="0"/>
              <a:t>in the same feature branch</a:t>
            </a:r>
          </a:p>
        </p:txBody>
      </p:sp>
      <p:sp>
        <p:nvSpPr>
          <p:cNvPr id="59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60" name="Shape 205"/>
          <p:cNvCxnSpPr>
            <a:stCxn id="59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6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67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64" name="Shape 204"/>
          <p:cNvSpPr/>
          <p:nvPr/>
        </p:nvSpPr>
        <p:spPr>
          <a:xfrm>
            <a:off x="5640780" y="2164286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68" name="Shape 204"/>
          <p:cNvSpPr/>
          <p:nvPr/>
        </p:nvSpPr>
        <p:spPr>
          <a:xfrm>
            <a:off x="8079414" y="5437270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5188445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Squash merge to FTR-10 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>
            <a:off x="6651096" y="5076370"/>
            <a:ext cx="1636333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287429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52" name="Shape 200"/>
          <p:cNvCxnSpPr>
            <a:stCxn id="61" idx="2"/>
          </p:cNvCxnSpPr>
          <p:nvPr/>
        </p:nvCxnSpPr>
        <p:spPr>
          <a:xfrm>
            <a:off x="6254363" y="2518586"/>
            <a:ext cx="9433" cy="289306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1" name="TextBox 160"/>
          <p:cNvSpPr txBox="1"/>
          <p:nvPr/>
        </p:nvSpPr>
        <p:spPr>
          <a:xfrm>
            <a:off x="6254769" y="672996"/>
            <a:ext cx="2868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Squash merge to 1 commit in FTR-10 branch</a:t>
            </a:r>
          </a:p>
          <a:p>
            <a:r>
              <a:rPr lang="en-US" dirty="0"/>
              <a:t>Tag commit </a:t>
            </a:r>
          </a:p>
          <a:p>
            <a:r>
              <a:rPr lang="en-US" dirty="0"/>
              <a:t>(Possibly Rebase master)</a:t>
            </a:r>
          </a:p>
        </p:txBody>
      </p:sp>
      <p:sp>
        <p:nvSpPr>
          <p:cNvPr id="162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163" name="Shape 205"/>
          <p:cNvCxnSpPr>
            <a:stCxn id="162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4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165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0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61" name="Shape 204"/>
          <p:cNvSpPr/>
          <p:nvPr/>
        </p:nvSpPr>
        <p:spPr>
          <a:xfrm>
            <a:off x="5640780" y="2164286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cxnSp>
        <p:nvCxnSpPr>
          <p:cNvPr id="64" name="Shape 205"/>
          <p:cNvCxnSpPr/>
          <p:nvPr/>
        </p:nvCxnSpPr>
        <p:spPr>
          <a:xfrm>
            <a:off x="8756700" y="4550557"/>
            <a:ext cx="0" cy="39365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6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67" name="Shape 205"/>
          <p:cNvCxnSpPr>
            <a:stCxn id="66" idx="2"/>
          </p:cNvCxnSpPr>
          <p:nvPr/>
        </p:nvCxnSpPr>
        <p:spPr>
          <a:xfrm>
            <a:off x="8716385" y="3845337"/>
            <a:ext cx="0" cy="4234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8" name="Shape 204"/>
          <p:cNvSpPr/>
          <p:nvPr/>
        </p:nvSpPr>
        <p:spPr>
          <a:xfrm>
            <a:off x="7956553" y="4268738"/>
            <a:ext cx="1187448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846872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6694257" cy="1111274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Push fix of review, CI, delete local branch lcl-10 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7" name="Shape 205"/>
          <p:cNvCxnSpPr>
            <a:endCxn id="90" idx="0"/>
          </p:cNvCxnSpPr>
          <p:nvPr/>
        </p:nvCxnSpPr>
        <p:spPr>
          <a:xfrm>
            <a:off x="8756700" y="4550557"/>
            <a:ext cx="0" cy="39365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8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9" name="Shape 205"/>
          <p:cNvCxnSpPr>
            <a:stCxn id="88" idx="2"/>
          </p:cNvCxnSpPr>
          <p:nvPr/>
        </p:nvCxnSpPr>
        <p:spPr>
          <a:xfrm>
            <a:off x="8716385" y="3845337"/>
            <a:ext cx="0" cy="4234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/>
            <a:r>
              <a:rPr lang="en-US" dirty="0"/>
              <a:t>57y23</a:t>
            </a:r>
          </a:p>
        </p:txBody>
      </p:sp>
      <p:cxnSp>
        <p:nvCxnSpPr>
          <p:cNvPr id="136" name="Elbow Connector 135"/>
          <p:cNvCxnSpPr>
            <a:endCxn id="133" idx="2"/>
          </p:cNvCxnSpPr>
          <p:nvPr/>
        </p:nvCxnSpPr>
        <p:spPr>
          <a:xfrm rot="16200000" flipV="1">
            <a:off x="6881992" y="3456801"/>
            <a:ext cx="1802335" cy="1172484"/>
          </a:xfrm>
          <a:prstGeom prst="bentConnector3">
            <a:avLst>
              <a:gd name="adj1" fmla="val -734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6944323" y="0"/>
            <a:ext cx="2221143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Push triggers CI pipeline: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Build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Unit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Static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Code coverage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Snippet, Security code analysis</a:t>
            </a:r>
          </a:p>
          <a:p>
            <a:r>
              <a:rPr lang="en-US" dirty="0">
                <a:solidFill>
                  <a:srgbClr val="000000"/>
                </a:solidFill>
              </a:rPr>
              <a:t>-     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Deploy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</a:t>
            </a:r>
          </a:p>
        </p:txBody>
      </p:sp>
      <p:cxnSp>
        <p:nvCxnSpPr>
          <p:cNvPr id="138" name="Elbow Connector 137"/>
          <p:cNvCxnSpPr>
            <a:stCxn id="133" idx="3"/>
            <a:endCxn id="137" idx="2"/>
          </p:cNvCxnSpPr>
          <p:nvPr/>
        </p:nvCxnSpPr>
        <p:spPr>
          <a:xfrm flipV="1">
            <a:off x="7584217" y="2246769"/>
            <a:ext cx="470678" cy="7173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hape 200"/>
          <p:cNvCxnSpPr>
            <a:stCxn id="133" idx="1"/>
          </p:cNvCxnSpPr>
          <p:nvPr/>
        </p:nvCxnSpPr>
        <p:spPr>
          <a:xfrm flipH="1">
            <a:off x="6569393" y="2964125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52" name="Shape 200"/>
          <p:cNvCxnSpPr>
            <a:endCxn id="133" idx="0"/>
          </p:cNvCxnSpPr>
          <p:nvPr/>
        </p:nvCxnSpPr>
        <p:spPr>
          <a:xfrm flipH="1">
            <a:off x="7196917" y="2530949"/>
            <a:ext cx="4767" cy="255426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0" name="TextBox 59"/>
          <p:cNvSpPr txBox="1"/>
          <p:nvPr/>
        </p:nvSpPr>
        <p:spPr>
          <a:xfrm>
            <a:off x="6553922" y="5381662"/>
            <a:ext cx="143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Delete branch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48999" y="3776887"/>
            <a:ext cx="6110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push</a:t>
            </a:r>
          </a:p>
        </p:txBody>
      </p:sp>
      <p:sp>
        <p:nvSpPr>
          <p:cNvPr id="64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66" name="Shape 205"/>
          <p:cNvCxnSpPr>
            <a:stCxn id="64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7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68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5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91" name="Shape 204"/>
          <p:cNvSpPr/>
          <p:nvPr/>
        </p:nvSpPr>
        <p:spPr>
          <a:xfrm>
            <a:off x="6625999" y="2246768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94" name="Shape 204"/>
          <p:cNvSpPr/>
          <p:nvPr/>
        </p:nvSpPr>
        <p:spPr>
          <a:xfrm>
            <a:off x="7956553" y="4268738"/>
            <a:ext cx="1187448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1549022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Open Merge Request, Approve MR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-54119" y="1066528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7" name="Shape 205"/>
          <p:cNvCxnSpPr>
            <a:endCxn id="90" idx="0"/>
          </p:cNvCxnSpPr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8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9" name="Shape 205"/>
          <p:cNvCxnSpPr>
            <a:stCxn id="88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/>
          <p:nvPr/>
        </p:nvCxnSpPr>
        <p:spPr>
          <a:xfrm flipH="1">
            <a:off x="6606177" y="2982152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52" name="Shape 200"/>
          <p:cNvCxnSpPr>
            <a:endCxn id="133" idx="0"/>
          </p:cNvCxnSpPr>
          <p:nvPr/>
        </p:nvCxnSpPr>
        <p:spPr>
          <a:xfrm>
            <a:off x="7196917" y="2565225"/>
            <a:ext cx="0" cy="22115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1" name="TextBox 60"/>
          <p:cNvSpPr txBox="1"/>
          <p:nvPr/>
        </p:nvSpPr>
        <p:spPr>
          <a:xfrm>
            <a:off x="6922857" y="609600"/>
            <a:ext cx="2221143" cy="5232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CI runs again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Approve MR</a:t>
            </a:r>
          </a:p>
        </p:txBody>
      </p:sp>
      <p:cxnSp>
        <p:nvCxnSpPr>
          <p:cNvPr id="63" name="Elbow Connector 62"/>
          <p:cNvCxnSpPr>
            <a:cxnSpLocks/>
            <a:stCxn id="133" idx="3"/>
            <a:endCxn id="61" idx="2"/>
          </p:cNvCxnSpPr>
          <p:nvPr/>
        </p:nvCxnSpPr>
        <p:spPr>
          <a:xfrm flipV="1">
            <a:off x="7584217" y="1132820"/>
            <a:ext cx="449212" cy="1831305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67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8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69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60" name="Shape 204"/>
          <p:cNvSpPr/>
          <p:nvPr/>
        </p:nvSpPr>
        <p:spPr>
          <a:xfrm>
            <a:off x="6625999" y="2246768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64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63533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Other commit was merged, FF merge no possible now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6931162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59" idx="0"/>
          </p:cNvCxnSpPr>
          <p:nvPr/>
        </p:nvCxnSpPr>
        <p:spPr>
          <a:xfrm>
            <a:off x="7362862" y="1950750"/>
            <a:ext cx="0" cy="3695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9" name="Shape 205"/>
          <p:cNvCxnSpPr/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/>
          <p:nvPr/>
        </p:nvCxnSpPr>
        <p:spPr>
          <a:xfrm flipH="1">
            <a:off x="6606177" y="2982152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52" name="Shape 200"/>
          <p:cNvCxnSpPr>
            <a:stCxn id="76" idx="0"/>
            <a:endCxn id="133" idx="2"/>
          </p:cNvCxnSpPr>
          <p:nvPr/>
        </p:nvCxnSpPr>
        <p:spPr>
          <a:xfrm flipV="1">
            <a:off x="7196917" y="3141875"/>
            <a:ext cx="0" cy="38665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1" name="TextBox 60"/>
          <p:cNvSpPr txBox="1"/>
          <p:nvPr/>
        </p:nvSpPr>
        <p:spPr>
          <a:xfrm>
            <a:off x="3067220" y="730551"/>
            <a:ext cx="1917569" cy="138499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Merriweather"/>
                <a:sym typeface="Merriweather"/>
              </a:rPr>
              <a:t>Need to rebase feature branch on master branch, in remote repository or if conflicts in local repository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9" name="Shape 198"/>
          <p:cNvSpPr/>
          <p:nvPr/>
        </p:nvSpPr>
        <p:spPr>
          <a:xfrm>
            <a:off x="6975562" y="2320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  <a:endCxn id="192" idx="3"/>
          </p:cNvCxnSpPr>
          <p:nvPr/>
        </p:nvCxnSpPr>
        <p:spPr>
          <a:xfrm flipH="1">
            <a:off x="2668425" y="2498050"/>
            <a:ext cx="4307137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6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67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8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69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0" name="Shape 204"/>
          <p:cNvSpPr/>
          <p:nvPr/>
        </p:nvSpPr>
        <p:spPr>
          <a:xfrm>
            <a:off x="5856057" y="171134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73" name="Shape 205"/>
          <p:cNvCxnSpPr>
            <a:stCxn id="70" idx="2"/>
            <a:endCxn id="59" idx="0"/>
          </p:cNvCxnSpPr>
          <p:nvPr/>
        </p:nvCxnSpPr>
        <p:spPr>
          <a:xfrm>
            <a:off x="6314776" y="1984342"/>
            <a:ext cx="1048086" cy="33595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3" name="Shape 205"/>
          <p:cNvCxnSpPr/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4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74" name="Shape 205"/>
          <p:cNvCxnSpPr>
            <a:stCxn id="64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76" name="Shape 204"/>
          <p:cNvSpPr/>
          <p:nvPr/>
        </p:nvSpPr>
        <p:spPr>
          <a:xfrm>
            <a:off x="6583334" y="3528529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77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38053826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Rebase with squash </a:t>
            </a:r>
            <a:r>
              <a:rPr lang="en-US" b="1" dirty="0">
                <a:latin typeface="Merriweather"/>
                <a:ea typeface="Merriweather"/>
                <a:cs typeface="Merriweather"/>
                <a:sym typeface="Merriweather"/>
              </a:rPr>
              <a:t>only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/>
          <p:nvPr/>
        </p:nvCxnSpPr>
        <p:spPr>
          <a:xfrm flipH="1">
            <a:off x="6606177" y="2982152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1" name="TextBox 60"/>
          <p:cNvSpPr txBox="1"/>
          <p:nvPr/>
        </p:nvSpPr>
        <p:spPr>
          <a:xfrm>
            <a:off x="3397890" y="793922"/>
            <a:ext cx="1917569" cy="95410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Commits 345r3 and 57y23 squashed and applied upon commit 45v34 (Rebase) </a:t>
            </a:r>
          </a:p>
        </p:txBody>
      </p:sp>
      <p:sp>
        <p:nvSpPr>
          <p:cNvPr id="59" name="Shape 198"/>
          <p:cNvSpPr/>
          <p:nvPr/>
        </p:nvSpPr>
        <p:spPr>
          <a:xfrm>
            <a:off x="6966079" y="2320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  <a:endCxn id="192" idx="3"/>
          </p:cNvCxnSpPr>
          <p:nvPr/>
        </p:nvCxnSpPr>
        <p:spPr>
          <a:xfrm flipH="1">
            <a:off x="2668425" y="2498050"/>
            <a:ext cx="4297654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198"/>
          <p:cNvSpPr/>
          <p:nvPr/>
        </p:nvSpPr>
        <p:spPr>
          <a:xfrm>
            <a:off x="7798291" y="2804402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66" name="Shape 200"/>
          <p:cNvCxnSpPr>
            <a:stCxn id="63" idx="1"/>
            <a:endCxn id="59" idx="3"/>
          </p:cNvCxnSpPr>
          <p:nvPr/>
        </p:nvCxnSpPr>
        <p:spPr>
          <a:xfrm flipH="1" flipV="1">
            <a:off x="7740679" y="2498050"/>
            <a:ext cx="57612" cy="484102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7" name="Shape 209"/>
          <p:cNvCxnSpPr>
            <a:endCxn id="63" idx="0"/>
          </p:cNvCxnSpPr>
          <p:nvPr/>
        </p:nvCxnSpPr>
        <p:spPr>
          <a:xfrm flipH="1">
            <a:off x="8185591" y="1946789"/>
            <a:ext cx="1" cy="8576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3" name="Shape 208"/>
          <p:cNvSpPr/>
          <p:nvPr/>
        </p:nvSpPr>
        <p:spPr>
          <a:xfrm>
            <a:off x="6926741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74" name="Shape 205"/>
          <p:cNvCxnSpPr>
            <a:stCxn id="73" idx="2"/>
          </p:cNvCxnSpPr>
          <p:nvPr/>
        </p:nvCxnSpPr>
        <p:spPr>
          <a:xfrm flipH="1">
            <a:off x="7353379" y="1950750"/>
            <a:ext cx="5062" cy="3695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6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7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78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9" name="Shape 204"/>
          <p:cNvSpPr/>
          <p:nvPr/>
        </p:nvSpPr>
        <p:spPr>
          <a:xfrm>
            <a:off x="5856057" y="171134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68" name="Shape 205"/>
          <p:cNvCxnSpPr/>
          <p:nvPr/>
        </p:nvCxnSpPr>
        <p:spPr>
          <a:xfrm>
            <a:off x="6314776" y="1984342"/>
            <a:ext cx="1048086" cy="33595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9" name="Shape 205"/>
          <p:cNvCxnSpPr/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0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1" name="Shape 205"/>
          <p:cNvCxnSpPr>
            <a:stCxn id="70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2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83" name="Shape 204"/>
          <p:cNvSpPr/>
          <p:nvPr/>
        </p:nvSpPr>
        <p:spPr>
          <a:xfrm>
            <a:off x="7848600" y="1668392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4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4498940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3515495" cy="99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Trigger CI on new commit</a:t>
            </a:r>
            <a:endParaRPr lang="en-US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6888766" y="1708599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</p:cNvCxnSpPr>
          <p:nvPr/>
        </p:nvCxnSpPr>
        <p:spPr>
          <a:xfrm>
            <a:off x="7320466" y="1963299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9" name="Shape 205"/>
          <p:cNvCxnSpPr/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/>
          <p:nvPr/>
        </p:nvCxnSpPr>
        <p:spPr>
          <a:xfrm flipH="1">
            <a:off x="6606177" y="2982152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198"/>
          <p:cNvSpPr/>
          <p:nvPr/>
        </p:nvSpPr>
        <p:spPr>
          <a:xfrm>
            <a:off x="6966079" y="2320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  <a:endCxn id="192" idx="3"/>
          </p:cNvCxnSpPr>
          <p:nvPr/>
        </p:nvCxnSpPr>
        <p:spPr>
          <a:xfrm flipH="1">
            <a:off x="2668425" y="2498050"/>
            <a:ext cx="4297654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198"/>
          <p:cNvSpPr/>
          <p:nvPr/>
        </p:nvSpPr>
        <p:spPr>
          <a:xfrm>
            <a:off x="7798291" y="2804402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66" name="Shape 200"/>
          <p:cNvCxnSpPr>
            <a:stCxn id="63" idx="1"/>
            <a:endCxn id="59" idx="3"/>
          </p:cNvCxnSpPr>
          <p:nvPr/>
        </p:nvCxnSpPr>
        <p:spPr>
          <a:xfrm flipH="1" flipV="1">
            <a:off x="7740679" y="2498050"/>
            <a:ext cx="57612" cy="484102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7" name="Shape 209"/>
          <p:cNvCxnSpPr>
            <a:endCxn id="63" idx="0"/>
          </p:cNvCxnSpPr>
          <p:nvPr/>
        </p:nvCxnSpPr>
        <p:spPr>
          <a:xfrm flipH="1">
            <a:off x="8185591" y="1946789"/>
            <a:ext cx="1" cy="8576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8" name="TextBox 67"/>
          <p:cNvSpPr txBox="1"/>
          <p:nvPr/>
        </p:nvSpPr>
        <p:spPr>
          <a:xfrm>
            <a:off x="3549655" y="24106"/>
            <a:ext cx="2221143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New commit triggers CI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Build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Unit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Static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Code Coverage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Snippet, Security code analysis</a:t>
            </a:r>
          </a:p>
          <a:p>
            <a:r>
              <a:rPr lang="en-US" dirty="0">
                <a:solidFill>
                  <a:srgbClr val="000000"/>
                </a:solidFill>
              </a:rPr>
              <a:t>-     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Deploy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</a:t>
            </a:r>
          </a:p>
        </p:txBody>
      </p:sp>
      <p:sp>
        <p:nvSpPr>
          <p:cNvPr id="76" name="Shape 204"/>
          <p:cNvSpPr/>
          <p:nvPr/>
        </p:nvSpPr>
        <p:spPr>
          <a:xfrm>
            <a:off x="5856057" y="171134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sp>
        <p:nvSpPr>
          <p:cNvPr id="78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9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0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81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9" name="Shape 205"/>
          <p:cNvCxnSpPr/>
          <p:nvPr/>
        </p:nvCxnSpPr>
        <p:spPr>
          <a:xfrm>
            <a:off x="6314776" y="1984342"/>
            <a:ext cx="1048086" cy="33595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70" name="Shape 205"/>
          <p:cNvCxnSpPr/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3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74" name="Shape 205"/>
          <p:cNvCxnSpPr>
            <a:stCxn id="73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82" name="Shape 204"/>
          <p:cNvSpPr/>
          <p:nvPr/>
        </p:nvSpPr>
        <p:spPr>
          <a:xfrm>
            <a:off x="7833885" y="1668674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3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3248619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buClr>
                <a:schemeClr val="dk2"/>
              </a:buClr>
              <a:buSzPct val="25000"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FF Merge, Tag and Remove Source Branch, Fast Forward Merge must</a:t>
            </a:r>
            <a:endParaRPr lang="en-US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8272085" y="129570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/>
          <p:nvPr/>
        </p:nvCxnSpPr>
        <p:spPr>
          <a:xfrm>
            <a:off x="8873597" y="1550400"/>
            <a:ext cx="0" cy="77562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9" name="Shape 205"/>
          <p:cNvCxnSpPr/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>
            <a:stCxn id="133" idx="1"/>
          </p:cNvCxnSpPr>
          <p:nvPr/>
        </p:nvCxnSpPr>
        <p:spPr>
          <a:xfrm flipH="1">
            <a:off x="6606177" y="2964125"/>
            <a:ext cx="203440" cy="4280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198"/>
          <p:cNvSpPr/>
          <p:nvPr/>
        </p:nvSpPr>
        <p:spPr>
          <a:xfrm>
            <a:off x="6966079" y="2320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  <a:endCxn id="192" idx="3"/>
          </p:cNvCxnSpPr>
          <p:nvPr/>
        </p:nvCxnSpPr>
        <p:spPr>
          <a:xfrm flipH="1">
            <a:off x="2668425" y="2498050"/>
            <a:ext cx="4297654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198"/>
          <p:cNvSpPr/>
          <p:nvPr/>
        </p:nvSpPr>
        <p:spPr>
          <a:xfrm>
            <a:off x="8185591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66" name="Shape 200"/>
          <p:cNvCxnSpPr>
            <a:stCxn id="63" idx="1"/>
            <a:endCxn id="59" idx="3"/>
          </p:cNvCxnSpPr>
          <p:nvPr/>
        </p:nvCxnSpPr>
        <p:spPr>
          <a:xfrm flipH="1" flipV="1">
            <a:off x="7740679" y="2498050"/>
            <a:ext cx="444912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7" name="Shape 209"/>
          <p:cNvCxnSpPr>
            <a:stCxn id="83" idx="0"/>
            <a:endCxn id="63" idx="2"/>
          </p:cNvCxnSpPr>
          <p:nvPr/>
        </p:nvCxnSpPr>
        <p:spPr>
          <a:xfrm flipH="1" flipV="1">
            <a:off x="8572891" y="2677000"/>
            <a:ext cx="3827" cy="31754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9" name="Shape 204"/>
          <p:cNvSpPr/>
          <p:nvPr/>
        </p:nvSpPr>
        <p:spPr>
          <a:xfrm>
            <a:off x="7848600" y="169605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FTR-10</a:t>
            </a:r>
          </a:p>
        </p:txBody>
      </p:sp>
      <p:cxnSp>
        <p:nvCxnSpPr>
          <p:cNvPr id="70" name="Shape 205"/>
          <p:cNvCxnSpPr>
            <a:stCxn id="69" idx="2"/>
          </p:cNvCxnSpPr>
          <p:nvPr/>
        </p:nvCxnSpPr>
        <p:spPr>
          <a:xfrm>
            <a:off x="8307319" y="1969050"/>
            <a:ext cx="0" cy="3512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3" name="Shape 204"/>
          <p:cNvSpPr/>
          <p:nvPr/>
        </p:nvSpPr>
        <p:spPr>
          <a:xfrm>
            <a:off x="6904784" y="17028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74" name="Shape 205"/>
          <p:cNvCxnSpPr>
            <a:stCxn id="73" idx="2"/>
            <a:endCxn id="59" idx="0"/>
          </p:cNvCxnSpPr>
          <p:nvPr/>
        </p:nvCxnSpPr>
        <p:spPr>
          <a:xfrm flipH="1">
            <a:off x="7353379" y="19758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6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7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78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79" name="Shape 205"/>
          <p:cNvCxnSpPr/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0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1" name="Shape 205"/>
          <p:cNvCxnSpPr>
            <a:stCxn id="80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2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83" name="Shape 204"/>
          <p:cNvSpPr/>
          <p:nvPr/>
        </p:nvSpPr>
        <p:spPr>
          <a:xfrm>
            <a:off x="7963135" y="2994543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4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5" name="Multiply 84"/>
          <p:cNvSpPr/>
          <p:nvPr/>
        </p:nvSpPr>
        <p:spPr>
          <a:xfrm>
            <a:off x="7710300" y="2864752"/>
            <a:ext cx="623981" cy="717562"/>
          </a:xfrm>
          <a:prstGeom prst="mathMultiply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398319" y="3414393"/>
            <a:ext cx="90083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source branch</a:t>
            </a:r>
          </a:p>
        </p:txBody>
      </p:sp>
      <p:sp>
        <p:nvSpPr>
          <p:cNvPr id="91" name="Shape 204"/>
          <p:cNvSpPr/>
          <p:nvPr/>
        </p:nvSpPr>
        <p:spPr>
          <a:xfrm>
            <a:off x="5798177" y="3489837"/>
            <a:ext cx="1591704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Working_FTR-10</a:t>
            </a:r>
          </a:p>
        </p:txBody>
      </p:sp>
      <p:cxnSp>
        <p:nvCxnSpPr>
          <p:cNvPr id="94" name="Shape 205"/>
          <p:cNvCxnSpPr>
            <a:stCxn id="91" idx="0"/>
            <a:endCxn id="133" idx="2"/>
          </p:cNvCxnSpPr>
          <p:nvPr/>
        </p:nvCxnSpPr>
        <p:spPr>
          <a:xfrm flipV="1">
            <a:off x="6594029" y="3141875"/>
            <a:ext cx="602888" cy="3479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" name="TextBox 26"/>
          <p:cNvSpPr txBox="1"/>
          <p:nvPr/>
        </p:nvSpPr>
        <p:spPr>
          <a:xfrm>
            <a:off x="5009945" y="3133600"/>
            <a:ext cx="73129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 </a:t>
            </a:r>
            <a:br>
              <a:rPr lang="en-US" dirty="0"/>
            </a:br>
            <a:r>
              <a:rPr lang="en-US" dirty="0"/>
              <a:t>source</a:t>
            </a:r>
            <a:br>
              <a:rPr lang="en-US" dirty="0"/>
            </a:br>
            <a:r>
              <a:rPr lang="en-US" dirty="0"/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252486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649305" y="168684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32530" y="168684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23930" y="1864599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838201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buClr>
                <a:schemeClr val="dk2"/>
              </a:buClr>
              <a:buSzPct val="25000"/>
            </a:pPr>
            <a:r>
              <a:rPr lang="en-US" sz="2800" dirty="0">
                <a:latin typeface="Merriweather"/>
                <a:ea typeface="Merriweather"/>
                <a:cs typeface="Merriweather"/>
                <a:sym typeface="Merriweather"/>
              </a:rPr>
              <a:t>We got desired result: </a:t>
            </a:r>
            <a:r>
              <a:rPr lang="en-US" sz="2800" dirty="0">
                <a:solidFill>
                  <a:srgbClr val="5E5E5E"/>
                </a:solidFill>
              </a:rPr>
              <a:t>1 Commit per Jira issue in main branch.  </a:t>
            </a:r>
            <a:r>
              <a:rPr lang="en-US" sz="2800" dirty="0">
                <a:latin typeface="Merriweather"/>
                <a:ea typeface="Merriweather"/>
                <a:cs typeface="Merriweather"/>
                <a:sym typeface="Merriweather"/>
              </a:rPr>
              <a:t>Start new Feature FTR-11</a:t>
            </a:r>
            <a:endParaRPr lang="en-US" sz="2800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573588" y="399759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756813" y="399759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348213" y="4175349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6848994" y="1287548"/>
            <a:ext cx="2281125" cy="381001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108646" y="2858832"/>
            <a:ext cx="1951079" cy="417768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8" name="Shape 208"/>
          <p:cNvSpPr/>
          <p:nvPr/>
        </p:nvSpPr>
        <p:spPr>
          <a:xfrm>
            <a:off x="5356482" y="1049925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63" idx="0"/>
          </p:cNvCxnSpPr>
          <p:nvPr/>
        </p:nvCxnSpPr>
        <p:spPr>
          <a:xfrm flipH="1">
            <a:off x="4647573" y="1304625"/>
            <a:ext cx="1140609" cy="3639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184782" y="28194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144113" y="3651737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558244" y="501016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531413" y="4175349"/>
            <a:ext cx="26831" cy="1012562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636481" y="500546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332844" y="5187911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4783682" y="5021736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411084" y="5228474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>
            <a:endCxn id="35" idx="2"/>
          </p:cNvCxnSpPr>
          <p:nvPr/>
        </p:nvCxnSpPr>
        <p:spPr>
          <a:xfrm flipH="1" flipV="1">
            <a:off x="6263796" y="5254120"/>
            <a:ext cx="154504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576238" y="5739798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023781" y="5360965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637340" y="6029191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4783682" y="5392456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35" idx="0"/>
            <a:endCxn id="198" idx="3"/>
          </p:cNvCxnSpPr>
          <p:nvPr/>
        </p:nvCxnSpPr>
        <p:spPr>
          <a:xfrm flipH="1" flipV="1">
            <a:off x="2531413" y="4175349"/>
            <a:ext cx="3732383" cy="72327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8" name="Shape 212"/>
          <p:cNvSpPr/>
          <p:nvPr/>
        </p:nvSpPr>
        <p:spPr>
          <a:xfrm>
            <a:off x="6551681" y="2752141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9" name="Shape 205"/>
          <p:cNvCxnSpPr>
            <a:stCxn id="88" idx="2"/>
            <a:endCxn id="103" idx="0"/>
          </p:cNvCxnSpPr>
          <p:nvPr/>
        </p:nvCxnSpPr>
        <p:spPr>
          <a:xfrm>
            <a:off x="6970781" y="3107641"/>
            <a:ext cx="18004" cy="26971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198"/>
          <p:cNvSpPr/>
          <p:nvPr/>
        </p:nvSpPr>
        <p:spPr>
          <a:xfrm>
            <a:off x="3040761" y="166734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</p:cNvCxnSpPr>
          <p:nvPr/>
        </p:nvCxnSpPr>
        <p:spPr>
          <a:xfrm flipH="1">
            <a:off x="2574351" y="1845099"/>
            <a:ext cx="466410" cy="19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198"/>
          <p:cNvSpPr/>
          <p:nvPr/>
        </p:nvSpPr>
        <p:spPr>
          <a:xfrm>
            <a:off x="4260273" y="166854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66" name="Shape 200"/>
          <p:cNvCxnSpPr>
            <a:stCxn id="63" idx="1"/>
            <a:endCxn id="59" idx="3"/>
          </p:cNvCxnSpPr>
          <p:nvPr/>
        </p:nvCxnSpPr>
        <p:spPr>
          <a:xfrm flipH="1" flipV="1">
            <a:off x="3815361" y="1845099"/>
            <a:ext cx="444912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9" name="Shape 204"/>
          <p:cNvSpPr/>
          <p:nvPr/>
        </p:nvSpPr>
        <p:spPr>
          <a:xfrm>
            <a:off x="4177554" y="1073948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FTR-10</a:t>
            </a:r>
          </a:p>
        </p:txBody>
      </p:sp>
      <p:cxnSp>
        <p:nvCxnSpPr>
          <p:cNvPr id="70" name="Shape 205"/>
          <p:cNvCxnSpPr>
            <a:stCxn id="69" idx="2"/>
            <a:endCxn id="63" idx="0"/>
          </p:cNvCxnSpPr>
          <p:nvPr/>
        </p:nvCxnSpPr>
        <p:spPr>
          <a:xfrm>
            <a:off x="4636273" y="1346948"/>
            <a:ext cx="11300" cy="3216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3" name="Shape 204"/>
          <p:cNvSpPr/>
          <p:nvPr/>
        </p:nvSpPr>
        <p:spPr>
          <a:xfrm>
            <a:off x="2979466" y="1049925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74" name="Shape 205"/>
          <p:cNvCxnSpPr>
            <a:stCxn id="73" idx="2"/>
            <a:endCxn id="59" idx="0"/>
          </p:cNvCxnSpPr>
          <p:nvPr/>
        </p:nvCxnSpPr>
        <p:spPr>
          <a:xfrm flipH="1">
            <a:off x="3428061" y="1322925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767505" y="1049925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6" name="Shape 205"/>
          <p:cNvCxnSpPr/>
          <p:nvPr/>
        </p:nvCxnSpPr>
        <p:spPr>
          <a:xfrm flipH="1">
            <a:off x="2214768" y="1322925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7" name="Shape 204"/>
          <p:cNvSpPr/>
          <p:nvPr/>
        </p:nvSpPr>
        <p:spPr>
          <a:xfrm>
            <a:off x="577886" y="1073948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78" name="Shape 205"/>
          <p:cNvCxnSpPr/>
          <p:nvPr/>
        </p:nvCxnSpPr>
        <p:spPr>
          <a:xfrm flipH="1">
            <a:off x="1025149" y="1346948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9" name="Shape 204"/>
          <p:cNvSpPr/>
          <p:nvPr/>
        </p:nvSpPr>
        <p:spPr>
          <a:xfrm>
            <a:off x="4131579" y="2424561"/>
            <a:ext cx="1075139" cy="300589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fix/FTR-11</a:t>
            </a:r>
          </a:p>
        </p:txBody>
      </p:sp>
      <p:cxnSp>
        <p:nvCxnSpPr>
          <p:cNvPr id="80" name="Shape 205"/>
          <p:cNvCxnSpPr/>
          <p:nvPr/>
        </p:nvCxnSpPr>
        <p:spPr>
          <a:xfrm flipH="1" flipV="1">
            <a:off x="4657973" y="2022849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1" name="Shape 208"/>
          <p:cNvSpPr/>
          <p:nvPr/>
        </p:nvSpPr>
        <p:spPr>
          <a:xfrm>
            <a:off x="5096059" y="3379254"/>
            <a:ext cx="1288751" cy="31219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82" name="Shape 209"/>
          <p:cNvCxnSpPr>
            <a:stCxn id="81" idx="2"/>
          </p:cNvCxnSpPr>
          <p:nvPr/>
        </p:nvCxnSpPr>
        <p:spPr>
          <a:xfrm flipH="1">
            <a:off x="4891564" y="3691449"/>
            <a:ext cx="848871" cy="30523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3" name="Shape 198"/>
          <p:cNvSpPr/>
          <p:nvPr/>
        </p:nvSpPr>
        <p:spPr>
          <a:xfrm>
            <a:off x="2988828" y="397076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sp>
        <p:nvSpPr>
          <p:cNvPr id="84" name="Shape 198"/>
          <p:cNvSpPr/>
          <p:nvPr/>
        </p:nvSpPr>
        <p:spPr>
          <a:xfrm>
            <a:off x="4208340" y="397196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85" name="Shape 200"/>
          <p:cNvCxnSpPr>
            <a:stCxn id="84" idx="1"/>
            <a:endCxn id="83" idx="3"/>
          </p:cNvCxnSpPr>
          <p:nvPr/>
        </p:nvCxnSpPr>
        <p:spPr>
          <a:xfrm flipH="1" flipV="1">
            <a:off x="3763428" y="4148511"/>
            <a:ext cx="444912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1" name="Shape 204"/>
          <p:cNvSpPr/>
          <p:nvPr/>
        </p:nvSpPr>
        <p:spPr>
          <a:xfrm>
            <a:off x="4125621" y="337736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FTR-10</a:t>
            </a:r>
          </a:p>
        </p:txBody>
      </p:sp>
      <p:cxnSp>
        <p:nvCxnSpPr>
          <p:cNvPr id="94" name="Shape 205"/>
          <p:cNvCxnSpPr>
            <a:stCxn id="91" idx="2"/>
            <a:endCxn id="84" idx="0"/>
          </p:cNvCxnSpPr>
          <p:nvPr/>
        </p:nvCxnSpPr>
        <p:spPr>
          <a:xfrm>
            <a:off x="4584340" y="3650360"/>
            <a:ext cx="11300" cy="3216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5" name="Shape 204"/>
          <p:cNvSpPr/>
          <p:nvPr/>
        </p:nvSpPr>
        <p:spPr>
          <a:xfrm>
            <a:off x="2927533" y="335333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96" name="Shape 205"/>
          <p:cNvCxnSpPr>
            <a:stCxn id="95" idx="2"/>
            <a:endCxn id="83" idx="0"/>
          </p:cNvCxnSpPr>
          <p:nvPr/>
        </p:nvCxnSpPr>
        <p:spPr>
          <a:xfrm flipH="1">
            <a:off x="3376128" y="3626337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7" name="Shape 204"/>
          <p:cNvSpPr/>
          <p:nvPr/>
        </p:nvSpPr>
        <p:spPr>
          <a:xfrm>
            <a:off x="1715572" y="335333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98" name="Shape 205"/>
          <p:cNvCxnSpPr/>
          <p:nvPr/>
        </p:nvCxnSpPr>
        <p:spPr>
          <a:xfrm flipH="1">
            <a:off x="2162835" y="3626337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9" name="Shape 204"/>
          <p:cNvSpPr/>
          <p:nvPr/>
        </p:nvSpPr>
        <p:spPr>
          <a:xfrm>
            <a:off x="525953" y="337736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100" name="Shape 205"/>
          <p:cNvCxnSpPr/>
          <p:nvPr/>
        </p:nvCxnSpPr>
        <p:spPr>
          <a:xfrm flipH="1">
            <a:off x="973216" y="3650360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01" name="Shape 204"/>
          <p:cNvSpPr/>
          <p:nvPr/>
        </p:nvSpPr>
        <p:spPr>
          <a:xfrm>
            <a:off x="7561476" y="3371085"/>
            <a:ext cx="1574680" cy="328531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origin/fix/FTR-11</a:t>
            </a:r>
          </a:p>
        </p:txBody>
      </p:sp>
      <p:cxnSp>
        <p:nvCxnSpPr>
          <p:cNvPr id="102" name="Shape 205"/>
          <p:cNvCxnSpPr>
            <a:stCxn id="101" idx="2"/>
            <a:endCxn id="84" idx="3"/>
          </p:cNvCxnSpPr>
          <p:nvPr/>
        </p:nvCxnSpPr>
        <p:spPr>
          <a:xfrm flipH="1">
            <a:off x="4982940" y="3699616"/>
            <a:ext cx="3365876" cy="45009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03" name="Shape 204"/>
          <p:cNvSpPr/>
          <p:nvPr/>
        </p:nvSpPr>
        <p:spPr>
          <a:xfrm>
            <a:off x="6417924" y="3377360"/>
            <a:ext cx="1141721" cy="314089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Fix/FTR-11</a:t>
            </a:r>
          </a:p>
        </p:txBody>
      </p:sp>
      <p:cxnSp>
        <p:nvCxnSpPr>
          <p:cNvPr id="104" name="Shape 205"/>
          <p:cNvCxnSpPr>
            <a:stCxn id="103" idx="2"/>
            <a:endCxn id="84" idx="3"/>
          </p:cNvCxnSpPr>
          <p:nvPr/>
        </p:nvCxnSpPr>
        <p:spPr>
          <a:xfrm flipH="1">
            <a:off x="4982940" y="3691449"/>
            <a:ext cx="2005845" cy="4582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27126231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518634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sz="3600" dirty="0">
                <a:solidFill>
                  <a:schemeClr val="bg2"/>
                </a:solidFill>
              </a:rPr>
              <a:t>Git + GitLab best practices hands on</a:t>
            </a:r>
            <a:br>
              <a:rPr lang="en-US" sz="3600" dirty="0">
                <a:solidFill>
                  <a:schemeClr val="bg2"/>
                </a:solidFill>
              </a:rPr>
            </a:br>
            <a:r>
              <a:rPr lang="en-US" sz="1800" dirty="0">
                <a:hlinkClick r:id="rId2"/>
              </a:rPr>
              <a:t>https://gitlab.com/ilyaro/git_gitlab_best_practices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>
                <a:hlinkClick r:id="rId3"/>
              </a:rPr>
              <a:t>https://gitlab.com/ilyaro/git_gitlab_best_practices/-/blob/master/Commands.md</a:t>
            </a:r>
            <a:br>
              <a:rPr lang="en-US" sz="1800" dirty="0"/>
            </a:br>
            <a:endParaRPr lang="en-US" sz="1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676400"/>
            <a:ext cx="9178344" cy="4876800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1. Work with local feature branches (topics)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Create your feature branch from master: fix/&lt;Jira-task&gt; here: https://gitlab.com/ilyaro/demo-be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git clone -b  fix/&lt;Jira-task&gt; https://gitlab.com/ilyaro/demo-be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Configure IDE/Editor to auto-commit: https://gitlab.com/ilyaro/git_best_practices_ppt/README.md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git log  - to show initial status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2. Edit .\demo-be\</a:t>
            </a:r>
            <a:r>
              <a:rPr lang="en-US" dirty="0" err="1">
                <a:solidFill>
                  <a:schemeClr val="bg2"/>
                </a:solidFill>
              </a:rPr>
              <a:t>src</a:t>
            </a:r>
            <a:r>
              <a:rPr lang="en-US" dirty="0">
                <a:solidFill>
                  <a:schemeClr val="bg2"/>
                </a:solidFill>
              </a:rPr>
              <a:t>\main\java\com\example\dep\Dep.java (Use IntelliJ, VS Code, vim, or any other IDE,</a:t>
            </a:r>
          </a:p>
          <a:p>
            <a:pPr marL="127000" indent="0">
              <a:buNone/>
            </a:pPr>
            <a:endParaRPr lang="en-US" dirty="0">
              <a:solidFill>
                <a:schemeClr val="bg2"/>
              </a:solidFill>
            </a:endParaRP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 </a:t>
            </a:r>
          </a:p>
          <a:p>
            <a:pPr marL="584200" indent="-457200">
              <a:buAutoNum type="arabicPeriod"/>
            </a:pPr>
            <a:endParaRPr lang="en-US" dirty="0">
              <a:solidFill>
                <a:schemeClr val="bg2"/>
              </a:solidFill>
            </a:endParaRPr>
          </a:p>
          <a:p>
            <a:pPr marL="12700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71979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590"/>
          <p:cNvSpPr txBox="1">
            <a:spLocks noGrp="1"/>
          </p:cNvSpPr>
          <p:nvPr>
            <p:ph type="title"/>
          </p:nvPr>
        </p:nvSpPr>
        <p:spPr>
          <a:xfrm>
            <a:off x="12" y="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dk2"/>
              </a:buClr>
              <a:buSzPct val="25000"/>
              <a:buFont typeface="Arial"/>
              <a:buNone/>
            </a:pPr>
            <a:r>
              <a:rPr lang="en-US" dirty="0"/>
              <a:t>Best practices – Branch Layout</a:t>
            </a:r>
            <a:br>
              <a:rPr lang="en-US" dirty="0"/>
            </a:br>
            <a:endParaRPr lang="en-US" dirty="0"/>
          </a:p>
        </p:txBody>
      </p:sp>
      <p:sp>
        <p:nvSpPr>
          <p:cNvPr id="592" name="Shape 5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  <p:pic>
        <p:nvPicPr>
          <p:cNvPr id="593" name="Shape 5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400" y="685800"/>
            <a:ext cx="7924800" cy="44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504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solidFill>
                  <a:schemeClr val="bg2"/>
                </a:solidFill>
              </a:rPr>
              <a:t>Git + GitLab best practices hands on cont.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524000"/>
            <a:ext cx="9144000" cy="5334000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after configure on save trigger)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Change 1 line – save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Add 1 line – save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Delete 1 line – save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It will create 3 commits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3 Tag important commit (working commits)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tag working1 </a:t>
            </a:r>
          </a:p>
          <a:p>
            <a:pPr marL="127000" indent="0">
              <a:buNone/>
            </a:pP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4 Log with diff with only change, hash and refs 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log -c -U0 --pretty="format:%</a:t>
            </a:r>
            <a:r>
              <a:rPr lang="en-US" dirty="0" err="1">
                <a:solidFill>
                  <a:schemeClr val="bg2"/>
                </a:solidFill>
              </a:rPr>
              <a:t>H%d</a:t>
            </a:r>
            <a:r>
              <a:rPr lang="en-US" dirty="0">
                <a:solidFill>
                  <a:schemeClr val="bg2"/>
                </a:solidFill>
              </a:rPr>
              <a:t>“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Or in GUI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Or just 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git log -p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67945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296400" cy="960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local feature branches (topics)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Shape 582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83" name="Shape 583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28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6172200"/>
            <a:ext cx="3425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Demo: create feature branch, checkout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2000"/>
            <a:ext cx="9144000" cy="5286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927511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5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commit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Shape 55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59" name="Shape 55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Shape 56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273175"/>
            <a:ext cx="8796337" cy="46704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96839" y="6260426"/>
            <a:ext cx="883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Demo: vim, change, save -&gt; auto-commit, git log –c, git reset </a:t>
            </a:r>
          </a:p>
        </p:txBody>
      </p:sp>
    </p:spTree>
    <p:extLst>
      <p:ext uri="{BB962C8B-B14F-4D97-AF65-F5344CB8AC3E}">
        <p14:creationId xmlns:p14="http://schemas.microsoft.com/office/powerpoint/2010/main" val="17509555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606"/>
          <p:cNvSpPr txBox="1">
            <a:spLocks noGrp="1"/>
          </p:cNvSpPr>
          <p:nvPr>
            <p:ph type="title"/>
          </p:nvPr>
        </p:nvSpPr>
        <p:spPr>
          <a:xfrm>
            <a:off x="76200" y="533400"/>
            <a:ext cx="8745537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tag milestones (even local)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Shape 607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Shape 6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9" name="Shape 6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" name="Shape 6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289050"/>
            <a:ext cx="9109075" cy="46545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20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81000"/>
            <a:ext cx="8821737" cy="75870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Git + GitLab best practices hands on cont.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676400"/>
            <a:ext cx="9144000" cy="5181600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5. Squash all auto commits to rebase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See what to merge with git log --graph or IDE GUI</a:t>
            </a:r>
            <a:br>
              <a:rPr lang="en-US" dirty="0">
                <a:solidFill>
                  <a:schemeClr val="bg2"/>
                </a:solidFill>
              </a:rPr>
            </a:b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log --</a:t>
            </a:r>
            <a:r>
              <a:rPr lang="en-US" dirty="0" err="1">
                <a:solidFill>
                  <a:schemeClr val="bg2"/>
                </a:solidFill>
              </a:rPr>
              <a:t>oneline</a:t>
            </a:r>
            <a:r>
              <a:rPr lang="en-US" dirty="0">
                <a:solidFill>
                  <a:schemeClr val="bg2"/>
                </a:solidFill>
              </a:rPr>
              <a:t> --graph –all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reset --soft origin/master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/>
              <a:t>git commit -m “My awesome commit message”</a:t>
            </a:r>
          </a:p>
          <a:p>
            <a:pPr marL="127000" indent="0">
              <a:buNone/>
            </a:pPr>
            <a:r>
              <a:rPr lang="en-US" dirty="0"/>
              <a:t>git rebase origin/master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934252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squashing befor</a:t>
            </a:r>
            <a:r>
              <a:rPr lang="en-US" dirty="0"/>
              <a:t>e push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Shape 56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67" name="Shape 56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8" name="Shape 56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1600200"/>
            <a:ext cx="9150350" cy="43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0" y="6027003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Demo: git merge --squash, git commit, </a:t>
            </a:r>
            <a:br>
              <a:rPr lang="en-US" sz="2400" dirty="0"/>
            </a:br>
            <a:r>
              <a:rPr lang="en-US" sz="2400" dirty="0"/>
              <a:t>git log --</a:t>
            </a:r>
            <a:r>
              <a:rPr lang="en-US" sz="2400"/>
              <a:t>oneline</a:t>
            </a:r>
            <a:r>
              <a:rPr lang="en-US" sz="2400" dirty="0"/>
              <a:t> --graph --all, git push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4588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0" y="149800"/>
            <a:ext cx="91440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dirty="0"/>
              <a:t>Best practices - concise commit messages</a:t>
            </a:r>
          </a:p>
        </p:txBody>
      </p:sp>
      <p:pic>
        <p:nvPicPr>
          <p:cNvPr id="576" name="Shape 576" descr="commit_message_header.png"/>
          <p:cNvPicPr preferRelativeResize="0"/>
          <p:nvPr/>
        </p:nvPicPr>
        <p:blipFill rotWithShape="1">
          <a:blip r:embed="rId3">
            <a:alphaModFix/>
          </a:blip>
          <a:srcRect t="31307"/>
          <a:stretch/>
        </p:blipFill>
        <p:spPr>
          <a:xfrm>
            <a:off x="0" y="2954867"/>
            <a:ext cx="9144000" cy="27215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8467" y="1295400"/>
            <a:ext cx="906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Limit commit message Subject to 70 chars and it must be simple, clear, self explained – this is the line all will see!</a:t>
            </a:r>
          </a:p>
          <a:p>
            <a:r>
              <a:rPr lang="en-US" sz="2400" dirty="0"/>
              <a:t>Meaningful details put in the body of the commit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9855"/>
            <a:ext cx="876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hlinkClick r:id="rId4"/>
              </a:rPr>
              <a:t>https://github.com/datreeio/node-datreeio/commits/master</a:t>
            </a:r>
            <a:endParaRPr lang="en-US"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228600" y="5659253"/>
            <a:ext cx="2895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Demo: Example:</a:t>
            </a:r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3298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24" y="381000"/>
            <a:ext cx="8915400" cy="75870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Git + GitLab best practices hands on cont.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676400"/>
            <a:ext cx="9144000" cy="4800600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6. See log again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log --</a:t>
            </a:r>
            <a:r>
              <a:rPr lang="en-US" dirty="0" err="1">
                <a:solidFill>
                  <a:schemeClr val="bg2"/>
                </a:solidFill>
              </a:rPr>
              <a:t>oneline</a:t>
            </a:r>
            <a:r>
              <a:rPr lang="en-US" dirty="0">
                <a:solidFill>
                  <a:schemeClr val="bg2"/>
                </a:solidFill>
              </a:rPr>
              <a:t> --graph --all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7. Push to Gitlab Feature branch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push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See Gitlab CI pipeline running: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https://gitlab.com/ilyaro/demo-be/pipelines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45019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Shape 5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682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clean up local branches</a:t>
            </a:r>
            <a:br>
              <a:rPr lang="en-US" sz="2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Shape 5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0" name="Shape 6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1600"/>
            <a:ext cx="8755481" cy="450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8223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9210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3. GitLab Best practices</a:t>
            </a:r>
            <a:br>
              <a:rPr lang="en-US" dirty="0"/>
            </a:br>
            <a:r>
              <a:rPr lang="en-US" sz="3200" dirty="0"/>
              <a:t>Fast-forward Merge in Gitlab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E752125-9AE1-C191-AEC7-7C8B0D28E450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990810" y="3319426"/>
            <a:ext cx="4393513" cy="658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03155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1F1B0D6-90ED-BBDA-84AA-EEB63ECF6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439927"/>
            <a:ext cx="9085333" cy="526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28DA566-3F41-038C-7727-92B8D45A410E}"/>
              </a:ext>
            </a:extLst>
          </p:cNvPr>
          <p:cNvSpPr txBox="1"/>
          <p:nvPr/>
        </p:nvSpPr>
        <p:spPr>
          <a:xfrm>
            <a:off x="5943600" y="581183"/>
            <a:ext cx="2971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rgbClr val="172B4D"/>
                </a:solidFill>
                <a:effectLst/>
                <a:latin typeface="+mj-lt"/>
              </a:rPr>
              <a:t>Must Merge method Fast-Forward </a:t>
            </a:r>
            <a:br>
              <a:rPr lang="en-US" dirty="0">
                <a:latin typeface="+mj-lt"/>
              </a:rPr>
            </a:br>
            <a:endParaRPr lang="en-IL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063151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30051" y="0"/>
            <a:ext cx="9144000" cy="137160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3. GitLab Best practices cont.</a:t>
            </a:r>
            <a:br>
              <a:rPr lang="en-US" dirty="0"/>
            </a:b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F0B1FD8-FB30-CB69-F56C-D2441D0A2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87" y="2598821"/>
            <a:ext cx="9090425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8939F7-7D63-5DD3-AFFB-7BF26506043C}"/>
              </a:ext>
            </a:extLst>
          </p:cNvPr>
          <p:cNvSpPr txBox="1"/>
          <p:nvPr/>
        </p:nvSpPr>
        <p:spPr>
          <a:xfrm>
            <a:off x="533400" y="838200"/>
            <a:ext cx="4682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Squash is must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8677422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31BEF-1304-75BB-7562-D09F41B83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533400"/>
            <a:ext cx="8593137" cy="758700"/>
          </a:xfrm>
        </p:spPr>
        <p:txBody>
          <a:bodyPr/>
          <a:lstStyle/>
          <a:p>
            <a:r>
              <a:rPr kumimoji="0" lang="en-IL" altLang="en-IL" sz="3600" b="0" i="0" u="none" strike="noStrike" cap="none" normalizeH="0" baseline="0" dirty="0">
                <a:ln>
                  <a:noFill/>
                </a:ln>
                <a:solidFill>
                  <a:srgbClr val="172B4D"/>
                </a:solidFill>
                <a:effectLst/>
                <a:latin typeface="+mj-lt"/>
              </a:rPr>
              <a:t>Squash commit message template must: </a:t>
            </a:r>
            <a:endParaRPr lang="en-IL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4FFA8-6FEC-2F30-3F54-C675055FE1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38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D371583-FAC2-E0CA-2092-04CC6F833C75}"/>
              </a:ext>
            </a:extLst>
          </p:cNvPr>
          <p:cNvGraphicFramePr>
            <a:graphicFrameLocks noGrp="1"/>
          </p:cNvGraphicFramePr>
          <p:nvPr/>
        </p:nvGraphicFramePr>
        <p:xfrm>
          <a:off x="311150" y="3407569"/>
          <a:ext cx="8521700" cy="914400"/>
        </p:xfrm>
        <a:graphic>
          <a:graphicData uri="http://schemas.openxmlformats.org/drawingml/2006/table">
            <a:tbl>
              <a:tblPr/>
              <a:tblGrid>
                <a:gridCol w="8521700">
                  <a:extLst>
                    <a:ext uri="{9D8B030D-6E8A-4147-A177-3AD203B41FA5}">
                      <a16:colId xmlns:a16="http://schemas.microsoft.com/office/drawing/2014/main" val="2539964023"/>
                    </a:ext>
                  </a:extLst>
                </a:gridCol>
              </a:tblGrid>
              <a:tr h="890825">
                <a:tc>
                  <a:txBody>
                    <a:bodyPr/>
                    <a:lstStyle/>
                    <a:p>
                      <a:pPr algn="l" fontAlgn="base"/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%{</a:t>
                      </a:r>
                      <a:r>
                        <a:rPr lang="en-US" sz="1200" b="0" i="0" dirty="0" err="1">
                          <a:effectLst/>
                          <a:latin typeface="Consolas" panose="020B0609020204030204" pitchFamily="49" charset="0"/>
                        </a:rPr>
                        <a:t>source_branch</a:t>
                      </a:r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}: %{title}</a:t>
                      </a:r>
                    </a:p>
                    <a:p>
                      <a:pPr algn="l" fontAlgn="base"/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 </a:t>
                      </a:r>
                    </a:p>
                    <a:p>
                      <a:pPr algn="l" fontAlgn="base"/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Branch: %{</a:t>
                      </a:r>
                      <a:r>
                        <a:rPr lang="en-US" sz="1200" b="0" i="0" dirty="0" err="1">
                          <a:effectLst/>
                          <a:latin typeface="Consolas" panose="020B0609020204030204" pitchFamily="49" charset="0"/>
                        </a:rPr>
                        <a:t>source_branch</a:t>
                      </a:r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  <a:p>
                      <a:pPr algn="l" fontAlgn="base"/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Reviewer: %{</a:t>
                      </a:r>
                      <a:r>
                        <a:rPr lang="en-US" sz="1200" b="0" i="0" dirty="0" err="1">
                          <a:effectLst/>
                          <a:latin typeface="Consolas" panose="020B0609020204030204" pitchFamily="49" charset="0"/>
                        </a:rPr>
                        <a:t>approved_by</a:t>
                      </a:r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  <a:p>
                      <a:pPr algn="l" fontAlgn="base"/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MR: %{</a:t>
                      </a:r>
                      <a:r>
                        <a:rPr lang="en-US" sz="1200" b="0" i="0" dirty="0" err="1">
                          <a:effectLst/>
                          <a:latin typeface="Consolas" panose="020B0609020204030204" pitchFamily="49" charset="0"/>
                        </a:rPr>
                        <a:t>url</a:t>
                      </a:r>
                      <a:r>
                        <a:rPr lang="en-US" sz="1200" b="0" i="0" dirty="0"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119307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5430101"/>
                  </a:ext>
                </a:extLst>
              </a:tr>
            </a:tbl>
          </a:graphicData>
        </a:graphic>
      </p:graphicFrame>
      <p:pic>
        <p:nvPicPr>
          <p:cNvPr id="3075" name="Picture 3">
            <a:extLst>
              <a:ext uri="{FF2B5EF4-FFF2-40B4-BE49-F238E27FC236}">
                <a16:creationId xmlns:a16="http://schemas.microsoft.com/office/drawing/2014/main" id="{C94901B0-4374-BB40-5DCB-54E4AEFE7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3382169"/>
            <a:ext cx="9982200" cy="250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3CBB82F-7AE3-611B-32E4-14FB9022B5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133886"/>
              </p:ext>
            </p:extLst>
          </p:nvPr>
        </p:nvGraphicFramePr>
        <p:xfrm>
          <a:off x="285750" y="1811299"/>
          <a:ext cx="8521700" cy="1215594"/>
        </p:xfrm>
        <a:graphic>
          <a:graphicData uri="http://schemas.openxmlformats.org/drawingml/2006/table">
            <a:tbl>
              <a:tblPr/>
              <a:tblGrid>
                <a:gridCol w="8521700">
                  <a:extLst>
                    <a:ext uri="{9D8B030D-6E8A-4147-A177-3AD203B41FA5}">
                      <a16:colId xmlns:a16="http://schemas.microsoft.com/office/drawing/2014/main" val="1637413456"/>
                    </a:ext>
                  </a:extLst>
                </a:gridCol>
              </a:tblGrid>
              <a:tr h="1215594">
                <a:tc>
                  <a:txBody>
                    <a:bodyPr/>
                    <a:lstStyle/>
                    <a:p>
                      <a:pPr algn="l" fontAlgn="base"/>
                      <a:r>
                        <a:rPr lang="en-US" sz="12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%{</a:t>
                      </a:r>
                      <a:r>
                        <a:rPr lang="en-US" sz="1200" b="0" i="0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source_branch</a:t>
                      </a:r>
                      <a:r>
                        <a:rPr lang="en-US" sz="12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}: %{title}</a:t>
                      </a:r>
                    </a:p>
                    <a:p>
                      <a:pPr algn="l" fontAlgn="base"/>
                      <a:r>
                        <a:rPr lang="en-US" sz="1200" b="0" i="0" dirty="0">
                          <a:effectLst/>
                          <a:latin typeface="+mj-lt"/>
                        </a:rPr>
                        <a:t> </a:t>
                      </a:r>
                    </a:p>
                    <a:p>
                      <a:pPr algn="l" fontAlgn="base"/>
                      <a:r>
                        <a:rPr lang="en-US" sz="12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Branch: %{</a:t>
                      </a:r>
                      <a:r>
                        <a:rPr lang="en-US" sz="1200" b="0" i="0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source_branch</a:t>
                      </a:r>
                      <a:r>
                        <a:rPr lang="en-US" sz="12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}</a:t>
                      </a:r>
                    </a:p>
                    <a:p>
                      <a:pPr algn="l" fontAlgn="base"/>
                      <a:r>
                        <a:rPr lang="en-US" sz="12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Reviewer: %{</a:t>
                      </a:r>
                      <a:r>
                        <a:rPr lang="en-US" sz="1200" b="0" i="0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approved_by</a:t>
                      </a:r>
                      <a:r>
                        <a:rPr lang="en-US" sz="12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}</a:t>
                      </a:r>
                    </a:p>
                    <a:p>
                      <a:pPr algn="l" fontAlgn="base"/>
                      <a:r>
                        <a:rPr lang="en-US" sz="12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MR: %{</a:t>
                      </a:r>
                      <a:r>
                        <a:rPr lang="en-US" sz="1200" b="0" i="0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url</a:t>
                      </a:r>
                      <a:r>
                        <a:rPr lang="en-US" sz="12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}</a:t>
                      </a:r>
                    </a:p>
                  </a:txBody>
                  <a:tcPr marL="119307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207695"/>
                  </a:ext>
                </a:extLst>
              </a:tr>
            </a:tbl>
          </a:graphicData>
        </a:graphic>
      </p:graphicFrame>
      <p:sp>
        <p:nvSpPr>
          <p:cNvPr id="11" name="Rectangle 5">
            <a:extLst>
              <a:ext uri="{FF2B5EF4-FFF2-40B4-BE49-F238E27FC236}">
                <a16:creationId xmlns:a16="http://schemas.microsoft.com/office/drawing/2014/main" id="{53824BC0-1EB1-3744-B038-FFD2E7CD41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150" y="1297857"/>
            <a:ext cx="5491163" cy="430887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j-lt"/>
              </a:rPr>
              <a:t>Squash commit message template must be: </a:t>
            </a:r>
            <a:endParaRPr kumimoji="0" lang="en-IL" altLang="en-IL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4371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6A6C9-10BB-17B9-BBA6-12894E941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33400"/>
            <a:ext cx="8821737" cy="758700"/>
          </a:xfrm>
        </p:spPr>
        <p:txBody>
          <a:bodyPr/>
          <a:lstStyle/>
          <a:p>
            <a:r>
              <a:rPr lang="en-IL" dirty="0"/>
              <a:t>Only 1 Default Branch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0BC02-3E8D-36B6-EF32-63B9E0FB6C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91B01301-8544-142C-926B-317B1BDB76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63725"/>
            <a:ext cx="9144000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33973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CDF91-FCCD-95D4-EFCB-EDF43622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172B4D"/>
                </a:solidFill>
                <a:effectLst/>
                <a:latin typeface="+mj-lt"/>
              </a:rPr>
              <a:t>Must Push rules below 3 rules are must</a:t>
            </a:r>
            <a:endParaRPr lang="en-IL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F7260-C9E8-20C0-832B-E1E202F043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9D0E567-0997-126F-F090-E5AFBEECC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38400"/>
            <a:ext cx="9144000" cy="3471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90065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8EC5-B28C-B193-D9B1-DD6B7FB08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84667"/>
            <a:ext cx="8229600" cy="758700"/>
          </a:xfrm>
        </p:spPr>
        <p:txBody>
          <a:bodyPr/>
          <a:lstStyle/>
          <a:p>
            <a:r>
              <a:rPr lang="en-IL" dirty="0"/>
              <a:t>Branch rules is must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DD053-0C6D-4BBD-ABAF-2A06833E337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EA5A488-B055-EDC3-8D4E-B36A7D9FB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059742"/>
              </p:ext>
            </p:extLst>
          </p:nvPr>
        </p:nvGraphicFramePr>
        <p:xfrm>
          <a:off x="228600" y="1388533"/>
          <a:ext cx="8521700" cy="1309423"/>
        </p:xfrm>
        <a:graphic>
          <a:graphicData uri="http://schemas.openxmlformats.org/drawingml/2006/table">
            <a:tbl>
              <a:tblPr/>
              <a:tblGrid>
                <a:gridCol w="8521700">
                  <a:extLst>
                    <a:ext uri="{9D8B030D-6E8A-4147-A177-3AD203B41FA5}">
                      <a16:colId xmlns:a16="http://schemas.microsoft.com/office/drawing/2014/main" val="2543891858"/>
                    </a:ext>
                  </a:extLst>
                </a:gridCol>
              </a:tblGrid>
              <a:tr h="1309423">
                <a:tc>
                  <a:txBody>
                    <a:bodyPr/>
                    <a:lstStyle/>
                    <a:p>
                      <a:pPr algn="l" fontAlgn="base"/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Branch name:</a:t>
                      </a:r>
                    </a:p>
                    <a:p>
                      <a:pPr algn="l" fontAlgn="base"/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((chore|ci|docs|feature|feat|fix|perf|refactor|release|breaking|test)\/(CLO|TM|HCOPS|HCDEVOPS|HCNOC|POST)-\d+(-.*)?|^(revert-.+))$</a:t>
                      </a:r>
                    </a:p>
                    <a:p>
                      <a:pPr algn="l" fontAlgn="base"/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</a:p>
                    <a:p>
                      <a:pPr algn="l" fontAlgn="base"/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</a:p>
                    <a:p>
                      <a:pPr algn="l" fontAlgn="base"/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author's e-mail</a:t>
                      </a:r>
                    </a:p>
                    <a:p>
                      <a:pPr algn="l" fontAlgn="base"/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@checkpoint\.com$</a:t>
                      </a:r>
                    </a:p>
                  </a:txBody>
                  <a:tcPr marL="114009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3657645"/>
                  </a:ext>
                </a:extLst>
              </a:tr>
            </a:tbl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D109A7CB-3957-1414-E684-73F40BC8D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150" y="944489"/>
            <a:ext cx="1694375" cy="430887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j-lt"/>
              </a:rPr>
              <a:t>Push pules -&gt; Branch Name</a:t>
            </a:r>
            <a:endParaRPr kumimoji="0" lang="en-IL" altLang="en-IL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149" name="Picture 5">
            <a:extLst>
              <a:ext uri="{FF2B5EF4-FFF2-40B4-BE49-F238E27FC236}">
                <a16:creationId xmlns:a16="http://schemas.microsoft.com/office/drawing/2014/main" id="{FB1A5342-84C9-934B-E777-EFAB137BB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0" y="2909623"/>
            <a:ext cx="9144000" cy="3798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4093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6EA70-A626-DF05-F04F-FB5375890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33" y="-25275"/>
            <a:ext cx="9127067" cy="758700"/>
          </a:xfrm>
        </p:spPr>
        <p:txBody>
          <a:bodyPr/>
          <a:lstStyle/>
          <a:p>
            <a:r>
              <a:rPr lang="en-US" sz="2200" b="0" i="0" u="none" strike="noStrike" dirty="0">
                <a:solidFill>
                  <a:srgbClr val="172B4D"/>
                </a:solidFill>
                <a:effectLst/>
                <a:latin typeface="+mj-lt"/>
              </a:rPr>
              <a:t>Must Protected Branch: Allowed to push: no one  (No 	one can push directly to master)</a:t>
            </a:r>
            <a:endParaRPr lang="en-IL" sz="2200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22355-532C-06B3-A12E-1E5718AD52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AF64083-9008-1D4B-0FAC-C1F84009E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33425"/>
            <a:ext cx="9144000" cy="611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29368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33" y="549275"/>
            <a:ext cx="9144000" cy="1447800"/>
          </a:xfrm>
        </p:spPr>
        <p:txBody>
          <a:bodyPr/>
          <a:lstStyle/>
          <a:p>
            <a:r>
              <a:rPr lang="en-US" sz="1600" b="0" i="0" u="none" strike="noStrike" dirty="0">
                <a:solidFill>
                  <a:srgbClr val="172B4D"/>
                </a:solidFill>
                <a:effectLst/>
                <a:latin typeface="+mj-lt"/>
              </a:rPr>
              <a:t>Merge request approvals must be a list of users relevant to approve MR in a specific project (Example: scripts repo approvers DevOps Team members, policy-service repo Omer's team members. Each project owner decides on relevant approvers)</a:t>
            </a:r>
            <a:br>
              <a:rPr lang="en-US" sz="1600" dirty="0">
                <a:latin typeface="+mj-lt"/>
              </a:rPr>
            </a:br>
            <a:r>
              <a:rPr lang="en-US" sz="1600" b="0" i="0" u="none" strike="noStrike" dirty="0">
                <a:solidFill>
                  <a:srgbClr val="172B4D"/>
                </a:solidFill>
                <a:effectLst/>
                <a:latin typeface="+mj-lt"/>
              </a:rPr>
              <a:t>At least 1 approver is required </a:t>
            </a:r>
            <a:br>
              <a:rPr lang="en-US" sz="1600" dirty="0">
                <a:latin typeface="+mj-lt"/>
              </a:rPr>
            </a:br>
            <a:r>
              <a:rPr lang="en-US" sz="1600" b="0" i="0" u="none" strike="noStrike" dirty="0">
                <a:solidFill>
                  <a:srgbClr val="172B4D"/>
                </a:solidFill>
                <a:effectLst/>
                <a:latin typeface="+mj-lt"/>
              </a:rPr>
              <a:t>And below 2 approval settings are must</a:t>
            </a:r>
            <a:endParaRPr lang="en-US" sz="32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43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E948B778-8D89-D103-397C-CFF253A72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97075"/>
            <a:ext cx="91440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26906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95400"/>
          </a:xfrm>
        </p:spPr>
        <p:txBody>
          <a:bodyPr/>
          <a:lstStyle/>
          <a:p>
            <a:r>
              <a:rPr lang="en-US" sz="2800" dirty="0"/>
              <a:t>FF Merge only after: CI Pipeline succeed and Code Review + Approval. Squash + Delete Source  Branch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181100"/>
            <a:ext cx="6343650" cy="521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02050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"/>
            <a:ext cx="9144000" cy="1816189"/>
          </a:xfrm>
        </p:spPr>
        <p:txBody>
          <a:bodyPr/>
          <a:lstStyle/>
          <a:p>
            <a:r>
              <a:rPr lang="en-US" sz="2800" dirty="0"/>
              <a:t>Gitlab FF Merge must be related to Jira Version Release. Only tasks in Version must be merged.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2700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090" y="1816189"/>
            <a:ext cx="8458200" cy="5048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68179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99" y="0"/>
            <a:ext cx="9067801" cy="2057400"/>
          </a:xfrm>
        </p:spPr>
        <p:txBody>
          <a:bodyPr/>
          <a:lstStyle/>
          <a:p>
            <a:r>
              <a:rPr lang="en-US" sz="3600" dirty="0"/>
              <a:t>Merge need to change status to “Done”, Approve to status “Code Review”, Push – to status “In Progress”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73" y="2057400"/>
            <a:ext cx="9052926" cy="37814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224443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en-US" sz="3200" dirty="0">
                <a:solidFill>
                  <a:schemeClr val="bg2"/>
                </a:solidFill>
              </a:rPr>
              <a:t>3. GitLab Best practices cont.</a:t>
            </a:r>
            <a:br>
              <a:rPr lang="en-US" sz="3200" dirty="0">
                <a:solidFill>
                  <a:schemeClr val="bg2"/>
                </a:solidFill>
              </a:rPr>
            </a:br>
            <a:r>
              <a:rPr lang="en-US" sz="2800" dirty="0">
                <a:solidFill>
                  <a:schemeClr val="bg2"/>
                </a:solidFill>
              </a:rPr>
              <a:t>GitLab CI best practices. DevOps templates</a:t>
            </a:r>
            <a:endParaRPr lang="en-US"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379112"/>
            <a:ext cx="4724400" cy="5471375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rgbClr val="000000"/>
                </a:solidFill>
              </a:rPr>
              <a:t>Push triggers CI/CD pipeline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(</a:t>
            </a:r>
            <a:r>
              <a:rPr lang="en-US" b="1" dirty="0">
                <a:solidFill>
                  <a:srgbClr val="00B050"/>
                </a:solidFill>
              </a:rPr>
              <a:t>topic/feature branch</a:t>
            </a:r>
            <a:r>
              <a:rPr lang="en-US" dirty="0">
                <a:solidFill>
                  <a:srgbClr val="000000"/>
                </a:solidFill>
              </a:rPr>
              <a:t>):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Build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Unit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Static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Code coverage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Snippet, Security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STG Deploy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Regression Tests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 Placeholder 2"/>
          <p:cNvSpPr txBox="1">
            <a:spLocks/>
          </p:cNvSpPr>
          <p:nvPr/>
        </p:nvSpPr>
        <p:spPr>
          <a:xfrm>
            <a:off x="4648201" y="1371600"/>
            <a:ext cx="4437062" cy="4876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101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lnSpc>
                <a:spcPct val="115000"/>
              </a:lnSpc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lnSpc>
                <a:spcPct val="115000"/>
              </a:lnSpc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indent="0">
              <a:buNone/>
            </a:pPr>
            <a:r>
              <a:rPr lang="en-US" dirty="0">
                <a:solidFill>
                  <a:srgbClr val="000000"/>
                </a:solidFill>
              </a:rPr>
              <a:t>Fast Forward Merge to </a:t>
            </a:r>
            <a:r>
              <a:rPr lang="en-US" b="1" dirty="0">
                <a:solidFill>
                  <a:srgbClr val="FF0000"/>
                </a:solidFill>
              </a:rPr>
              <a:t>master branch</a:t>
            </a:r>
            <a:r>
              <a:rPr lang="en-US" dirty="0">
                <a:solidFill>
                  <a:srgbClr val="000000"/>
                </a:solidFill>
              </a:rPr>
              <a:t>, triggers CI pipeline: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PRD Deploy (Automatic/Manual)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Regression Tests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8542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Git Lab CI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 CI reference Guide</a:t>
            </a:r>
            <a:br>
              <a:rPr lang="en-US" dirty="0">
                <a:hlinkClick r:id="rId2"/>
              </a:rPr>
            </a:br>
            <a:r>
              <a:rPr lang="en-US" dirty="0">
                <a:hlinkClick r:id="rId2"/>
              </a:rPr>
              <a:t>https://docs.gitlab.com/ee/ci/yaml/</a:t>
            </a:r>
            <a:endParaRPr lang="en-US" dirty="0"/>
          </a:p>
          <a:p>
            <a:r>
              <a:rPr lang="en-US" dirty="0">
                <a:hlinkClick r:id="rId3"/>
              </a:rPr>
              <a:t>CI definition file</a:t>
            </a:r>
            <a:br>
              <a:rPr lang="en-US" dirty="0">
                <a:hlinkClick r:id="rId3"/>
              </a:rPr>
            </a:br>
            <a:r>
              <a:rPr lang="en-US" dirty="0">
                <a:hlinkClick r:id="rId3"/>
              </a:rPr>
              <a:t>https://gitlab.com/ilyaro/demo-be/-/blob/master/.gitlab-ci.yml</a:t>
            </a:r>
          </a:p>
          <a:p>
            <a:r>
              <a:rPr lang="en-US" dirty="0">
                <a:hlinkClick r:id="rId3"/>
              </a:rPr>
              <a:t>Pipelines </a:t>
            </a:r>
            <a:br>
              <a:rPr lang="en-US" dirty="0">
                <a:hlinkClick r:id="rId3"/>
              </a:rPr>
            </a:br>
            <a:r>
              <a:rPr lang="en-US" dirty="0">
                <a:hlinkClick r:id="rId3"/>
              </a:rPr>
              <a:t>https://gitlab.com/ilyaro/demo-be/pipelines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48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839491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629"/>
          <p:cNvSpPr txBox="1">
            <a:spLocks noGrp="1"/>
          </p:cNvSpPr>
          <p:nvPr>
            <p:ph type="title"/>
          </p:nvPr>
        </p:nvSpPr>
        <p:spPr>
          <a:xfrm>
            <a:off x="261013" y="152400"/>
            <a:ext cx="8229600" cy="83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lvl="0" algn="ctr">
              <a:buClr>
                <a:schemeClr val="dk2"/>
              </a:buClr>
              <a:buSzPct val="25000"/>
            </a:pPr>
            <a:r>
              <a:rPr lang="en-US" sz="4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br>
              <a:rPr lang="en-US" sz="4400" dirty="0"/>
            </a:br>
            <a:br>
              <a:rPr lang="en-US" sz="4400" dirty="0"/>
            </a:br>
            <a:r>
              <a:rPr lang="en-US" sz="4400" dirty="0"/>
              <a:t>Summary</a:t>
            </a:r>
            <a:br>
              <a:rPr lang="en-US" sz="4400" dirty="0"/>
            </a:br>
            <a:br>
              <a:rPr lang="en-US" sz="4400" dirty="0"/>
            </a:br>
            <a:r>
              <a:rPr lang="en-US" sz="4400" dirty="0"/>
              <a:t>Ilya Rokhkin (Git Trainings)</a:t>
            </a:r>
            <a:br>
              <a:rPr lang="en-US" sz="4400" dirty="0"/>
            </a:br>
            <a:r>
              <a:rPr lang="en-US" sz="2800" dirty="0">
                <a:hlinkClick r:id="rId3"/>
              </a:rPr>
              <a:t>https://github.com/ilyaro/git_best_practices_ppt</a:t>
            </a:r>
            <a:br>
              <a:rPr lang="en-US" sz="2800" dirty="0"/>
            </a:br>
            <a:br>
              <a:rPr lang="en-US" sz="4400" dirty="0"/>
            </a:br>
            <a:r>
              <a:rPr lang="en-US" sz="4000" dirty="0">
                <a:hlinkClick r:id="rId4"/>
              </a:rPr>
              <a:t>rokhkin_ilya@yahoo.com</a:t>
            </a:r>
            <a:br>
              <a:rPr lang="en-US" sz="4000" dirty="0"/>
            </a:br>
            <a:r>
              <a:rPr lang="en-US" sz="4000" dirty="0"/>
              <a:t>054-5224805</a:t>
            </a:r>
            <a:br>
              <a:rPr lang="en-US" sz="4000" dirty="0"/>
            </a:br>
            <a:br>
              <a:rPr lang="en-US" sz="4400" dirty="0"/>
            </a:br>
            <a:endParaRPr lang="en-US" sz="4400" dirty="0"/>
          </a:p>
        </p:txBody>
      </p:sp>
      <p:sp>
        <p:nvSpPr>
          <p:cNvPr id="630" name="Shape 63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31" name="Shape 63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912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Git GitLab Best Practices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27000" indent="0" algn="ctr">
              <a:buNone/>
            </a:pPr>
            <a:endParaRPr lang="en-US" sz="4800" dirty="0"/>
          </a:p>
          <a:p>
            <a:pPr marL="127000" indent="0" algn="ctr">
              <a:buNone/>
            </a:pPr>
            <a:r>
              <a:rPr lang="en-US" sz="4800" dirty="0"/>
              <a:t>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50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652845"/>
      </p:ext>
    </p:extLst>
  </p:cSld>
  <p:clrMapOvr>
    <a:masterClrMapping/>
  </p:clrMapOvr>
</p:sld>
</file>

<file path=ppt/theme/theme1.xml><?xml version="1.0" encoding="utf-8"?>
<a:theme xmlns:a="http://schemas.openxmlformats.org/drawingml/2006/main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0cf9a1c-2cb1-4d38-9733-321b2d511f49}" enabled="1" method="Standar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5399</TotalTime>
  <Words>2266</Words>
  <Application>Microsoft Macintosh PowerPoint</Application>
  <PresentationFormat>On-screen Show (4:3)</PresentationFormat>
  <Paragraphs>683</Paragraphs>
  <Slides>50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Merriweather</vt:lpstr>
      <vt:lpstr>Arial</vt:lpstr>
      <vt:lpstr>Consolas</vt:lpstr>
      <vt:lpstr>Amatic SC</vt:lpstr>
      <vt:lpstr>Source Code Pro</vt:lpstr>
      <vt:lpstr>Beach Day</vt:lpstr>
      <vt:lpstr>Git and GitLab Best Practices</vt:lpstr>
      <vt:lpstr>Git – meaning?</vt:lpstr>
      <vt:lpstr>PowerPoint Presentation</vt:lpstr>
      <vt:lpstr>Commit Object</vt:lpstr>
      <vt:lpstr>About myself: Ilya Rokhkin  - 20+ years experience in Version Control Systems - Official Git trainer in CKP, Intel, Marvell. - Freelance Git trainer. - Volunteer as Hebrew teacher in “Ulpan” 10+ years  </vt:lpstr>
      <vt:lpstr>Agenda:</vt:lpstr>
      <vt:lpstr>1. Git + GitLab best practices in work flow. Best practice: 1 Commit per Jira issue in main branches </vt:lpstr>
      <vt:lpstr>Create new feature branch FTR-10 (Jira) </vt:lpstr>
      <vt:lpstr>Checkout local branch lcl-10,  save-&gt;auto commit</vt:lpstr>
      <vt:lpstr>Save -&gt; auto commit, tag important changes: working1</vt:lpstr>
      <vt:lpstr>Making how many auto commits as needed, tagging as needed working2</vt:lpstr>
      <vt:lpstr>Merge --squash lcl-10 to fix/FTR-10</vt:lpstr>
      <vt:lpstr>Push -&gt; trigger CI, remove branch lcl-10 </vt:lpstr>
      <vt:lpstr>Open Gitlab MR</vt:lpstr>
      <vt:lpstr>Change not approved, need to fix comments</vt:lpstr>
      <vt:lpstr>Again checkout lcl-10,save-&gt;autocommit</vt:lpstr>
      <vt:lpstr>Squash merge to FTR-10 </vt:lpstr>
      <vt:lpstr>Push fix of review, CI, delete local branch lcl-10 </vt:lpstr>
      <vt:lpstr>Open Merge Request, Approve MR</vt:lpstr>
      <vt:lpstr>Other commit was merged, FF merge no possible now</vt:lpstr>
      <vt:lpstr>Rebase with squash only</vt:lpstr>
      <vt:lpstr>Trigger CI on new commit</vt:lpstr>
      <vt:lpstr>FF Merge, Tag and Remove Source Branch, Fast Forward Merge must</vt:lpstr>
      <vt:lpstr>We got desired result: 1 Commit per Jira issue in main branch.  Start new Feature FTR-11</vt:lpstr>
      <vt:lpstr>2. Git + GitLab best practices hands on https://gitlab.com/ilyaro/git_gitlab_best_practices  https://gitlab.com/ilyaro/git_gitlab_best_practices/-/blob/master/Commands.md </vt:lpstr>
      <vt:lpstr>Best practices – Branch Layout </vt:lpstr>
      <vt:lpstr>Git + GitLab best practices hands on cont.</vt:lpstr>
      <vt:lpstr>Best practices – local feature branches (topics)  </vt:lpstr>
      <vt:lpstr>Best practices – commit  </vt:lpstr>
      <vt:lpstr>Best practices – tag milestones (even local)  </vt:lpstr>
      <vt:lpstr>Git + GitLab best practices hands on cont.</vt:lpstr>
      <vt:lpstr>Best practices – squashing before push  </vt:lpstr>
      <vt:lpstr>Best practices - concise commit messages</vt:lpstr>
      <vt:lpstr>Git + GitLab best practices hands on cont.</vt:lpstr>
      <vt:lpstr>Best practices – clean up local branches </vt:lpstr>
      <vt:lpstr>3. GitLab Best practices Fast-forward Merge in Gitlab</vt:lpstr>
      <vt:lpstr>3. GitLab Best practices cont. </vt:lpstr>
      <vt:lpstr>Squash commit message template must: </vt:lpstr>
      <vt:lpstr>Only 1 Default Branch</vt:lpstr>
      <vt:lpstr>Must Push rules below 3 rules are must</vt:lpstr>
      <vt:lpstr>Branch rules is must</vt:lpstr>
      <vt:lpstr>Must Protected Branch: Allowed to push: no one  (No  one can push directly to master)</vt:lpstr>
      <vt:lpstr>Merge request approvals must be a list of users relevant to approve MR in a specific project (Example: scripts repo approvers DevOps Team members, policy-service repo Omer's team members. Each project owner decides on relevant approvers) At least 1 approver is required  And below 2 approval settings are must</vt:lpstr>
      <vt:lpstr>FF Merge only after: CI Pipeline succeed and Code Review + Approval. Squash + Delete Source  Branch</vt:lpstr>
      <vt:lpstr>Gitlab FF Merge must be related to Jira Version Release. Only tasks in Version must be merged. </vt:lpstr>
      <vt:lpstr>Merge need to change status to “Done”, Approve to status “Code Review”, Push – to status “In Progress” </vt:lpstr>
      <vt:lpstr>3. GitLab Best practices cont. GitLab CI best practices. DevOps templates</vt:lpstr>
      <vt:lpstr>4. Git Lab CI overview</vt:lpstr>
      <vt:lpstr>Questions?  Summary  Ilya Rokhkin (Git Trainings) https://github.com/ilyaro/git_best_practices_ppt  rokhkin_ilya@yahoo.com 054-5224805  </vt:lpstr>
      <vt:lpstr>Git GitLab Best Practices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General Training</dc:title>
  <cp:lastModifiedBy>Ilya Rokhkin</cp:lastModifiedBy>
  <cp:revision>282</cp:revision>
  <dcterms:modified xsi:type="dcterms:W3CDTF">2024-02-24T14:08:26Z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qminfo">
    <vt:i4>1</vt:i4>
  </property>
  <property fmtid="{D5CDD505-2E9C-101B-9397-08002B2CF9AE}" pid="3" name="lqmsess">
    <vt:lpwstr>d75e6ad7-b34d-485f-aa93-a06a4245a927</vt:lpwstr>
  </property>
</Properties>
</file>