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0" r:id="rId1"/>
  </p:sldMasterIdLst>
  <p:notesMasterIdLst>
    <p:notesMasterId r:id="rId47"/>
  </p:notesMasterIdLst>
  <p:sldIdLst>
    <p:sldId id="339" r:id="rId2"/>
    <p:sldId id="340" r:id="rId3"/>
    <p:sldId id="341" r:id="rId4"/>
    <p:sldId id="266" r:id="rId5"/>
    <p:sldId id="346" r:id="rId6"/>
    <p:sldId id="257" r:id="rId7"/>
    <p:sldId id="342" r:id="rId8"/>
    <p:sldId id="309" r:id="rId9"/>
    <p:sldId id="310" r:id="rId10"/>
    <p:sldId id="308" r:id="rId11"/>
    <p:sldId id="313" r:id="rId12"/>
    <p:sldId id="311" r:id="rId13"/>
    <p:sldId id="314" r:id="rId14"/>
    <p:sldId id="315" r:id="rId15"/>
    <p:sldId id="316" r:id="rId16"/>
    <p:sldId id="318" r:id="rId17"/>
    <p:sldId id="317" r:id="rId18"/>
    <p:sldId id="319" r:id="rId19"/>
    <p:sldId id="320" r:id="rId20"/>
    <p:sldId id="322" r:id="rId21"/>
    <p:sldId id="323" r:id="rId22"/>
    <p:sldId id="324" r:id="rId23"/>
    <p:sldId id="325" r:id="rId24"/>
    <p:sldId id="326" r:id="rId25"/>
    <p:sldId id="348" r:id="rId26"/>
    <p:sldId id="336" r:id="rId27"/>
    <p:sldId id="349" r:id="rId28"/>
    <p:sldId id="330" r:id="rId29"/>
    <p:sldId id="331" r:id="rId30"/>
    <p:sldId id="332" r:id="rId31"/>
    <p:sldId id="350" r:id="rId32"/>
    <p:sldId id="333" r:id="rId33"/>
    <p:sldId id="335" r:id="rId34"/>
    <p:sldId id="351" r:id="rId35"/>
    <p:sldId id="334" r:id="rId36"/>
    <p:sldId id="343" r:id="rId37"/>
    <p:sldId id="344" r:id="rId38"/>
    <p:sldId id="345" r:id="rId39"/>
    <p:sldId id="347" r:id="rId40"/>
    <p:sldId id="353" r:id="rId41"/>
    <p:sldId id="354" r:id="rId42"/>
    <p:sldId id="352" r:id="rId43"/>
    <p:sldId id="355" r:id="rId44"/>
    <p:sldId id="337" r:id="rId45"/>
    <p:sldId id="338" r:id="rId46"/>
  </p:sldIdLst>
  <p:sldSz cx="9144000" cy="6858000" type="screen4x3"/>
  <p:notesSz cx="6934200" cy="9232900"/>
  <p:embeddedFontLst>
    <p:embeddedFont>
      <p:font typeface="Amatic SC" pitchFamily="2" charset="-79"/>
      <p:regular r:id="rId48"/>
      <p:bold r:id="rId49"/>
    </p:embeddedFont>
    <p:embeddedFont>
      <p:font typeface="Merriweather" pitchFamily="2" charset="77"/>
      <p:regular r:id="rId50"/>
      <p:bold r:id="rId51"/>
      <p:italic r:id="rId52"/>
      <p:boldItalic r:id="rId53"/>
    </p:embeddedFont>
    <p:embeddedFont>
      <p:font typeface="Source Code Pro" panose="020B0509030403020204" pitchFamily="49" charset="0"/>
      <p:regular r:id="rId54"/>
      <p:bold r:id="rId55"/>
      <p:italic r:id="rId56"/>
      <p:boldItalic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A7FF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48"/>
  </p:normalViewPr>
  <p:slideViewPr>
    <p:cSldViewPr>
      <p:cViewPr varScale="1">
        <p:scale>
          <a:sx n="117" d="100"/>
          <a:sy n="117" d="100"/>
        </p:scale>
        <p:origin x="1016" y="16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font" Target="fonts/font3.fntdata"/><Relationship Id="rId55" Type="http://schemas.openxmlformats.org/officeDocument/2006/relationships/font" Target="fonts/font8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6.fntdata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1.fntdata"/><Relationship Id="rId56" Type="http://schemas.openxmlformats.org/officeDocument/2006/relationships/font" Target="fonts/font9.fntdata"/><Relationship Id="rId8" Type="http://schemas.openxmlformats.org/officeDocument/2006/relationships/slide" Target="slides/slide7.xml"/><Relationship Id="rId51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2.fntdata"/><Relationship Id="rId57" Type="http://schemas.openxmlformats.org/officeDocument/2006/relationships/font" Target="fonts/font10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5.fntdata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929062" y="0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Char char="●"/>
              <a:defRPr sz="1800" b="0" i="0" u="none" strike="noStrike" cap="none"/>
            </a:lvl1pPr>
            <a:lvl2pPr marL="457200" marR="0" lvl="1" indent="0" algn="l" rtl="0">
              <a:spcBef>
                <a:spcPts val="0"/>
              </a:spcBef>
              <a:buChar char="○"/>
              <a:defRPr sz="1800" b="0" i="0" u="none" strike="noStrike" cap="none"/>
            </a:lvl2pPr>
            <a:lvl3pPr marL="914400" marR="0" lvl="2" indent="0" algn="l" rtl="0">
              <a:spcBef>
                <a:spcPts val="0"/>
              </a:spcBef>
              <a:buChar char="■"/>
              <a:defRPr sz="1800" b="0" i="0" u="none" strike="noStrike" cap="none"/>
            </a:lvl3pPr>
            <a:lvl4pPr marL="1371600" marR="0" lvl="3" indent="0" algn="l" rtl="0">
              <a:spcBef>
                <a:spcPts val="0"/>
              </a:spcBef>
              <a:buChar char="●"/>
              <a:defRPr sz="1800" b="0" i="0" u="none" strike="noStrike" cap="none"/>
            </a:lvl4pPr>
            <a:lvl5pPr marL="1828800" marR="0" lvl="4" indent="0" algn="l" rtl="0">
              <a:spcBef>
                <a:spcPts val="0"/>
              </a:spcBef>
              <a:buChar char="○"/>
              <a:defRPr sz="1800" b="0" i="0" u="none" strike="noStrike" cap="none"/>
            </a:lvl5pPr>
            <a:lvl6pPr marL="2286000" marR="0" lvl="5" indent="0" algn="l" rtl="0">
              <a:spcBef>
                <a:spcPts val="0"/>
              </a:spcBef>
              <a:buChar char="■"/>
              <a:defRPr sz="1800" b="0" i="0" u="none" strike="noStrike" cap="none"/>
            </a:lvl6pPr>
            <a:lvl7pPr marL="2743200" marR="0" lvl="6" indent="0" algn="l" rtl="0">
              <a:spcBef>
                <a:spcPts val="0"/>
              </a:spcBef>
              <a:buChar char="●"/>
              <a:defRPr sz="1800" b="0" i="0" u="none" strike="noStrike" cap="none"/>
            </a:lvl7pPr>
            <a:lvl8pPr marL="3200400" marR="0" lvl="7" indent="0" algn="l" rtl="0">
              <a:spcBef>
                <a:spcPts val="0"/>
              </a:spcBef>
              <a:buChar char="○"/>
              <a:defRPr sz="1800" b="0" i="0" u="none" strike="noStrike" cap="none"/>
            </a:lvl8pPr>
            <a:lvl9pPr marL="3657600" marR="0" lvl="8" indent="0" algn="l" rtl="0">
              <a:spcBef>
                <a:spcPts val="0"/>
              </a:spcBef>
              <a:buChar char="■"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770937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2375" tIns="46175" rIns="92375" bIns="4617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1940504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6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" name="Shape 6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0" name="Shape 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6" name="Shape 7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0" name="Shape 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5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Shape 5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88" name="Shape 5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57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9" name="Shape 57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Shape 55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55" name="Shape 55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Shape 60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04" name="Shape 60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Shape 56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63" name="Shape 56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Shape 5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Shape 57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2" name="Shape 57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59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6" name="Shape 59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Shape 62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27" name="Shape 62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bg>
      <p:bgPr>
        <a:solidFill>
          <a:schemeClr val="dk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9"/>
          <p:cNvSpPr txBox="1">
            <a:spLocks noGrp="1"/>
          </p:cNvSpPr>
          <p:nvPr>
            <p:ph type="title"/>
          </p:nvPr>
        </p:nvSpPr>
        <p:spPr>
          <a:xfrm>
            <a:off x="2802750" y="1070000"/>
            <a:ext cx="3538500" cy="4718100"/>
          </a:xfrm>
          <a:prstGeom prst="rect">
            <a:avLst/>
          </a:prstGeom>
          <a:solidFill>
            <a:srgbClr val="FFFFFF"/>
          </a:solidFill>
        </p:spPr>
        <p:txBody>
          <a:bodyPr wrap="square"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4800"/>
            </a:lvl1pPr>
            <a:lvl2pPr lvl="1" algn="ctr">
              <a:spcBef>
                <a:spcPts val="0"/>
              </a:spcBef>
              <a:buSzPct val="100000"/>
              <a:defRPr sz="4800"/>
            </a:lvl2pPr>
            <a:lvl3pPr lvl="2" algn="ctr">
              <a:spcBef>
                <a:spcPts val="0"/>
              </a:spcBef>
              <a:buSzPct val="100000"/>
              <a:defRPr sz="4800"/>
            </a:lvl3pPr>
            <a:lvl4pPr lvl="3" algn="ctr">
              <a:spcBef>
                <a:spcPts val="0"/>
              </a:spcBef>
              <a:buSzPct val="100000"/>
              <a:defRPr sz="4800"/>
            </a:lvl4pPr>
            <a:lvl5pPr lvl="4" algn="ctr">
              <a:spcBef>
                <a:spcPts val="0"/>
              </a:spcBef>
              <a:buSzPct val="100000"/>
              <a:defRPr sz="4800"/>
            </a:lvl5pPr>
            <a:lvl6pPr lvl="5" algn="ctr">
              <a:spcBef>
                <a:spcPts val="0"/>
              </a:spcBef>
              <a:buSzPct val="100000"/>
              <a:defRPr sz="4800"/>
            </a:lvl6pPr>
            <a:lvl7pPr lvl="6" algn="ctr">
              <a:spcBef>
                <a:spcPts val="0"/>
              </a:spcBef>
              <a:buSzPct val="100000"/>
              <a:defRPr sz="4800"/>
            </a:lvl7pPr>
            <a:lvl8pPr lvl="7" algn="ctr">
              <a:spcBef>
                <a:spcPts val="0"/>
              </a:spcBef>
              <a:buSzPct val="100000"/>
              <a:defRPr sz="4800"/>
            </a:lvl8pPr>
            <a:lvl9pPr lvl="8" algn="ctr">
              <a:spcBef>
                <a:spcPts val="0"/>
              </a:spcBef>
              <a:buSzPct val="100000"/>
              <a:defRPr sz="4800"/>
            </a:lvl9pPr>
          </a:lstStyle>
          <a:p>
            <a:endParaRPr/>
          </a:p>
        </p:txBody>
      </p:sp>
      <p:sp>
        <p:nvSpPr>
          <p:cNvPr id="20" name="Shape 2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3" name="Shape 23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85206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4" name="Shape 2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itle and two 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6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7" name="Shape 27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39999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28" name="Shape 28"/>
          <p:cNvSpPr txBox="1">
            <a:spLocks noGrp="1"/>
          </p:cNvSpPr>
          <p:nvPr>
            <p:ph type="body" idx="2"/>
          </p:nvPr>
        </p:nvSpPr>
        <p:spPr>
          <a:xfrm>
            <a:off x="4832400" y="1638233"/>
            <a:ext cx="39999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 txBox="1">
            <a:spLocks noGrp="1"/>
          </p:cNvSpPr>
          <p:nvPr>
            <p:ph type="title"/>
          </p:nvPr>
        </p:nvSpPr>
        <p:spPr>
          <a:xfrm>
            <a:off x="304800" y="412467"/>
            <a:ext cx="8537700" cy="997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4000"/>
            </a:lvl1pPr>
            <a:lvl2pPr lvl="1">
              <a:spcBef>
                <a:spcPts val="0"/>
              </a:spcBef>
              <a:buSzPct val="100000"/>
              <a:defRPr sz="4000"/>
            </a:lvl2pPr>
            <a:lvl3pPr lvl="2">
              <a:spcBef>
                <a:spcPts val="0"/>
              </a:spcBef>
              <a:buSzPct val="100000"/>
              <a:defRPr sz="4000"/>
            </a:lvl3pPr>
            <a:lvl4pPr lvl="3">
              <a:spcBef>
                <a:spcPts val="0"/>
              </a:spcBef>
              <a:buSzPct val="100000"/>
              <a:defRPr sz="4000"/>
            </a:lvl4pPr>
            <a:lvl5pPr lvl="4">
              <a:spcBef>
                <a:spcPts val="0"/>
              </a:spcBef>
              <a:buSzPct val="100000"/>
              <a:defRPr sz="4000"/>
            </a:lvl5pPr>
            <a:lvl6pPr lvl="5">
              <a:spcBef>
                <a:spcPts val="0"/>
              </a:spcBef>
              <a:buSzPct val="100000"/>
              <a:defRPr sz="4000"/>
            </a:lvl6pPr>
            <a:lvl7pPr lvl="6">
              <a:spcBef>
                <a:spcPts val="0"/>
              </a:spcBef>
              <a:buSzPct val="100000"/>
              <a:defRPr sz="4000"/>
            </a:lvl7pPr>
            <a:lvl8pPr lvl="7">
              <a:spcBef>
                <a:spcPts val="0"/>
              </a:spcBef>
              <a:buSzPct val="100000"/>
              <a:defRPr sz="4000"/>
            </a:lvl8pPr>
            <a:lvl9pPr lvl="8">
              <a:spcBef>
                <a:spcPts val="0"/>
              </a:spcBef>
              <a:buSzPct val="100000"/>
              <a:defRPr sz="4000"/>
            </a:lvl9pPr>
          </a:lstStyle>
          <a:p>
            <a:endParaRPr/>
          </a:p>
        </p:txBody>
      </p:sp>
      <p:sp>
        <p:nvSpPr>
          <p:cNvPr id="32" name="Shape 3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ne column 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34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3000"/>
            </a:lvl1pPr>
            <a:lvl2pPr lvl="1">
              <a:spcBef>
                <a:spcPts val="0"/>
              </a:spcBef>
              <a:buSzPct val="100000"/>
              <a:defRPr sz="3000"/>
            </a:lvl2pPr>
            <a:lvl3pPr lvl="2">
              <a:spcBef>
                <a:spcPts val="0"/>
              </a:spcBef>
              <a:buSzPct val="100000"/>
              <a:defRPr sz="3000"/>
            </a:lvl3pPr>
            <a:lvl4pPr lvl="3">
              <a:spcBef>
                <a:spcPts val="0"/>
              </a:spcBef>
              <a:buSzPct val="100000"/>
              <a:defRPr sz="3000"/>
            </a:lvl4pPr>
            <a:lvl5pPr lvl="4">
              <a:spcBef>
                <a:spcPts val="0"/>
              </a:spcBef>
              <a:buSzPct val="100000"/>
              <a:defRPr sz="3000"/>
            </a:lvl5pPr>
            <a:lvl6pPr lvl="5">
              <a:spcBef>
                <a:spcPts val="0"/>
              </a:spcBef>
              <a:buSzPct val="100000"/>
              <a:defRPr sz="3000"/>
            </a:lvl6pPr>
            <a:lvl7pPr lvl="6">
              <a:spcBef>
                <a:spcPts val="0"/>
              </a:spcBef>
              <a:buSzPct val="100000"/>
              <a:defRPr sz="3000"/>
            </a:lvl7pPr>
            <a:lvl8pPr lvl="7">
              <a:spcBef>
                <a:spcPts val="0"/>
              </a:spcBef>
              <a:buSzPct val="100000"/>
              <a:defRPr sz="3000"/>
            </a:lvl8pPr>
            <a:lvl9pPr lvl="8">
              <a:spcBef>
                <a:spcPts val="0"/>
              </a:spcBef>
              <a:buSzPct val="100000"/>
              <a:defRPr sz="3000"/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2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 point">
    <p:bg>
      <p:bgPr>
        <a:solidFill>
          <a:schemeClr val="accent4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38"/>
          <p:cNvSpPr txBox="1">
            <a:spLocks noGrp="1"/>
          </p:cNvSpPr>
          <p:nvPr>
            <p:ph type="title"/>
          </p:nvPr>
        </p:nvSpPr>
        <p:spPr>
          <a:xfrm>
            <a:off x="490250" y="701800"/>
            <a:ext cx="5618700" cy="54543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Shape 3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>
                <a:solidFill>
                  <a:schemeClr val="lt1"/>
                </a:solidFill>
              </a:rPr>
              <a:t>‹#›</a:t>
            </a:fld>
            <a:endParaRPr lang="en-US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nd descri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cxnSp>
        <p:nvCxnSpPr>
          <p:cNvPr id="42" name="Shape 42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Shape 43"/>
          <p:cNvSpPr txBox="1">
            <a:spLocks noGrp="1"/>
          </p:cNvSpPr>
          <p:nvPr>
            <p:ph type="title"/>
          </p:nvPr>
        </p:nvSpPr>
        <p:spPr>
          <a:xfrm>
            <a:off x="265500" y="1441867"/>
            <a:ext cx="4045200" cy="22803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 algn="ctr">
              <a:spcBef>
                <a:spcPts val="0"/>
              </a:spcBef>
              <a:buSzPct val="100000"/>
              <a:defRPr sz="5400"/>
            </a:lvl1pPr>
            <a:lvl2pPr lvl="1" algn="ctr">
              <a:spcBef>
                <a:spcPts val="0"/>
              </a:spcBef>
              <a:buSzPct val="100000"/>
              <a:defRPr sz="5400"/>
            </a:lvl2pPr>
            <a:lvl3pPr lvl="2" algn="ctr">
              <a:spcBef>
                <a:spcPts val="0"/>
              </a:spcBef>
              <a:buSzPct val="100000"/>
              <a:defRPr sz="5400"/>
            </a:lvl3pPr>
            <a:lvl4pPr lvl="3" algn="ctr">
              <a:spcBef>
                <a:spcPts val="0"/>
              </a:spcBef>
              <a:buSzPct val="100000"/>
              <a:defRPr sz="5400"/>
            </a:lvl4pPr>
            <a:lvl5pPr lvl="4" algn="ctr">
              <a:spcBef>
                <a:spcPts val="0"/>
              </a:spcBef>
              <a:buSzPct val="100000"/>
              <a:defRPr sz="5400"/>
            </a:lvl5pPr>
            <a:lvl6pPr lvl="5" algn="ctr">
              <a:spcBef>
                <a:spcPts val="0"/>
              </a:spcBef>
              <a:buSzPct val="100000"/>
              <a:defRPr sz="5400"/>
            </a:lvl6pPr>
            <a:lvl7pPr lvl="6" algn="ctr">
              <a:spcBef>
                <a:spcPts val="0"/>
              </a:spcBef>
              <a:buSzPct val="100000"/>
              <a:defRPr sz="5400"/>
            </a:lvl7pPr>
            <a:lvl8pPr lvl="7" algn="ctr">
              <a:spcBef>
                <a:spcPts val="0"/>
              </a:spcBef>
              <a:buSzPct val="100000"/>
              <a:defRPr sz="5400"/>
            </a:lvl8pPr>
            <a:lvl9pPr lvl="8" algn="ctr">
              <a:spcBef>
                <a:spcPts val="0"/>
              </a:spcBef>
              <a:buSzPct val="100000"/>
              <a:defRPr sz="5400"/>
            </a:lvl9pPr>
          </a:lstStyle>
          <a:p>
            <a:endParaRPr/>
          </a:p>
        </p:txBody>
      </p:sp>
      <p:sp>
        <p:nvSpPr>
          <p:cNvPr id="44" name="Shape 44"/>
          <p:cNvSpPr txBox="1">
            <a:spLocks noGrp="1"/>
          </p:cNvSpPr>
          <p:nvPr>
            <p:ph type="subTitle" idx="1"/>
          </p:nvPr>
        </p:nvSpPr>
        <p:spPr>
          <a:xfrm>
            <a:off x="265500" y="3793630"/>
            <a:ext cx="4045200" cy="1794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9pPr>
          </a:lstStyle>
          <a:p>
            <a:endParaRPr/>
          </a:p>
        </p:txBody>
      </p:sp>
      <p:sp>
        <p:nvSpPr>
          <p:cNvPr id="45" name="Shape 45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6" name="Shape 4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pti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48"/>
          <p:cNvSpPr txBox="1">
            <a:spLocks noGrp="1"/>
          </p:cNvSpPr>
          <p:nvPr>
            <p:ph type="body" idx="1"/>
          </p:nvPr>
        </p:nvSpPr>
        <p:spPr>
          <a:xfrm>
            <a:off x="319500" y="5640767"/>
            <a:ext cx="5998800" cy="7983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matic SC"/>
              <a:buNone/>
              <a:defRPr sz="2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>
            <a:endParaRPr/>
          </a:p>
        </p:txBody>
      </p:sp>
      <p:sp>
        <p:nvSpPr>
          <p:cNvPr id="49" name="Shape 4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ig number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51"/>
          <p:cNvSpPr txBox="1">
            <a:spLocks noGrp="1"/>
          </p:cNvSpPr>
          <p:nvPr>
            <p:ph type="title"/>
          </p:nvPr>
        </p:nvSpPr>
        <p:spPr>
          <a:xfrm>
            <a:off x="311700" y="1653700"/>
            <a:ext cx="8520600" cy="26424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2" name="Shape 52"/>
          <p:cNvSpPr txBox="1">
            <a:spLocks noGrp="1"/>
          </p:cNvSpPr>
          <p:nvPr>
            <p:ph type="body" idx="1"/>
          </p:nvPr>
        </p:nvSpPr>
        <p:spPr>
          <a:xfrm>
            <a:off x="311700" y="4406167"/>
            <a:ext cx="8520600" cy="17343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53" name="Shape 5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5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457200" marR="0" lvl="5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914400" marR="0" lvl="6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1371600" marR="0" lvl="7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1828800" marR="0" lvl="8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8" name="Shape 58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228600" marR="0" lvl="0" indent="-101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28650" marR="0" lvl="1" indent="-158750" algn="l" rtl="0">
              <a:spcBef>
                <a:spcPts val="5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-63500" algn="l" rtl="0"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200150" marR="0" lvl="3" indent="-57150" algn="l" rtl="0"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485900" marR="0" lvl="4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1943100" marR="0" lvl="5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400300" marR="0" lvl="6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857500" marR="0" lvl="7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314700" marR="0" lvl="8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" name="Shape 59"/>
          <p:cNvSpPr txBox="1">
            <a:spLocks noGrp="1"/>
          </p:cNvSpPr>
          <p:nvPr>
            <p:ph type="dt" idx="10"/>
          </p:nvPr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0" name="Shape 60"/>
          <p:cNvSpPr txBox="1">
            <a:spLocks noGrp="1"/>
          </p:cNvSpPr>
          <p:nvPr>
            <p:ph type="ftr" idx="11"/>
          </p:nvPr>
        </p:nvSpPr>
        <p:spPr>
          <a:xfrm>
            <a:off x="4114800" y="6553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1" name="Shape 61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bg>
      <p:bgPr>
        <a:solidFill>
          <a:schemeClr val="dk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4"/>
          <p:cNvSpPr/>
          <p:nvPr/>
        </p:nvSpPr>
        <p:spPr>
          <a:xfrm>
            <a:off x="0" y="0"/>
            <a:ext cx="9144000" cy="4572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5" name="Shape 15"/>
          <p:cNvSpPr txBox="1">
            <a:spLocks noGrp="1"/>
          </p:cNvSpPr>
          <p:nvPr>
            <p:ph type="ctrTitle"/>
          </p:nvPr>
        </p:nvSpPr>
        <p:spPr>
          <a:xfrm>
            <a:off x="311700" y="522867"/>
            <a:ext cx="8520600" cy="35871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8000"/>
            </a:lvl1pPr>
            <a:lvl2pPr lvl="1" algn="ctr">
              <a:spcBef>
                <a:spcPts val="0"/>
              </a:spcBef>
              <a:buSzPct val="100000"/>
              <a:defRPr sz="8000"/>
            </a:lvl2pPr>
            <a:lvl3pPr lvl="2" algn="ctr">
              <a:spcBef>
                <a:spcPts val="0"/>
              </a:spcBef>
              <a:buSzPct val="100000"/>
              <a:defRPr sz="8000"/>
            </a:lvl3pPr>
            <a:lvl4pPr lvl="3" algn="ctr">
              <a:spcBef>
                <a:spcPts val="0"/>
              </a:spcBef>
              <a:buSzPct val="100000"/>
              <a:defRPr sz="8000"/>
            </a:lvl4pPr>
            <a:lvl5pPr lvl="4" algn="ctr">
              <a:spcBef>
                <a:spcPts val="0"/>
              </a:spcBef>
              <a:buSzPct val="100000"/>
              <a:defRPr sz="8000"/>
            </a:lvl5pPr>
            <a:lvl6pPr lvl="5" algn="ctr">
              <a:spcBef>
                <a:spcPts val="0"/>
              </a:spcBef>
              <a:buSzPct val="100000"/>
              <a:defRPr sz="8000"/>
            </a:lvl6pPr>
            <a:lvl7pPr lvl="6" algn="ctr">
              <a:spcBef>
                <a:spcPts val="0"/>
              </a:spcBef>
              <a:buSzPct val="100000"/>
              <a:defRPr sz="8000"/>
            </a:lvl7pPr>
            <a:lvl8pPr lvl="7" algn="ctr">
              <a:spcBef>
                <a:spcPts val="0"/>
              </a:spcBef>
              <a:buSzPct val="100000"/>
              <a:defRPr sz="8000"/>
            </a:lvl8pPr>
            <a:lvl9pPr lvl="8" algn="ctr">
              <a:spcBef>
                <a:spcPts val="0"/>
              </a:spcBef>
              <a:buSzPct val="100000"/>
              <a:defRPr sz="8000"/>
            </a:lvl9pPr>
          </a:lstStyle>
          <a:p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subTitle" idx="1"/>
          </p:nvPr>
        </p:nvSpPr>
        <p:spPr>
          <a:xfrm>
            <a:off x="311700" y="5187200"/>
            <a:ext cx="8520600" cy="9417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7" name="Shape 1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147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each-day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8520600" cy="4453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r">
              <a:spcBef>
                <a:spcPts val="0"/>
              </a:spcBef>
              <a:buNone/>
            </a:pPr>
            <a:fld id="{00000000-1234-1234-1234-123412341234}" type="slidenum">
              <a:rPr lang="en-US"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‹#›</a:t>
            </a:fld>
            <a:endParaRPr lang="en-US" sz="1000">
              <a:solidFill>
                <a:schemeClr val="accent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ilyaro/git_gitlab_best_practices/-/blob/master/Commands.md" TargetMode="External"/><Relationship Id="rId2" Type="http://schemas.openxmlformats.org/officeDocument/2006/relationships/hyperlink" Target="https://gitlab.com/ilyaro/git_gitlab_best_practices" TargetMode="Externa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github.com/datreeio/node-datreeio/commits/master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ilyaro/demo-be/pipelines" TargetMode="External"/><Relationship Id="rId2" Type="http://schemas.openxmlformats.org/officeDocument/2006/relationships/hyperlink" Target="https://docs.gitlab.com/ee/ci/yaml/" TargetMode="External"/><Relationship Id="rId1" Type="http://schemas.openxmlformats.org/officeDocument/2006/relationships/slideLayout" Target="../slideLayouts/slideLayout1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lyaro/git_best_practices_ppt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1.xml"/><Relationship Id="rId4" Type="http://schemas.openxmlformats.org/officeDocument/2006/relationships/hyperlink" Target="mailto:rokhkin_ilya@yahoo.com" TargetMode="Externa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 txBox="1">
            <a:spLocks noGrp="1"/>
          </p:cNvSpPr>
          <p:nvPr>
            <p:ph type="ctrTitle"/>
          </p:nvPr>
        </p:nvSpPr>
        <p:spPr>
          <a:xfrm>
            <a:off x="311700" y="522867"/>
            <a:ext cx="8520600" cy="35871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Merriweather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Git and GitLab Best Practices</a:t>
            </a:r>
          </a:p>
        </p:txBody>
      </p:sp>
      <p:sp>
        <p:nvSpPr>
          <p:cNvPr id="67" name="Shape 67"/>
          <p:cNvSpPr txBox="1">
            <a:spLocks noGrp="1"/>
          </p:cNvSpPr>
          <p:nvPr>
            <p:ph type="subTitle" idx="1"/>
          </p:nvPr>
        </p:nvSpPr>
        <p:spPr>
          <a:xfrm>
            <a:off x="1600200" y="47244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 you really use Git and Gitlab efficiently?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strike="noStrike" cap="none" dirty="0">
              <a:solidFill>
                <a:srgbClr val="00000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Ilya Rokhkin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2023</a:t>
            </a:r>
            <a:endParaRPr lang="en-US" sz="2000" b="0" dirty="0">
              <a:solidFill>
                <a:srgbClr val="000000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sz="quarter" idx="4294967295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226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– meaning?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609600" y="2514600"/>
            <a:ext cx="8229600" cy="1676400"/>
          </a:xfrm>
        </p:spPr>
        <p:txBody>
          <a:bodyPr/>
          <a:lstStyle/>
          <a:p>
            <a:pPr marL="127000" indent="0">
              <a:buNone/>
            </a:pPr>
            <a:r>
              <a:rPr lang="en-US" sz="4000" dirty="0"/>
              <a:t>What does the word Git means?</a:t>
            </a:r>
          </a:p>
        </p:txBody>
      </p:sp>
      <p:sp>
        <p:nvSpPr>
          <p:cNvPr id="3" name="Footer Placeholder 2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138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79"/>
          <p:cNvSpPr txBox="1"/>
          <p:nvPr/>
        </p:nvSpPr>
        <p:spPr>
          <a:xfrm>
            <a:off x="153897" y="228600"/>
            <a:ext cx="8229600" cy="6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</a:pPr>
            <a:r>
              <a:rPr lang="en-US" sz="3400" dirty="0">
                <a:solidFill>
                  <a:schemeClr val="dk2"/>
                </a:solidFill>
              </a:rPr>
              <a:t>GIT Overview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57" y="965250"/>
            <a:ext cx="8553450" cy="2476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3841844"/>
            <a:ext cx="6820072" cy="2558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145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136"/>
          <p:cNvSpPr txBox="1">
            <a:spLocks noGrp="1"/>
          </p:cNvSpPr>
          <p:nvPr>
            <p:ph type="title"/>
          </p:nvPr>
        </p:nvSpPr>
        <p:spPr>
          <a:xfrm>
            <a:off x="607062" y="86475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Commit Object</a:t>
            </a:r>
          </a:p>
        </p:txBody>
      </p:sp>
      <p:sp>
        <p:nvSpPr>
          <p:cNvPr id="137" name="Shape 137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38" name="Shape 138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" name="Shape 139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07050" y="603700"/>
            <a:ext cx="8146500" cy="617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14600"/>
          </a:xfrm>
        </p:spPr>
        <p:txBody>
          <a:bodyPr/>
          <a:lstStyle/>
          <a:p>
            <a:r>
              <a:rPr lang="en-US" dirty="0"/>
              <a:t>About myself: Ilya Rokhkin </a:t>
            </a:r>
            <a:br>
              <a:rPr lang="en-US" dirty="0"/>
            </a:br>
            <a:r>
              <a:rPr lang="en-US" dirty="0"/>
              <a:t>- </a:t>
            </a:r>
            <a:r>
              <a:rPr lang="en-US" sz="2800" dirty="0"/>
              <a:t>20+ years experience in Version Control Systems</a:t>
            </a:r>
            <a:br>
              <a:rPr lang="en-US" sz="2800" dirty="0"/>
            </a:br>
            <a:r>
              <a:rPr lang="en-US" sz="2800" dirty="0"/>
              <a:t>- Official Git trainer in CKP, Intel, Marvell.</a:t>
            </a:r>
            <a:br>
              <a:rPr lang="en-US" sz="2800" dirty="0"/>
            </a:br>
            <a:r>
              <a:rPr lang="en-US" sz="2800" dirty="0"/>
              <a:t>- Freelance Git trainer.</a:t>
            </a:r>
            <a:br>
              <a:rPr lang="en-US" sz="2800" dirty="0"/>
            </a:br>
            <a:r>
              <a:rPr lang="en-US" sz="2800" dirty="0"/>
              <a:t>- Volunteer as Hebrew teacher in “</a:t>
            </a:r>
            <a:r>
              <a:rPr lang="en-US" sz="2800" dirty="0" err="1"/>
              <a:t>Ulpan</a:t>
            </a:r>
            <a:r>
              <a:rPr lang="en-US" sz="2800" dirty="0"/>
              <a:t>” 10+ years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625" y="2514600"/>
            <a:ext cx="5238750" cy="421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77792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40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Agenda:</a:t>
            </a:r>
          </a:p>
        </p:txBody>
      </p:sp>
      <p:sp>
        <p:nvSpPr>
          <p:cNvPr id="73" name="Shape 73"/>
          <p:cNvSpPr txBox="1">
            <a:spLocks noGrp="1"/>
          </p:cNvSpPr>
          <p:nvPr>
            <p:ph type="body" idx="1"/>
          </p:nvPr>
        </p:nvSpPr>
        <p:spPr>
          <a:xfrm>
            <a:off x="304800" y="1524000"/>
            <a:ext cx="8458200" cy="3048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0"/>
              </a:spcBef>
              <a:buClrTx/>
              <a:buFont typeface="+mj-lt"/>
              <a:buAutoNum type="arabicPeriod"/>
            </a:pPr>
            <a:r>
              <a:rPr lang="en-US" sz="3200" b="0" i="0" u="none" strike="noStrike" cap="none" dirty="0">
                <a:solidFill>
                  <a:schemeClr val="bg2"/>
                </a:solidFill>
                <a:sym typeface="Arial"/>
              </a:rPr>
              <a:t>Git + GitLab best practices in a workflow</a:t>
            </a: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ClrTx/>
              <a:buFont typeface="+mj-lt"/>
              <a:buAutoNum type="arabicPeriod"/>
            </a:pPr>
            <a:r>
              <a:rPr lang="en-US" sz="3200" dirty="0">
                <a:solidFill>
                  <a:schemeClr val="bg2"/>
                </a:solidFill>
              </a:rPr>
              <a:t>Git + GitLab best practices hands on</a:t>
            </a: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ClrTx/>
              <a:buFont typeface="+mj-lt"/>
              <a:buAutoNum type="arabicPeriod"/>
            </a:pPr>
            <a:r>
              <a:rPr lang="en-US" sz="3200" dirty="0">
                <a:solidFill>
                  <a:schemeClr val="bg2"/>
                </a:solidFill>
              </a:rPr>
              <a:t>GitLab Best practices</a:t>
            </a: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ClrTx/>
              <a:buFont typeface="+mj-lt"/>
              <a:buAutoNum type="arabicPeriod"/>
            </a:pPr>
            <a:r>
              <a:rPr lang="en-US" sz="3200" dirty="0">
                <a:solidFill>
                  <a:schemeClr val="bg2"/>
                </a:solidFill>
              </a:rPr>
              <a:t>GitLab CI overview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3999" cy="1828800"/>
          </a:xfrm>
        </p:spPr>
        <p:txBody>
          <a:bodyPr/>
          <a:lstStyle/>
          <a:p>
            <a:pPr lvl="0"/>
            <a:r>
              <a:rPr lang="en-US" sz="3600" dirty="0">
                <a:solidFill>
                  <a:srgbClr val="5E5E5E"/>
                </a:solidFill>
              </a:rPr>
              <a:t>1. Git + GitLab best practices in work flow.</a:t>
            </a:r>
            <a:br>
              <a:rPr lang="en-US" sz="3600" dirty="0">
                <a:solidFill>
                  <a:srgbClr val="5E5E5E"/>
                </a:solidFill>
              </a:rPr>
            </a:br>
            <a:r>
              <a:rPr lang="en-US" sz="3600" dirty="0">
                <a:solidFill>
                  <a:srgbClr val="5E5E5E"/>
                </a:solidFill>
              </a:rPr>
              <a:t>Best practice: 1 Commit per Jira issue in main branches</a:t>
            </a:r>
            <a:br>
              <a:rPr lang="en-US" sz="3600" dirty="0">
                <a:solidFill>
                  <a:srgbClr val="5E5E5E"/>
                </a:solidFill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Shape 191"/>
          <p:cNvSpPr/>
          <p:nvPr/>
        </p:nvSpPr>
        <p:spPr>
          <a:xfrm>
            <a:off x="714330" y="35480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6" name="Shape 192"/>
          <p:cNvSpPr/>
          <p:nvPr/>
        </p:nvSpPr>
        <p:spPr>
          <a:xfrm>
            <a:off x="1897555" y="35480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7" name="Shape 194"/>
          <p:cNvCxnSpPr>
            <a:stCxn id="6" idx="1"/>
            <a:endCxn id="5" idx="3"/>
          </p:cNvCxnSpPr>
          <p:nvPr/>
        </p:nvCxnSpPr>
        <p:spPr>
          <a:xfrm rot="10800000">
            <a:off x="1488955" y="3725751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" name="Shape 202"/>
          <p:cNvSpPr txBox="1"/>
          <p:nvPr/>
        </p:nvSpPr>
        <p:spPr>
          <a:xfrm>
            <a:off x="152400" y="2248438"/>
            <a:ext cx="2281125" cy="381001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9" name="Shape 208"/>
          <p:cNvSpPr/>
          <p:nvPr/>
        </p:nvSpPr>
        <p:spPr>
          <a:xfrm>
            <a:off x="5421507" y="2911077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10" name="Shape 209"/>
          <p:cNvCxnSpPr>
            <a:stCxn id="9" idx="2"/>
            <a:endCxn id="13" idx="0"/>
          </p:cNvCxnSpPr>
          <p:nvPr/>
        </p:nvCxnSpPr>
        <p:spPr>
          <a:xfrm flipH="1">
            <a:off x="4712598" y="3165777"/>
            <a:ext cx="1140609" cy="3639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" name="Shape 198"/>
          <p:cNvSpPr/>
          <p:nvPr/>
        </p:nvSpPr>
        <p:spPr>
          <a:xfrm>
            <a:off x="3105786" y="35285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45v34</a:t>
            </a:r>
          </a:p>
        </p:txBody>
      </p:sp>
      <p:cxnSp>
        <p:nvCxnSpPr>
          <p:cNvPr id="12" name="Shape 200"/>
          <p:cNvCxnSpPr>
            <a:stCxn id="11" idx="1"/>
          </p:cNvCxnSpPr>
          <p:nvPr/>
        </p:nvCxnSpPr>
        <p:spPr>
          <a:xfrm flipH="1">
            <a:off x="2639376" y="3706251"/>
            <a:ext cx="466410" cy="19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3" name="Shape 198"/>
          <p:cNvSpPr/>
          <p:nvPr/>
        </p:nvSpPr>
        <p:spPr>
          <a:xfrm>
            <a:off x="4325298" y="35297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3ed90</a:t>
            </a:r>
          </a:p>
        </p:txBody>
      </p:sp>
      <p:cxnSp>
        <p:nvCxnSpPr>
          <p:cNvPr id="14" name="Shape 200"/>
          <p:cNvCxnSpPr>
            <a:stCxn id="13" idx="1"/>
            <a:endCxn id="11" idx="3"/>
          </p:cNvCxnSpPr>
          <p:nvPr/>
        </p:nvCxnSpPr>
        <p:spPr>
          <a:xfrm flipH="1" flipV="1">
            <a:off x="3880386" y="3706251"/>
            <a:ext cx="444912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5" name="Shape 204"/>
          <p:cNvSpPr/>
          <p:nvPr/>
        </p:nvSpPr>
        <p:spPr>
          <a:xfrm>
            <a:off x="4242579" y="2935100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FTR-10</a:t>
            </a:r>
          </a:p>
        </p:txBody>
      </p:sp>
      <p:cxnSp>
        <p:nvCxnSpPr>
          <p:cNvPr id="16" name="Shape 205"/>
          <p:cNvCxnSpPr>
            <a:stCxn id="15" idx="2"/>
            <a:endCxn id="13" idx="0"/>
          </p:cNvCxnSpPr>
          <p:nvPr/>
        </p:nvCxnSpPr>
        <p:spPr>
          <a:xfrm>
            <a:off x="4701298" y="3208100"/>
            <a:ext cx="11300" cy="32160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7" name="Shape 204"/>
          <p:cNvSpPr/>
          <p:nvPr/>
        </p:nvSpPr>
        <p:spPr>
          <a:xfrm>
            <a:off x="3044491" y="2911077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FTR-9</a:t>
            </a:r>
          </a:p>
        </p:txBody>
      </p:sp>
      <p:cxnSp>
        <p:nvCxnSpPr>
          <p:cNvPr id="18" name="Shape 205"/>
          <p:cNvCxnSpPr>
            <a:stCxn id="17" idx="2"/>
            <a:endCxn id="11" idx="0"/>
          </p:cNvCxnSpPr>
          <p:nvPr/>
        </p:nvCxnSpPr>
        <p:spPr>
          <a:xfrm flipH="1">
            <a:off x="3493086" y="3184077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" name="Shape 204"/>
          <p:cNvSpPr/>
          <p:nvPr/>
        </p:nvSpPr>
        <p:spPr>
          <a:xfrm>
            <a:off x="1832530" y="2911077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20" name="Shape 205"/>
          <p:cNvCxnSpPr/>
          <p:nvPr/>
        </p:nvCxnSpPr>
        <p:spPr>
          <a:xfrm flipH="1">
            <a:off x="2279793" y="3184077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" name="Shape 204"/>
          <p:cNvSpPr/>
          <p:nvPr/>
        </p:nvSpPr>
        <p:spPr>
          <a:xfrm>
            <a:off x="642911" y="2935100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22" name="Shape 205"/>
          <p:cNvCxnSpPr/>
          <p:nvPr/>
        </p:nvCxnSpPr>
        <p:spPr>
          <a:xfrm flipH="1">
            <a:off x="1090174" y="3208100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556100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Create new feature branch FTR-10 (Jira) 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0" name="Shape 210"/>
          <p:cNvSpPr txBox="1"/>
          <p:nvPr/>
        </p:nvSpPr>
        <p:spPr>
          <a:xfrm>
            <a:off x="4450675" y="3074700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Remote Tracking Branch</a:t>
            </a:r>
          </a:p>
        </p:txBody>
      </p:sp>
      <p:sp>
        <p:nvSpPr>
          <p:cNvPr id="211" name="Shape 211"/>
          <p:cNvSpPr txBox="1"/>
          <p:nvPr/>
        </p:nvSpPr>
        <p:spPr>
          <a:xfrm>
            <a:off x="4260200" y="1356800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/>
              <a:t>Tracking Branch (Local)</a:t>
            </a:r>
          </a:p>
        </p:txBody>
      </p: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6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204"/>
          <p:cNvSpPr/>
          <p:nvPr/>
        </p:nvSpPr>
        <p:spPr>
          <a:xfrm>
            <a:off x="1667542" y="3074700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cxnSp>
        <p:nvCxnSpPr>
          <p:cNvPr id="51" name="Shape 205"/>
          <p:cNvCxnSpPr>
            <a:stCxn id="50" idx="0"/>
            <a:endCxn id="192" idx="2"/>
          </p:cNvCxnSpPr>
          <p:nvPr/>
        </p:nvCxnSpPr>
        <p:spPr>
          <a:xfrm flipV="1">
            <a:off x="2281125" y="2677000"/>
            <a:ext cx="0" cy="397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1" name="Shape 204"/>
          <p:cNvSpPr/>
          <p:nvPr/>
        </p:nvSpPr>
        <p:spPr>
          <a:xfrm>
            <a:off x="1485200" y="5638800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cxnSp>
        <p:nvCxnSpPr>
          <p:cNvPr id="62" name="Shape 205"/>
          <p:cNvCxnSpPr/>
          <p:nvPr/>
        </p:nvCxnSpPr>
        <p:spPr>
          <a:xfrm flipV="1">
            <a:off x="2059725" y="5254120"/>
            <a:ext cx="0" cy="38468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" name="Shape 212"/>
          <p:cNvSpPr/>
          <p:nvPr/>
        </p:nvSpPr>
        <p:spPr>
          <a:xfrm>
            <a:off x="1640625" y="6115441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stCxn id="31" idx="0"/>
          </p:cNvCxnSpPr>
          <p:nvPr/>
        </p:nvCxnSpPr>
        <p:spPr>
          <a:xfrm flipH="1" flipV="1">
            <a:off x="2052220" y="5866957"/>
            <a:ext cx="7505" cy="24848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TextBox 1"/>
          <p:cNvSpPr txBox="1"/>
          <p:nvPr/>
        </p:nvSpPr>
        <p:spPr>
          <a:xfrm>
            <a:off x="5578126" y="3866968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Clone + checkout feature branch FTR-10</a:t>
            </a:r>
          </a:p>
        </p:txBody>
      </p:sp>
      <p:sp>
        <p:nvSpPr>
          <p:cNvPr id="28" name="Shape 204"/>
          <p:cNvSpPr/>
          <p:nvPr/>
        </p:nvSpPr>
        <p:spPr>
          <a:xfrm>
            <a:off x="2746238" y="1676400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29" name="Shape 205"/>
          <p:cNvCxnSpPr>
            <a:stCxn id="28" idx="2"/>
          </p:cNvCxnSpPr>
          <p:nvPr/>
        </p:nvCxnSpPr>
        <p:spPr>
          <a:xfrm flipH="1">
            <a:off x="2276063" y="1949400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" name="Shape 204"/>
          <p:cNvSpPr/>
          <p:nvPr/>
        </p:nvSpPr>
        <p:spPr>
          <a:xfrm>
            <a:off x="639181" y="1700423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32" name="Shape 205"/>
          <p:cNvCxnSpPr/>
          <p:nvPr/>
        </p:nvCxnSpPr>
        <p:spPr>
          <a:xfrm flipH="1">
            <a:off x="1086444" y="1973423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3358854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11500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Checkout local branch lcl-10, </a:t>
            </a:r>
            <a:br>
              <a:rPr lang="en-US" dirty="0"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save-&gt;auto commit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1" name="Shape 212"/>
          <p:cNvSpPr/>
          <p:nvPr/>
        </p:nvSpPr>
        <p:spPr>
          <a:xfrm>
            <a:off x="2910679" y="6477288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sp>
        <p:nvSpPr>
          <p:cNvPr id="32" name="Shape 204"/>
          <p:cNvSpPr/>
          <p:nvPr/>
        </p:nvSpPr>
        <p:spPr>
          <a:xfrm>
            <a:off x="2922156" y="6015026"/>
            <a:ext cx="973893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lcl-10</a:t>
            </a:r>
          </a:p>
        </p:txBody>
      </p:sp>
      <p:cxnSp>
        <p:nvCxnSpPr>
          <p:cNvPr id="34" name="Shape 205"/>
          <p:cNvCxnSpPr>
            <a:stCxn id="31" idx="0"/>
          </p:cNvCxnSpPr>
          <p:nvPr/>
        </p:nvCxnSpPr>
        <p:spPr>
          <a:xfrm flipH="1" flipV="1">
            <a:off x="3322274" y="6228804"/>
            <a:ext cx="7505" cy="24848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5" name="Shape 205"/>
          <p:cNvCxnSpPr/>
          <p:nvPr/>
        </p:nvCxnSpPr>
        <p:spPr>
          <a:xfrm flipV="1">
            <a:off x="3261491" y="5749002"/>
            <a:ext cx="11542" cy="2660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TextBox 1"/>
          <p:cNvSpPr txBox="1"/>
          <p:nvPr/>
        </p:nvSpPr>
        <p:spPr>
          <a:xfrm>
            <a:off x="5776850" y="3962400"/>
            <a:ext cx="25923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Checkout local branch LCL-10</a:t>
            </a:r>
            <a:br>
              <a:rPr lang="en-US" dirty="0"/>
            </a:br>
            <a:r>
              <a:rPr lang="en-US" dirty="0"/>
              <a:t>Changing files + auto commit</a:t>
            </a:r>
          </a:p>
        </p:txBody>
      </p:sp>
      <p:sp>
        <p:nvSpPr>
          <p:cNvPr id="33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35" name="Shape 205"/>
          <p:cNvCxnSpPr>
            <a:stCxn id="33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39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0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cxnSp>
        <p:nvCxnSpPr>
          <p:cNvPr id="43" name="Shape 205"/>
          <p:cNvCxnSpPr/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4" name="Shape 204"/>
          <p:cNvSpPr/>
          <p:nvPr/>
        </p:nvSpPr>
        <p:spPr>
          <a:xfrm>
            <a:off x="1667542" y="3074700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46" name="Shape 204"/>
          <p:cNvSpPr/>
          <p:nvPr/>
        </p:nvSpPr>
        <p:spPr>
          <a:xfrm>
            <a:off x="1485200" y="5638800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cxnSp>
        <p:nvCxnSpPr>
          <p:cNvPr id="47" name="Shape 205"/>
          <p:cNvCxnSpPr/>
          <p:nvPr/>
        </p:nvCxnSpPr>
        <p:spPr>
          <a:xfrm flipV="1">
            <a:off x="2059725" y="5254120"/>
            <a:ext cx="0" cy="38468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8" name="Shape 205"/>
          <p:cNvCxnSpPr/>
          <p:nvPr/>
        </p:nvCxnSpPr>
        <p:spPr>
          <a:xfrm flipV="1">
            <a:off x="2301843" y="2677000"/>
            <a:ext cx="0" cy="38468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3358854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Save -&gt; auto commit, tag important changes: working1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6" name="Shape 204"/>
          <p:cNvSpPr/>
          <p:nvPr/>
        </p:nvSpPr>
        <p:spPr>
          <a:xfrm>
            <a:off x="1249050" y="4268738"/>
            <a:ext cx="1368925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origin/FTR-10</a:t>
            </a:r>
          </a:p>
        </p:txBody>
      </p: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51" name="Shape 205"/>
          <p:cNvCxnSpPr>
            <a:endCxn id="192" idx="2"/>
          </p:cNvCxnSpPr>
          <p:nvPr/>
        </p:nvCxnSpPr>
        <p:spPr>
          <a:xfrm flipV="1">
            <a:off x="2281125" y="2677000"/>
            <a:ext cx="0" cy="397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/>
          <p:nvPr/>
        </p:nvCxnSpPr>
        <p:spPr>
          <a:xfrm flipV="1">
            <a:off x="2059725" y="5254120"/>
            <a:ext cx="0" cy="38468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" name="TextBox 42"/>
          <p:cNvSpPr txBox="1"/>
          <p:nvPr/>
        </p:nvSpPr>
        <p:spPr>
          <a:xfrm>
            <a:off x="5765044" y="4018518"/>
            <a:ext cx="272222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Each save -&gt; auto commit</a:t>
            </a:r>
          </a:p>
          <a:p>
            <a:endParaRPr lang="en-US" dirty="0"/>
          </a:p>
          <a:p>
            <a:r>
              <a:rPr lang="en-US" dirty="0"/>
              <a:t>Tag working commits: </a:t>
            </a:r>
            <a:r>
              <a:rPr lang="en-US" dirty="0" err="1"/>
              <a:t>workingN</a:t>
            </a:r>
            <a:endParaRPr lang="en-US" dirty="0"/>
          </a:p>
        </p:txBody>
      </p:sp>
      <p:sp>
        <p:nvSpPr>
          <p:cNvPr id="46" name="Shape 204"/>
          <p:cNvSpPr/>
          <p:nvPr/>
        </p:nvSpPr>
        <p:spPr>
          <a:xfrm>
            <a:off x="3897956" y="479294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47" name="Shape 205"/>
          <p:cNvCxnSpPr>
            <a:stCxn id="46" idx="2"/>
            <a:endCxn id="39" idx="0"/>
          </p:cNvCxnSpPr>
          <p:nvPr/>
        </p:nvCxnSpPr>
        <p:spPr>
          <a:xfrm flipH="1">
            <a:off x="4345499" y="5065942"/>
            <a:ext cx="11176" cy="34210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8" name="Shape 212"/>
          <p:cNvSpPr/>
          <p:nvPr/>
        </p:nvSpPr>
        <p:spPr>
          <a:xfrm>
            <a:off x="4027123" y="6493299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52" name="Shape 205"/>
          <p:cNvCxnSpPr>
            <a:stCxn id="48" idx="0"/>
          </p:cNvCxnSpPr>
          <p:nvPr/>
        </p:nvCxnSpPr>
        <p:spPr>
          <a:xfrm flipH="1" flipV="1">
            <a:off x="4438718" y="6244815"/>
            <a:ext cx="7505" cy="24848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53" name="Shape 205"/>
          <p:cNvCxnSpPr/>
          <p:nvPr/>
        </p:nvCxnSpPr>
        <p:spPr>
          <a:xfrm flipV="1">
            <a:off x="4377935" y="5765013"/>
            <a:ext cx="11542" cy="2660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4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55" name="Shape 205"/>
          <p:cNvCxnSpPr>
            <a:stCxn id="54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6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57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" name="Shape 204"/>
          <p:cNvSpPr/>
          <p:nvPr/>
        </p:nvSpPr>
        <p:spPr>
          <a:xfrm>
            <a:off x="3885760" y="6055166"/>
            <a:ext cx="973893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lcl-10</a:t>
            </a:r>
          </a:p>
        </p:txBody>
      </p:sp>
      <p:sp>
        <p:nvSpPr>
          <p:cNvPr id="44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45" name="Shape 204"/>
          <p:cNvSpPr/>
          <p:nvPr/>
        </p:nvSpPr>
        <p:spPr>
          <a:xfrm>
            <a:off x="1667542" y="3074700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58" name="Shape 204"/>
          <p:cNvSpPr/>
          <p:nvPr/>
        </p:nvSpPr>
        <p:spPr>
          <a:xfrm>
            <a:off x="1485200" y="5638800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1903803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990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Making how many auto commits as needed, tagging as needed working2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51" name="Shape 205"/>
          <p:cNvCxnSpPr>
            <a:endCxn id="192" idx="2"/>
          </p:cNvCxnSpPr>
          <p:nvPr/>
        </p:nvCxnSpPr>
        <p:spPr>
          <a:xfrm flipV="1">
            <a:off x="2281125" y="2677000"/>
            <a:ext cx="0" cy="397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/>
          <p:nvPr/>
        </p:nvCxnSpPr>
        <p:spPr>
          <a:xfrm flipV="1">
            <a:off x="2059725" y="5254120"/>
            <a:ext cx="0" cy="38468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" name="Shape 212"/>
          <p:cNvSpPr/>
          <p:nvPr/>
        </p:nvSpPr>
        <p:spPr>
          <a:xfrm>
            <a:off x="5278426" y="6477288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stCxn id="31" idx="0"/>
          </p:cNvCxnSpPr>
          <p:nvPr/>
        </p:nvCxnSpPr>
        <p:spPr>
          <a:xfrm flipH="1" flipV="1">
            <a:off x="5690021" y="6228804"/>
            <a:ext cx="7505" cy="24848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5" name="Shape 205"/>
          <p:cNvCxnSpPr/>
          <p:nvPr/>
        </p:nvCxnSpPr>
        <p:spPr>
          <a:xfrm flipV="1">
            <a:off x="5629238" y="5749002"/>
            <a:ext cx="11542" cy="2660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" name="TextBox 42"/>
          <p:cNvSpPr txBox="1"/>
          <p:nvPr/>
        </p:nvSpPr>
        <p:spPr>
          <a:xfrm>
            <a:off x="5776850" y="3962400"/>
            <a:ext cx="24978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Changing files + auto commit</a:t>
            </a:r>
            <a:br>
              <a:rPr lang="en-US" dirty="0"/>
            </a:br>
            <a:r>
              <a:rPr lang="en-US" dirty="0"/>
              <a:t>Each save -&gt; auto commit</a:t>
            </a:r>
          </a:p>
        </p:txBody>
      </p:sp>
      <p:sp>
        <p:nvSpPr>
          <p:cNvPr id="46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47" name="Shape 205"/>
          <p:cNvCxnSpPr>
            <a:stCxn id="46" idx="0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4" name="Shape 204"/>
          <p:cNvSpPr/>
          <p:nvPr/>
        </p:nvSpPr>
        <p:spPr>
          <a:xfrm>
            <a:off x="5199188" y="4884607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48" name="Shape 205"/>
          <p:cNvCxnSpPr/>
          <p:nvPr/>
        </p:nvCxnSpPr>
        <p:spPr>
          <a:xfrm>
            <a:off x="5640780" y="5157608"/>
            <a:ext cx="0" cy="28885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9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52" name="Shape 205"/>
          <p:cNvCxnSpPr>
            <a:stCxn id="49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54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5153833" y="6024176"/>
            <a:ext cx="973893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lcl-10</a:t>
            </a:r>
          </a:p>
        </p:txBody>
      </p:sp>
      <p:sp>
        <p:nvSpPr>
          <p:cNvPr id="56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57" name="Shape 204"/>
          <p:cNvSpPr/>
          <p:nvPr/>
        </p:nvSpPr>
        <p:spPr>
          <a:xfrm>
            <a:off x="1667542" y="3074700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58" name="Shape 204"/>
          <p:cNvSpPr/>
          <p:nvPr/>
        </p:nvSpPr>
        <p:spPr>
          <a:xfrm>
            <a:off x="1485200" y="5638800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3898289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Merge --squash lcl-10 to fix/FTR-10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51" name="Shape 205"/>
          <p:cNvCxnSpPr>
            <a:endCxn id="192" idx="2"/>
          </p:cNvCxnSpPr>
          <p:nvPr/>
        </p:nvCxnSpPr>
        <p:spPr>
          <a:xfrm flipV="1">
            <a:off x="2281125" y="2677000"/>
            <a:ext cx="0" cy="397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endCxn id="35" idx="0"/>
          </p:cNvCxnSpPr>
          <p:nvPr/>
        </p:nvCxnSpPr>
        <p:spPr>
          <a:xfrm flipH="1">
            <a:off x="6263796" y="4582869"/>
            <a:ext cx="7717" cy="3157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" name="Shape 212"/>
          <p:cNvSpPr/>
          <p:nvPr/>
        </p:nvSpPr>
        <p:spPr>
          <a:xfrm>
            <a:off x="5856057" y="3660950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stCxn id="31" idx="2"/>
          </p:cNvCxnSpPr>
          <p:nvPr/>
        </p:nvCxnSpPr>
        <p:spPr>
          <a:xfrm flipH="1">
            <a:off x="6271513" y="4016450"/>
            <a:ext cx="3644" cy="26583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5" name="Shape 205"/>
          <p:cNvCxnSpPr/>
          <p:nvPr/>
        </p:nvCxnSpPr>
        <p:spPr>
          <a:xfrm flipV="1">
            <a:off x="5629238" y="5749002"/>
            <a:ext cx="11542" cy="2660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" name="TextBox 42"/>
          <p:cNvSpPr txBox="1"/>
          <p:nvPr/>
        </p:nvSpPr>
        <p:spPr>
          <a:xfrm>
            <a:off x="5852412" y="838200"/>
            <a:ext cx="286884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git checkout fix/FTR-10</a:t>
            </a:r>
            <a:br>
              <a:rPr lang="en-US" dirty="0"/>
            </a:br>
            <a:r>
              <a:rPr lang="en-US" dirty="0"/>
              <a:t>git merge –squash lcl-10</a:t>
            </a:r>
          </a:p>
          <a:p>
            <a:r>
              <a:rPr lang="en-US" dirty="0"/>
              <a:t>git commit  </a:t>
            </a:r>
            <a:br>
              <a:rPr lang="en-US" dirty="0"/>
            </a:br>
            <a:r>
              <a:rPr lang="en-US" dirty="0"/>
              <a:t>Squash merge to 1 commit in FTR-10 branch</a:t>
            </a:r>
          </a:p>
          <a:p>
            <a:endParaRPr lang="en-US" dirty="0"/>
          </a:p>
          <a:p>
            <a:r>
              <a:rPr lang="en-US" dirty="0"/>
              <a:t>(Possibly Rebase master)</a:t>
            </a:r>
          </a:p>
        </p:txBody>
      </p: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6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97" name="Shape 205"/>
          <p:cNvCxnSpPr>
            <a:stCxn id="96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8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99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204"/>
          <p:cNvSpPr/>
          <p:nvPr/>
        </p:nvSpPr>
        <p:spPr>
          <a:xfrm>
            <a:off x="5203825" y="6015026"/>
            <a:ext cx="973893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lcl-10</a:t>
            </a:r>
          </a:p>
        </p:txBody>
      </p:sp>
      <p:sp>
        <p:nvSpPr>
          <p:cNvPr id="47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48" name="Shape 204"/>
          <p:cNvSpPr/>
          <p:nvPr/>
        </p:nvSpPr>
        <p:spPr>
          <a:xfrm>
            <a:off x="1667542" y="3074700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49" name="Shape 204"/>
          <p:cNvSpPr/>
          <p:nvPr/>
        </p:nvSpPr>
        <p:spPr>
          <a:xfrm>
            <a:off x="5708769" y="4268738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4061388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Push -&gt; trigger CI, remove branch lcl-10 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endCxn id="35" idx="0"/>
          </p:cNvCxnSpPr>
          <p:nvPr/>
        </p:nvCxnSpPr>
        <p:spPr>
          <a:xfrm>
            <a:off x="6225199" y="4541738"/>
            <a:ext cx="38597" cy="35688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" name="Shape 212"/>
          <p:cNvSpPr/>
          <p:nvPr/>
        </p:nvSpPr>
        <p:spPr>
          <a:xfrm>
            <a:off x="5804297" y="3660950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stCxn id="31" idx="2"/>
          </p:cNvCxnSpPr>
          <p:nvPr/>
        </p:nvCxnSpPr>
        <p:spPr>
          <a:xfrm>
            <a:off x="6223397" y="4016450"/>
            <a:ext cx="1802" cy="2522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5" name="Shape 205"/>
          <p:cNvCxnSpPr/>
          <p:nvPr/>
        </p:nvCxnSpPr>
        <p:spPr>
          <a:xfrm flipV="1">
            <a:off x="5629238" y="5749002"/>
            <a:ext cx="11542" cy="2660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91965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251232" cy="464875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9" name="Shape 205"/>
          <p:cNvCxnSpPr>
            <a:endCxn id="46" idx="0"/>
          </p:cNvCxnSpPr>
          <p:nvPr/>
        </p:nvCxnSpPr>
        <p:spPr>
          <a:xfrm>
            <a:off x="6306957" y="2549693"/>
            <a:ext cx="0" cy="23668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4" name="Elbow Connector 13"/>
          <p:cNvCxnSpPr>
            <a:stCxn id="35" idx="0"/>
          </p:cNvCxnSpPr>
          <p:nvPr/>
        </p:nvCxnSpPr>
        <p:spPr>
          <a:xfrm rot="16200000" flipV="1">
            <a:off x="5748812" y="4383635"/>
            <a:ext cx="183951" cy="8460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/>
          <p:cNvCxnSpPr>
            <a:endCxn id="46" idx="2"/>
          </p:cNvCxnSpPr>
          <p:nvPr/>
        </p:nvCxnSpPr>
        <p:spPr>
          <a:xfrm rot="5400000" flipH="1" flipV="1">
            <a:off x="5075969" y="3483682"/>
            <a:ext cx="1572794" cy="889181"/>
          </a:xfrm>
          <a:prstGeom prst="bentConnector3">
            <a:avLst>
              <a:gd name="adj1" fmla="val 8111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32799" y="3419341"/>
            <a:ext cx="684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857" y="622831"/>
            <a:ext cx="2221143" cy="224676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Push triggers CI pipeline: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Build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Unit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Static Code Analysis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Code coverage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Snippet, Security code analysis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…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Deploy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Functional Test</a:t>
            </a:r>
          </a:p>
        </p:txBody>
      </p:sp>
      <p:cxnSp>
        <p:nvCxnSpPr>
          <p:cNvPr id="23" name="Elbow Connector 22"/>
          <p:cNvCxnSpPr>
            <a:stCxn id="46" idx="3"/>
            <a:endCxn id="20" idx="2"/>
          </p:cNvCxnSpPr>
          <p:nvPr/>
        </p:nvCxnSpPr>
        <p:spPr>
          <a:xfrm flipV="1">
            <a:off x="6694257" y="2869600"/>
            <a:ext cx="1339172" cy="94525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50588" y="6015026"/>
            <a:ext cx="22362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Delete local branch</a:t>
            </a:r>
          </a:p>
        </p:txBody>
      </p:sp>
      <p:sp>
        <p:nvSpPr>
          <p:cNvPr id="73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74" name="Shape 205"/>
          <p:cNvCxnSpPr>
            <a:stCxn id="73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5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76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7" name="Shape 204"/>
          <p:cNvSpPr/>
          <p:nvPr/>
        </p:nvSpPr>
        <p:spPr>
          <a:xfrm>
            <a:off x="5203825" y="6015026"/>
            <a:ext cx="973893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lcl-10</a:t>
            </a:r>
          </a:p>
        </p:txBody>
      </p:sp>
      <p:sp>
        <p:nvSpPr>
          <p:cNvPr id="78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79" name="Shape 204"/>
          <p:cNvSpPr/>
          <p:nvPr/>
        </p:nvSpPr>
        <p:spPr>
          <a:xfrm>
            <a:off x="5640780" y="2164286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80" name="Shape 204"/>
          <p:cNvSpPr/>
          <p:nvPr/>
        </p:nvSpPr>
        <p:spPr>
          <a:xfrm>
            <a:off x="5708769" y="4268738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81" name="Multiply 80"/>
          <p:cNvSpPr/>
          <p:nvPr/>
        </p:nvSpPr>
        <p:spPr>
          <a:xfrm>
            <a:off x="5793035" y="5753802"/>
            <a:ext cx="623981" cy="717562"/>
          </a:xfrm>
          <a:prstGeom prst="mathMultiply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4595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Open Gitlab MR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endCxn id="35" idx="0"/>
          </p:cNvCxnSpPr>
          <p:nvPr/>
        </p:nvCxnSpPr>
        <p:spPr>
          <a:xfrm flipH="1">
            <a:off x="6263796" y="4582869"/>
            <a:ext cx="7717" cy="3157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" name="Shape 212"/>
          <p:cNvSpPr/>
          <p:nvPr/>
        </p:nvSpPr>
        <p:spPr>
          <a:xfrm>
            <a:off x="5856057" y="3660950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stCxn id="31" idx="2"/>
          </p:cNvCxnSpPr>
          <p:nvPr/>
        </p:nvCxnSpPr>
        <p:spPr>
          <a:xfrm flipH="1">
            <a:off x="6271513" y="4016450"/>
            <a:ext cx="3644" cy="26583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91965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251232" cy="464875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9" name="Shape 205"/>
          <p:cNvCxnSpPr>
            <a:stCxn id="55" idx="2"/>
            <a:endCxn id="46" idx="0"/>
          </p:cNvCxnSpPr>
          <p:nvPr/>
        </p:nvCxnSpPr>
        <p:spPr>
          <a:xfrm>
            <a:off x="6294592" y="2470209"/>
            <a:ext cx="12365" cy="31616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" name="TextBox 19"/>
          <p:cNvSpPr txBox="1"/>
          <p:nvPr/>
        </p:nvSpPr>
        <p:spPr>
          <a:xfrm>
            <a:off x="6922857" y="609600"/>
            <a:ext cx="2221143" cy="52322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Open Merge Request </a:t>
            </a:r>
          </a:p>
          <a:p>
            <a:r>
              <a:rPr lang="en-US" dirty="0">
                <a:solidFill>
                  <a:srgbClr val="000000"/>
                </a:solidFill>
              </a:rPr>
              <a:t>If CI succeeded </a:t>
            </a:r>
            <a:r>
              <a:rPr lang="en-US" b="1" dirty="0">
                <a:solidFill>
                  <a:srgbClr val="000000"/>
                </a:solidFill>
              </a:rPr>
              <a:t>only</a:t>
            </a:r>
          </a:p>
        </p:txBody>
      </p:sp>
      <p:cxnSp>
        <p:nvCxnSpPr>
          <p:cNvPr id="23" name="Elbow Connector 22"/>
          <p:cNvCxnSpPr>
            <a:endCxn id="20" idx="2"/>
          </p:cNvCxnSpPr>
          <p:nvPr/>
        </p:nvCxnSpPr>
        <p:spPr>
          <a:xfrm flipV="1">
            <a:off x="6694257" y="1132820"/>
            <a:ext cx="1339172" cy="1818074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51" name="Shape 205"/>
          <p:cNvCxnSpPr>
            <a:stCxn id="50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2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53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4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55" name="Shape 204"/>
          <p:cNvSpPr/>
          <p:nvPr/>
        </p:nvSpPr>
        <p:spPr>
          <a:xfrm>
            <a:off x="5681009" y="2136125"/>
            <a:ext cx="1227166" cy="334084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56" name="Shape 204"/>
          <p:cNvSpPr/>
          <p:nvPr/>
        </p:nvSpPr>
        <p:spPr>
          <a:xfrm>
            <a:off x="5708769" y="4268738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23684863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Change not approved, need to fix comments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endCxn id="35" idx="0"/>
          </p:cNvCxnSpPr>
          <p:nvPr/>
        </p:nvCxnSpPr>
        <p:spPr>
          <a:xfrm flipH="1">
            <a:off x="6263796" y="4582869"/>
            <a:ext cx="7717" cy="3157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" name="Shape 212"/>
          <p:cNvSpPr/>
          <p:nvPr/>
        </p:nvSpPr>
        <p:spPr>
          <a:xfrm>
            <a:off x="5856057" y="3660950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stCxn id="31" idx="2"/>
          </p:cNvCxnSpPr>
          <p:nvPr/>
        </p:nvCxnSpPr>
        <p:spPr>
          <a:xfrm flipH="1">
            <a:off x="6271513" y="4016450"/>
            <a:ext cx="3644" cy="26583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91965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251232" cy="464875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9" name="Shape 205"/>
          <p:cNvCxnSpPr>
            <a:endCxn id="46" idx="0"/>
          </p:cNvCxnSpPr>
          <p:nvPr/>
        </p:nvCxnSpPr>
        <p:spPr>
          <a:xfrm>
            <a:off x="6306957" y="2565225"/>
            <a:ext cx="0" cy="2211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" name="TextBox 19"/>
          <p:cNvSpPr txBox="1"/>
          <p:nvPr/>
        </p:nvSpPr>
        <p:spPr>
          <a:xfrm>
            <a:off x="6477001" y="622831"/>
            <a:ext cx="2667000" cy="52322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Code review not approved</a:t>
            </a:r>
          </a:p>
          <a:p>
            <a:r>
              <a:rPr lang="en-US" dirty="0">
                <a:solidFill>
                  <a:srgbClr val="000000"/>
                </a:solidFill>
              </a:rPr>
              <a:t>No go, need to fix</a:t>
            </a:r>
          </a:p>
        </p:txBody>
      </p:sp>
      <p:cxnSp>
        <p:nvCxnSpPr>
          <p:cNvPr id="23" name="Elbow Connector 22"/>
          <p:cNvCxnSpPr>
            <a:stCxn id="46" idx="3"/>
            <a:endCxn id="20" idx="2"/>
          </p:cNvCxnSpPr>
          <p:nvPr/>
        </p:nvCxnSpPr>
        <p:spPr>
          <a:xfrm flipV="1">
            <a:off x="6694257" y="1146051"/>
            <a:ext cx="1116244" cy="1818074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51" name="Shape 205"/>
          <p:cNvCxnSpPr>
            <a:stCxn id="50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2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53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4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55" name="Shape 204"/>
          <p:cNvSpPr/>
          <p:nvPr/>
        </p:nvSpPr>
        <p:spPr>
          <a:xfrm>
            <a:off x="5640780" y="2164286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56" name="Shape 204"/>
          <p:cNvSpPr/>
          <p:nvPr/>
        </p:nvSpPr>
        <p:spPr>
          <a:xfrm>
            <a:off x="5708769" y="4268738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12131919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Again checkout lcl-10,save-&gt;</a:t>
            </a:r>
            <a:r>
              <a:rPr lang="en-US" dirty="0" err="1">
                <a:latin typeface="Merriweather"/>
                <a:ea typeface="Merriweather"/>
                <a:cs typeface="Merriweather"/>
                <a:sym typeface="Merriweather"/>
              </a:rPr>
              <a:t>autocommit</a:t>
            </a:r>
            <a:endParaRPr lang="en-US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endCxn id="35" idx="0"/>
          </p:cNvCxnSpPr>
          <p:nvPr/>
        </p:nvCxnSpPr>
        <p:spPr>
          <a:xfrm flipH="1">
            <a:off x="6263796" y="4582869"/>
            <a:ext cx="7717" cy="3157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" name="Shape 212"/>
          <p:cNvSpPr/>
          <p:nvPr/>
        </p:nvSpPr>
        <p:spPr>
          <a:xfrm>
            <a:off x="8264564" y="4740744"/>
            <a:ext cx="838200" cy="340514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4" name="Shape 205"/>
          <p:cNvCxnSpPr>
            <a:stCxn id="31" idx="2"/>
            <a:endCxn id="70" idx="0"/>
          </p:cNvCxnSpPr>
          <p:nvPr/>
        </p:nvCxnSpPr>
        <p:spPr>
          <a:xfrm>
            <a:off x="8683664" y="5081258"/>
            <a:ext cx="1" cy="34305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91965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251232" cy="464875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9" name="Shape 205"/>
          <p:cNvCxnSpPr>
            <a:endCxn id="46" idx="0"/>
          </p:cNvCxnSpPr>
          <p:nvPr/>
        </p:nvCxnSpPr>
        <p:spPr>
          <a:xfrm>
            <a:off x="6306957" y="2565225"/>
            <a:ext cx="0" cy="2211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" name="TextBox 19"/>
          <p:cNvSpPr txBox="1"/>
          <p:nvPr/>
        </p:nvSpPr>
        <p:spPr>
          <a:xfrm>
            <a:off x="6922857" y="622831"/>
            <a:ext cx="2221143" cy="52322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Code review -2</a:t>
            </a:r>
          </a:p>
          <a:p>
            <a:r>
              <a:rPr lang="en-US" dirty="0">
                <a:solidFill>
                  <a:srgbClr val="000000"/>
                </a:solidFill>
              </a:rPr>
              <a:t>No go, need to fix</a:t>
            </a:r>
          </a:p>
        </p:txBody>
      </p:sp>
      <p:cxnSp>
        <p:nvCxnSpPr>
          <p:cNvPr id="23" name="Elbow Connector 22"/>
          <p:cNvCxnSpPr>
            <a:stCxn id="46" idx="3"/>
            <a:endCxn id="20" idx="2"/>
          </p:cNvCxnSpPr>
          <p:nvPr/>
        </p:nvCxnSpPr>
        <p:spPr>
          <a:xfrm flipV="1">
            <a:off x="6694257" y="1146051"/>
            <a:ext cx="1339172" cy="1818074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0" name="Shape 204"/>
          <p:cNvSpPr/>
          <p:nvPr/>
        </p:nvSpPr>
        <p:spPr>
          <a:xfrm>
            <a:off x="8196718" y="5424314"/>
            <a:ext cx="973893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lcl-10</a:t>
            </a:r>
          </a:p>
        </p:txBody>
      </p:sp>
      <p:cxnSp>
        <p:nvCxnSpPr>
          <p:cNvPr id="73" name="Shape 205"/>
          <p:cNvCxnSpPr/>
          <p:nvPr/>
        </p:nvCxnSpPr>
        <p:spPr>
          <a:xfrm>
            <a:off x="8536053" y="5679014"/>
            <a:ext cx="0" cy="21707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4" name="TextBox 23"/>
          <p:cNvSpPr txBox="1"/>
          <p:nvPr/>
        </p:nvSpPr>
        <p:spPr>
          <a:xfrm>
            <a:off x="6980197" y="3587639"/>
            <a:ext cx="21638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git checkout -b lcl-10</a:t>
            </a:r>
            <a:br>
              <a:rPr lang="en-US" dirty="0"/>
            </a:br>
            <a:r>
              <a:rPr lang="en-US" dirty="0"/>
              <a:t>Each save-&gt;auto commit</a:t>
            </a:r>
            <a:br>
              <a:rPr lang="en-US" dirty="0"/>
            </a:br>
            <a:r>
              <a:rPr lang="en-US" dirty="0"/>
              <a:t>in local branch lcl-10</a:t>
            </a:r>
          </a:p>
        </p:txBody>
      </p:sp>
      <p:sp>
        <p:nvSpPr>
          <p:cNvPr id="59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60" name="Shape 205"/>
          <p:cNvCxnSpPr>
            <a:stCxn id="59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6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67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3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64" name="Shape 204"/>
          <p:cNvSpPr/>
          <p:nvPr/>
        </p:nvSpPr>
        <p:spPr>
          <a:xfrm>
            <a:off x="5640780" y="2164286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68" name="Shape 204"/>
          <p:cNvSpPr/>
          <p:nvPr/>
        </p:nvSpPr>
        <p:spPr>
          <a:xfrm>
            <a:off x="5708769" y="4268738"/>
            <a:ext cx="1132775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25188445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Squash merge to FTR-10 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stCxn id="90" idx="1"/>
            <a:endCxn id="35" idx="3"/>
          </p:cNvCxnSpPr>
          <p:nvPr/>
        </p:nvCxnSpPr>
        <p:spPr>
          <a:xfrm flipH="1" flipV="1">
            <a:off x="6651096" y="5076370"/>
            <a:ext cx="1718304" cy="4559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831577" y="281679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163152" cy="4952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73" name="Shape 205"/>
          <p:cNvCxnSpPr/>
          <p:nvPr/>
        </p:nvCxnSpPr>
        <p:spPr>
          <a:xfrm>
            <a:off x="8536053" y="5679014"/>
            <a:ext cx="0" cy="21707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0" name="Shape 198"/>
          <p:cNvSpPr/>
          <p:nvPr/>
        </p:nvSpPr>
        <p:spPr>
          <a:xfrm>
            <a:off x="8369400" y="494421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cxnSp>
        <p:nvCxnSpPr>
          <p:cNvPr id="152" name="Shape 200"/>
          <p:cNvCxnSpPr>
            <a:stCxn id="61" idx="2"/>
          </p:cNvCxnSpPr>
          <p:nvPr/>
        </p:nvCxnSpPr>
        <p:spPr>
          <a:xfrm>
            <a:off x="6254363" y="2518586"/>
            <a:ext cx="9433" cy="289306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61" name="TextBox 160"/>
          <p:cNvSpPr txBox="1"/>
          <p:nvPr/>
        </p:nvSpPr>
        <p:spPr>
          <a:xfrm>
            <a:off x="6254769" y="672996"/>
            <a:ext cx="28688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Squash merge to 1 commit in FTR-10 branch</a:t>
            </a:r>
          </a:p>
          <a:p>
            <a:r>
              <a:rPr lang="en-US" dirty="0"/>
              <a:t>Tag commit </a:t>
            </a:r>
          </a:p>
          <a:p>
            <a:r>
              <a:rPr lang="en-US" dirty="0"/>
              <a:t>(Possibly Rebase master)</a:t>
            </a:r>
          </a:p>
        </p:txBody>
      </p:sp>
      <p:sp>
        <p:nvSpPr>
          <p:cNvPr id="162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163" name="Shape 205"/>
          <p:cNvCxnSpPr>
            <a:stCxn id="162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64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165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9" name="Shape 204"/>
          <p:cNvSpPr/>
          <p:nvPr/>
        </p:nvSpPr>
        <p:spPr>
          <a:xfrm>
            <a:off x="8196718" y="5424314"/>
            <a:ext cx="973893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lcl-10</a:t>
            </a:r>
          </a:p>
        </p:txBody>
      </p:sp>
      <p:sp>
        <p:nvSpPr>
          <p:cNvPr id="60" name="Shape 204"/>
          <p:cNvSpPr/>
          <p:nvPr/>
        </p:nvSpPr>
        <p:spPr>
          <a:xfrm>
            <a:off x="1086444" y="4268738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61" name="Shape 204"/>
          <p:cNvSpPr/>
          <p:nvPr/>
        </p:nvSpPr>
        <p:spPr>
          <a:xfrm>
            <a:off x="5640780" y="2164286"/>
            <a:ext cx="1227166" cy="354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cxnSp>
        <p:nvCxnSpPr>
          <p:cNvPr id="64" name="Shape 205"/>
          <p:cNvCxnSpPr/>
          <p:nvPr/>
        </p:nvCxnSpPr>
        <p:spPr>
          <a:xfrm>
            <a:off x="8756700" y="4550557"/>
            <a:ext cx="0" cy="39365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6" name="Shape 212"/>
          <p:cNvSpPr/>
          <p:nvPr/>
        </p:nvSpPr>
        <p:spPr>
          <a:xfrm>
            <a:off x="8297285" y="3489837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67" name="Shape 205"/>
          <p:cNvCxnSpPr>
            <a:stCxn id="66" idx="2"/>
          </p:cNvCxnSpPr>
          <p:nvPr/>
        </p:nvCxnSpPr>
        <p:spPr>
          <a:xfrm>
            <a:off x="8716385" y="3845337"/>
            <a:ext cx="0" cy="42340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8" name="Shape 204"/>
          <p:cNvSpPr/>
          <p:nvPr/>
        </p:nvSpPr>
        <p:spPr>
          <a:xfrm>
            <a:off x="7956553" y="4268738"/>
            <a:ext cx="1187448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2846872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6694257" cy="1111274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Push fix of review, CI, delete local branch lcl-10 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stCxn id="90" idx="1"/>
            <a:endCxn id="35" idx="3"/>
          </p:cNvCxnSpPr>
          <p:nvPr/>
        </p:nvCxnSpPr>
        <p:spPr>
          <a:xfrm flipH="1" flipV="1">
            <a:off x="6651096" y="5076370"/>
            <a:ext cx="1718304" cy="4559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831577" y="281679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163152" cy="4952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73" name="Shape 205"/>
          <p:cNvCxnSpPr/>
          <p:nvPr/>
        </p:nvCxnSpPr>
        <p:spPr>
          <a:xfrm>
            <a:off x="8536053" y="5679014"/>
            <a:ext cx="0" cy="21707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87" name="Shape 205"/>
          <p:cNvCxnSpPr>
            <a:endCxn id="90" idx="0"/>
          </p:cNvCxnSpPr>
          <p:nvPr/>
        </p:nvCxnSpPr>
        <p:spPr>
          <a:xfrm>
            <a:off x="8756700" y="4550557"/>
            <a:ext cx="0" cy="39365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8" name="Shape 212"/>
          <p:cNvSpPr/>
          <p:nvPr/>
        </p:nvSpPr>
        <p:spPr>
          <a:xfrm>
            <a:off x="8297285" y="3489837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89" name="Shape 205"/>
          <p:cNvCxnSpPr>
            <a:stCxn id="88" idx="2"/>
          </p:cNvCxnSpPr>
          <p:nvPr/>
        </p:nvCxnSpPr>
        <p:spPr>
          <a:xfrm>
            <a:off x="8716385" y="3845337"/>
            <a:ext cx="0" cy="42340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0" name="Shape 198"/>
          <p:cNvSpPr/>
          <p:nvPr/>
        </p:nvSpPr>
        <p:spPr>
          <a:xfrm>
            <a:off x="8369400" y="494421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sp>
        <p:nvSpPr>
          <p:cNvPr id="133" name="Shape 198"/>
          <p:cNvSpPr/>
          <p:nvPr/>
        </p:nvSpPr>
        <p:spPr>
          <a:xfrm>
            <a:off x="680961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/>
            <a:r>
              <a:rPr lang="en-US" dirty="0"/>
              <a:t>57y23</a:t>
            </a:r>
          </a:p>
        </p:txBody>
      </p:sp>
      <p:cxnSp>
        <p:nvCxnSpPr>
          <p:cNvPr id="136" name="Elbow Connector 135"/>
          <p:cNvCxnSpPr>
            <a:endCxn id="133" idx="2"/>
          </p:cNvCxnSpPr>
          <p:nvPr/>
        </p:nvCxnSpPr>
        <p:spPr>
          <a:xfrm rot="16200000" flipV="1">
            <a:off x="6881992" y="3456801"/>
            <a:ext cx="1802335" cy="1172484"/>
          </a:xfrm>
          <a:prstGeom prst="bentConnector3">
            <a:avLst>
              <a:gd name="adj1" fmla="val -734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6944323" y="0"/>
            <a:ext cx="2221143" cy="224676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Push triggers CI pipeline: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Build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Unit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Static Code Analysis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Code coverage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Snippet, Security code analysis</a:t>
            </a:r>
          </a:p>
          <a:p>
            <a:r>
              <a:rPr lang="en-US" dirty="0">
                <a:solidFill>
                  <a:srgbClr val="000000"/>
                </a:solidFill>
              </a:rPr>
              <a:t>-     …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Deploy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Functional Test</a:t>
            </a:r>
          </a:p>
        </p:txBody>
      </p:sp>
      <p:cxnSp>
        <p:nvCxnSpPr>
          <p:cNvPr id="138" name="Elbow Connector 137"/>
          <p:cNvCxnSpPr>
            <a:stCxn id="133" idx="3"/>
            <a:endCxn id="137" idx="2"/>
          </p:cNvCxnSpPr>
          <p:nvPr/>
        </p:nvCxnSpPr>
        <p:spPr>
          <a:xfrm flipV="1">
            <a:off x="7584217" y="2246769"/>
            <a:ext cx="470678" cy="7173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hape 200"/>
          <p:cNvCxnSpPr>
            <a:stCxn id="133" idx="1"/>
          </p:cNvCxnSpPr>
          <p:nvPr/>
        </p:nvCxnSpPr>
        <p:spPr>
          <a:xfrm flipH="1">
            <a:off x="6569393" y="2964125"/>
            <a:ext cx="240224" cy="2478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52" name="Shape 200"/>
          <p:cNvCxnSpPr>
            <a:endCxn id="133" idx="0"/>
          </p:cNvCxnSpPr>
          <p:nvPr/>
        </p:nvCxnSpPr>
        <p:spPr>
          <a:xfrm flipH="1">
            <a:off x="7196917" y="2530949"/>
            <a:ext cx="4767" cy="255426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0" name="TextBox 59"/>
          <p:cNvSpPr txBox="1"/>
          <p:nvPr/>
        </p:nvSpPr>
        <p:spPr>
          <a:xfrm>
            <a:off x="6553922" y="5381662"/>
            <a:ext cx="143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Delete branch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48999" y="3776887"/>
            <a:ext cx="6110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push</a:t>
            </a:r>
          </a:p>
        </p:txBody>
      </p:sp>
      <p:sp>
        <p:nvSpPr>
          <p:cNvPr id="64" name="Shape 204"/>
          <p:cNvSpPr/>
          <p:nvPr/>
        </p:nvSpPr>
        <p:spPr>
          <a:xfrm>
            <a:off x="2746238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66" name="Shape 205"/>
          <p:cNvCxnSpPr>
            <a:stCxn id="64" idx="2"/>
          </p:cNvCxnSpPr>
          <p:nvPr/>
        </p:nvCxnSpPr>
        <p:spPr>
          <a:xfrm flipH="1">
            <a:off x="2276063" y="1957576"/>
            <a:ext cx="92889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7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68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5" name="Shape 204"/>
          <p:cNvSpPr/>
          <p:nvPr/>
        </p:nvSpPr>
        <p:spPr>
          <a:xfrm>
            <a:off x="1147728" y="4277557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91" name="Shape 204"/>
          <p:cNvSpPr/>
          <p:nvPr/>
        </p:nvSpPr>
        <p:spPr>
          <a:xfrm>
            <a:off x="6625999" y="2246768"/>
            <a:ext cx="1227166" cy="278115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94" name="Shape 204"/>
          <p:cNvSpPr/>
          <p:nvPr/>
        </p:nvSpPr>
        <p:spPr>
          <a:xfrm>
            <a:off x="7956553" y="4268738"/>
            <a:ext cx="1187448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102" name="Shape 204"/>
          <p:cNvSpPr/>
          <p:nvPr/>
        </p:nvSpPr>
        <p:spPr>
          <a:xfrm>
            <a:off x="8196718" y="5424314"/>
            <a:ext cx="973893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lcl-10</a:t>
            </a:r>
          </a:p>
        </p:txBody>
      </p:sp>
      <p:sp>
        <p:nvSpPr>
          <p:cNvPr id="103" name="Multiply 102"/>
          <p:cNvSpPr/>
          <p:nvPr/>
        </p:nvSpPr>
        <p:spPr>
          <a:xfrm>
            <a:off x="7913350" y="5185771"/>
            <a:ext cx="623981" cy="717562"/>
          </a:xfrm>
          <a:prstGeom prst="mathMultiply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0224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Open Merge Request, Approve MR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-54119" y="1066528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1849425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192" idx="0"/>
          </p:cNvCxnSpPr>
          <p:nvPr/>
        </p:nvCxnSpPr>
        <p:spPr>
          <a:xfrm>
            <a:off x="2281125" y="1950750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stCxn id="90" idx="1"/>
            <a:endCxn id="35" idx="3"/>
          </p:cNvCxnSpPr>
          <p:nvPr/>
        </p:nvCxnSpPr>
        <p:spPr>
          <a:xfrm flipH="1" flipV="1">
            <a:off x="6651096" y="5076370"/>
            <a:ext cx="1718304" cy="4559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831577" y="281679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163152" cy="4952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87" name="Shape 205"/>
          <p:cNvCxnSpPr>
            <a:endCxn id="90" idx="0"/>
          </p:cNvCxnSpPr>
          <p:nvPr/>
        </p:nvCxnSpPr>
        <p:spPr>
          <a:xfrm>
            <a:off x="8724900" y="4555532"/>
            <a:ext cx="31800" cy="38867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8" name="Shape 212"/>
          <p:cNvSpPr/>
          <p:nvPr/>
        </p:nvSpPr>
        <p:spPr>
          <a:xfrm>
            <a:off x="8297285" y="3489837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89" name="Shape 205"/>
          <p:cNvCxnSpPr>
            <a:stCxn id="88" idx="2"/>
          </p:cNvCxnSpPr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0" name="Shape 198"/>
          <p:cNvSpPr/>
          <p:nvPr/>
        </p:nvSpPr>
        <p:spPr>
          <a:xfrm>
            <a:off x="8369400" y="494421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sp>
        <p:nvSpPr>
          <p:cNvPr id="133" name="Shape 198"/>
          <p:cNvSpPr/>
          <p:nvPr/>
        </p:nvSpPr>
        <p:spPr>
          <a:xfrm>
            <a:off x="680961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cxnSp>
        <p:nvCxnSpPr>
          <p:cNvPr id="146" name="Shape 200"/>
          <p:cNvCxnSpPr/>
          <p:nvPr/>
        </p:nvCxnSpPr>
        <p:spPr>
          <a:xfrm flipH="1">
            <a:off x="6606177" y="2982152"/>
            <a:ext cx="240224" cy="2478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52" name="Shape 200"/>
          <p:cNvCxnSpPr>
            <a:endCxn id="133" idx="0"/>
          </p:cNvCxnSpPr>
          <p:nvPr/>
        </p:nvCxnSpPr>
        <p:spPr>
          <a:xfrm>
            <a:off x="7196917" y="2565225"/>
            <a:ext cx="0" cy="22115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1" name="TextBox 60"/>
          <p:cNvSpPr txBox="1"/>
          <p:nvPr/>
        </p:nvSpPr>
        <p:spPr>
          <a:xfrm>
            <a:off x="6922857" y="609600"/>
            <a:ext cx="2221143" cy="73866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Open Merge Request </a:t>
            </a:r>
          </a:p>
          <a:p>
            <a:r>
              <a:rPr lang="en-US" dirty="0">
                <a:solidFill>
                  <a:srgbClr val="000000"/>
                </a:solidFill>
              </a:rPr>
              <a:t>If CI succeeded </a:t>
            </a:r>
            <a:r>
              <a:rPr lang="en-US" b="1" dirty="0">
                <a:solidFill>
                  <a:srgbClr val="000000"/>
                </a:solidFill>
              </a:rPr>
              <a:t>only</a:t>
            </a:r>
          </a:p>
          <a:p>
            <a:r>
              <a:rPr lang="en-US" dirty="0">
                <a:solidFill>
                  <a:srgbClr val="000000"/>
                </a:solidFill>
              </a:rPr>
              <a:t>Approve MR</a:t>
            </a:r>
          </a:p>
        </p:txBody>
      </p:sp>
      <p:cxnSp>
        <p:nvCxnSpPr>
          <p:cNvPr id="63" name="Elbow Connector 62"/>
          <p:cNvCxnSpPr>
            <a:stCxn id="133" idx="3"/>
            <a:endCxn id="61" idx="2"/>
          </p:cNvCxnSpPr>
          <p:nvPr/>
        </p:nvCxnSpPr>
        <p:spPr>
          <a:xfrm flipV="1">
            <a:off x="7584217" y="1348264"/>
            <a:ext cx="449212" cy="1615861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Shape 204"/>
          <p:cNvSpPr/>
          <p:nvPr/>
        </p:nvSpPr>
        <p:spPr>
          <a:xfrm>
            <a:off x="1828800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67" name="Shape 205"/>
          <p:cNvCxnSpPr/>
          <p:nvPr/>
        </p:nvCxnSpPr>
        <p:spPr>
          <a:xfrm flipH="1">
            <a:off x="2276063" y="1957576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8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69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9" name="Shape 204"/>
          <p:cNvSpPr/>
          <p:nvPr/>
        </p:nvSpPr>
        <p:spPr>
          <a:xfrm>
            <a:off x="1147728" y="4277557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60" name="Shape 204"/>
          <p:cNvSpPr/>
          <p:nvPr/>
        </p:nvSpPr>
        <p:spPr>
          <a:xfrm>
            <a:off x="6625999" y="2246768"/>
            <a:ext cx="1227166" cy="278115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64" name="Shape 204"/>
          <p:cNvSpPr/>
          <p:nvPr/>
        </p:nvSpPr>
        <p:spPr>
          <a:xfrm>
            <a:off x="8033429" y="4252625"/>
            <a:ext cx="1110572" cy="297932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26353341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Other commit was merged, FF merge no possible now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6931162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59" idx="0"/>
          </p:cNvCxnSpPr>
          <p:nvPr/>
        </p:nvCxnSpPr>
        <p:spPr>
          <a:xfrm>
            <a:off x="7362862" y="1950750"/>
            <a:ext cx="0" cy="3695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stCxn id="90" idx="1"/>
            <a:endCxn id="35" idx="3"/>
          </p:cNvCxnSpPr>
          <p:nvPr/>
        </p:nvCxnSpPr>
        <p:spPr>
          <a:xfrm flipH="1" flipV="1">
            <a:off x="6651096" y="5076370"/>
            <a:ext cx="1718304" cy="4559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831577" y="281679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163152" cy="4952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89" name="Shape 205"/>
          <p:cNvCxnSpPr/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0" name="Shape 198"/>
          <p:cNvSpPr/>
          <p:nvPr/>
        </p:nvSpPr>
        <p:spPr>
          <a:xfrm>
            <a:off x="8369400" y="494421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sp>
        <p:nvSpPr>
          <p:cNvPr id="133" name="Shape 198"/>
          <p:cNvSpPr/>
          <p:nvPr/>
        </p:nvSpPr>
        <p:spPr>
          <a:xfrm>
            <a:off x="680961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cxnSp>
        <p:nvCxnSpPr>
          <p:cNvPr id="146" name="Shape 200"/>
          <p:cNvCxnSpPr/>
          <p:nvPr/>
        </p:nvCxnSpPr>
        <p:spPr>
          <a:xfrm flipH="1">
            <a:off x="6606177" y="2982152"/>
            <a:ext cx="240224" cy="2478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52" name="Shape 200"/>
          <p:cNvCxnSpPr>
            <a:stCxn id="76" idx="0"/>
            <a:endCxn id="133" idx="2"/>
          </p:cNvCxnSpPr>
          <p:nvPr/>
        </p:nvCxnSpPr>
        <p:spPr>
          <a:xfrm flipV="1">
            <a:off x="7196917" y="3141875"/>
            <a:ext cx="0" cy="38665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1" name="TextBox 60"/>
          <p:cNvSpPr txBox="1"/>
          <p:nvPr/>
        </p:nvSpPr>
        <p:spPr>
          <a:xfrm>
            <a:off x="3067220" y="730551"/>
            <a:ext cx="1917569" cy="138499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Merriweather"/>
                <a:sym typeface="Merriweather"/>
              </a:rPr>
              <a:t>Need to rebase feature branch on master branch, in remote repository or if conflicts in local repository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9" name="Shape 198"/>
          <p:cNvSpPr/>
          <p:nvPr/>
        </p:nvSpPr>
        <p:spPr>
          <a:xfrm>
            <a:off x="6975562" y="2320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45v34</a:t>
            </a:r>
          </a:p>
        </p:txBody>
      </p:sp>
      <p:cxnSp>
        <p:nvCxnSpPr>
          <p:cNvPr id="60" name="Shape 200"/>
          <p:cNvCxnSpPr>
            <a:stCxn id="59" idx="1"/>
            <a:endCxn id="192" idx="3"/>
          </p:cNvCxnSpPr>
          <p:nvPr/>
        </p:nvCxnSpPr>
        <p:spPr>
          <a:xfrm flipH="1">
            <a:off x="2668425" y="2498050"/>
            <a:ext cx="4307137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6" name="Shape 204"/>
          <p:cNvSpPr/>
          <p:nvPr/>
        </p:nvSpPr>
        <p:spPr>
          <a:xfrm>
            <a:off x="1828800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67" name="Shape 205"/>
          <p:cNvCxnSpPr/>
          <p:nvPr/>
        </p:nvCxnSpPr>
        <p:spPr>
          <a:xfrm flipH="1">
            <a:off x="2276063" y="1957576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8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69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0" name="Shape 204"/>
          <p:cNvSpPr/>
          <p:nvPr/>
        </p:nvSpPr>
        <p:spPr>
          <a:xfrm>
            <a:off x="5856057" y="171134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FTR-9</a:t>
            </a:r>
          </a:p>
        </p:txBody>
      </p:sp>
      <p:cxnSp>
        <p:nvCxnSpPr>
          <p:cNvPr id="73" name="Shape 205"/>
          <p:cNvCxnSpPr>
            <a:stCxn id="70" idx="2"/>
            <a:endCxn id="59" idx="0"/>
          </p:cNvCxnSpPr>
          <p:nvPr/>
        </p:nvCxnSpPr>
        <p:spPr>
          <a:xfrm>
            <a:off x="6314776" y="1984342"/>
            <a:ext cx="1048086" cy="33595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3" name="Shape 205"/>
          <p:cNvCxnSpPr/>
          <p:nvPr/>
        </p:nvCxnSpPr>
        <p:spPr>
          <a:xfrm>
            <a:off x="8724900" y="4555532"/>
            <a:ext cx="31800" cy="38867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4" name="Shape 212"/>
          <p:cNvSpPr/>
          <p:nvPr/>
        </p:nvSpPr>
        <p:spPr>
          <a:xfrm>
            <a:off x="8297285" y="3489837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74" name="Shape 205"/>
          <p:cNvCxnSpPr>
            <a:stCxn id="64" idx="2"/>
          </p:cNvCxnSpPr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5" name="Shape 204"/>
          <p:cNvSpPr/>
          <p:nvPr/>
        </p:nvSpPr>
        <p:spPr>
          <a:xfrm>
            <a:off x="1147728" y="4277557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76" name="Shape 204"/>
          <p:cNvSpPr/>
          <p:nvPr/>
        </p:nvSpPr>
        <p:spPr>
          <a:xfrm>
            <a:off x="6583334" y="3528529"/>
            <a:ext cx="1227166" cy="278115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77" name="Shape 204"/>
          <p:cNvSpPr/>
          <p:nvPr/>
        </p:nvSpPr>
        <p:spPr>
          <a:xfrm>
            <a:off x="8033429" y="4252625"/>
            <a:ext cx="1110572" cy="297932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38053826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Rebase with squash </a:t>
            </a:r>
            <a:r>
              <a:rPr lang="en-US" b="1" dirty="0">
                <a:latin typeface="Merriweather"/>
                <a:ea typeface="Merriweather"/>
                <a:cs typeface="Merriweather"/>
                <a:sym typeface="Merriweather"/>
              </a:rPr>
              <a:t>only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stCxn id="90" idx="1"/>
            <a:endCxn id="35" idx="3"/>
          </p:cNvCxnSpPr>
          <p:nvPr/>
        </p:nvCxnSpPr>
        <p:spPr>
          <a:xfrm flipH="1" flipV="1">
            <a:off x="6651096" y="5076370"/>
            <a:ext cx="1718304" cy="4559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831577" y="281679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163152" cy="4952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0" name="Shape 198"/>
          <p:cNvSpPr/>
          <p:nvPr/>
        </p:nvSpPr>
        <p:spPr>
          <a:xfrm>
            <a:off x="8369400" y="494421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sp>
        <p:nvSpPr>
          <p:cNvPr id="133" name="Shape 198"/>
          <p:cNvSpPr/>
          <p:nvPr/>
        </p:nvSpPr>
        <p:spPr>
          <a:xfrm>
            <a:off x="680961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cxnSp>
        <p:nvCxnSpPr>
          <p:cNvPr id="146" name="Shape 200"/>
          <p:cNvCxnSpPr/>
          <p:nvPr/>
        </p:nvCxnSpPr>
        <p:spPr>
          <a:xfrm flipH="1">
            <a:off x="6606177" y="2982152"/>
            <a:ext cx="240224" cy="2478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1" name="TextBox 60"/>
          <p:cNvSpPr txBox="1"/>
          <p:nvPr/>
        </p:nvSpPr>
        <p:spPr>
          <a:xfrm>
            <a:off x="3397890" y="793922"/>
            <a:ext cx="1917569" cy="95410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Commits 345r3 and 57y23 squashed and applied upon commit 45v34 (Rebase) </a:t>
            </a:r>
          </a:p>
        </p:txBody>
      </p:sp>
      <p:sp>
        <p:nvSpPr>
          <p:cNvPr id="59" name="Shape 198"/>
          <p:cNvSpPr/>
          <p:nvPr/>
        </p:nvSpPr>
        <p:spPr>
          <a:xfrm>
            <a:off x="6966079" y="2320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45v34</a:t>
            </a:r>
          </a:p>
        </p:txBody>
      </p:sp>
      <p:cxnSp>
        <p:nvCxnSpPr>
          <p:cNvPr id="60" name="Shape 200"/>
          <p:cNvCxnSpPr>
            <a:stCxn id="59" idx="1"/>
            <a:endCxn id="192" idx="3"/>
          </p:cNvCxnSpPr>
          <p:nvPr/>
        </p:nvCxnSpPr>
        <p:spPr>
          <a:xfrm flipH="1">
            <a:off x="2668425" y="2498050"/>
            <a:ext cx="4297654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3" name="Shape 198"/>
          <p:cNvSpPr/>
          <p:nvPr/>
        </p:nvSpPr>
        <p:spPr>
          <a:xfrm>
            <a:off x="7798291" y="2804402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3ed90</a:t>
            </a:r>
          </a:p>
        </p:txBody>
      </p:sp>
      <p:cxnSp>
        <p:nvCxnSpPr>
          <p:cNvPr id="66" name="Shape 200"/>
          <p:cNvCxnSpPr>
            <a:stCxn id="63" idx="1"/>
            <a:endCxn id="59" idx="3"/>
          </p:cNvCxnSpPr>
          <p:nvPr/>
        </p:nvCxnSpPr>
        <p:spPr>
          <a:xfrm flipH="1" flipV="1">
            <a:off x="7740679" y="2498050"/>
            <a:ext cx="57612" cy="484102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7" name="Shape 209"/>
          <p:cNvCxnSpPr>
            <a:endCxn id="63" idx="0"/>
          </p:cNvCxnSpPr>
          <p:nvPr/>
        </p:nvCxnSpPr>
        <p:spPr>
          <a:xfrm flipH="1">
            <a:off x="8185591" y="1946789"/>
            <a:ext cx="1" cy="85761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3" name="Shape 208"/>
          <p:cNvSpPr/>
          <p:nvPr/>
        </p:nvSpPr>
        <p:spPr>
          <a:xfrm>
            <a:off x="6926741" y="169605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74" name="Shape 205"/>
          <p:cNvCxnSpPr>
            <a:stCxn id="73" idx="2"/>
          </p:cNvCxnSpPr>
          <p:nvPr/>
        </p:nvCxnSpPr>
        <p:spPr>
          <a:xfrm flipH="1">
            <a:off x="7353379" y="1950750"/>
            <a:ext cx="5062" cy="3695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5" name="Shape 204"/>
          <p:cNvSpPr/>
          <p:nvPr/>
        </p:nvSpPr>
        <p:spPr>
          <a:xfrm>
            <a:off x="1828800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76" name="Shape 205"/>
          <p:cNvCxnSpPr/>
          <p:nvPr/>
        </p:nvCxnSpPr>
        <p:spPr>
          <a:xfrm flipH="1">
            <a:off x="2276063" y="1957576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7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78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9" name="Shape 204"/>
          <p:cNvSpPr/>
          <p:nvPr/>
        </p:nvSpPr>
        <p:spPr>
          <a:xfrm>
            <a:off x="5856057" y="171134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FTR-9</a:t>
            </a:r>
          </a:p>
        </p:txBody>
      </p:sp>
      <p:cxnSp>
        <p:nvCxnSpPr>
          <p:cNvPr id="68" name="Shape 205"/>
          <p:cNvCxnSpPr/>
          <p:nvPr/>
        </p:nvCxnSpPr>
        <p:spPr>
          <a:xfrm>
            <a:off x="6314776" y="1984342"/>
            <a:ext cx="1048086" cy="33595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9" name="Shape 205"/>
          <p:cNvCxnSpPr/>
          <p:nvPr/>
        </p:nvCxnSpPr>
        <p:spPr>
          <a:xfrm>
            <a:off x="8724900" y="4555532"/>
            <a:ext cx="31800" cy="38867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0" name="Shape 212"/>
          <p:cNvSpPr/>
          <p:nvPr/>
        </p:nvSpPr>
        <p:spPr>
          <a:xfrm>
            <a:off x="8297285" y="3489837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81" name="Shape 205"/>
          <p:cNvCxnSpPr>
            <a:stCxn id="70" idx="2"/>
          </p:cNvCxnSpPr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2" name="Shape 204"/>
          <p:cNvSpPr/>
          <p:nvPr/>
        </p:nvSpPr>
        <p:spPr>
          <a:xfrm>
            <a:off x="1147728" y="4277557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83" name="Shape 204"/>
          <p:cNvSpPr/>
          <p:nvPr/>
        </p:nvSpPr>
        <p:spPr>
          <a:xfrm>
            <a:off x="7848600" y="1668392"/>
            <a:ext cx="1227166" cy="278115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84" name="Shape 204"/>
          <p:cNvSpPr/>
          <p:nvPr/>
        </p:nvSpPr>
        <p:spPr>
          <a:xfrm>
            <a:off x="8033429" y="4252625"/>
            <a:ext cx="1110572" cy="297932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24498940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3515495" cy="990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Trigger CI on new commit</a:t>
            </a:r>
            <a:endParaRPr lang="en-US"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6888766" y="1708599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</p:cNvCxnSpPr>
          <p:nvPr/>
        </p:nvCxnSpPr>
        <p:spPr>
          <a:xfrm>
            <a:off x="7320466" y="1963299"/>
            <a:ext cx="0" cy="3707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stCxn id="90" idx="1"/>
            <a:endCxn id="35" idx="3"/>
          </p:cNvCxnSpPr>
          <p:nvPr/>
        </p:nvCxnSpPr>
        <p:spPr>
          <a:xfrm flipH="1" flipV="1">
            <a:off x="6651096" y="5076370"/>
            <a:ext cx="1718304" cy="4559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831577" y="281679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163152" cy="4952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89" name="Shape 205"/>
          <p:cNvCxnSpPr/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0" name="Shape 198"/>
          <p:cNvSpPr/>
          <p:nvPr/>
        </p:nvSpPr>
        <p:spPr>
          <a:xfrm>
            <a:off x="8369400" y="494421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sp>
        <p:nvSpPr>
          <p:cNvPr id="133" name="Shape 198"/>
          <p:cNvSpPr/>
          <p:nvPr/>
        </p:nvSpPr>
        <p:spPr>
          <a:xfrm>
            <a:off x="680961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cxnSp>
        <p:nvCxnSpPr>
          <p:cNvPr id="146" name="Shape 200"/>
          <p:cNvCxnSpPr/>
          <p:nvPr/>
        </p:nvCxnSpPr>
        <p:spPr>
          <a:xfrm flipH="1">
            <a:off x="6606177" y="2982152"/>
            <a:ext cx="240224" cy="2478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9" name="Shape 198"/>
          <p:cNvSpPr/>
          <p:nvPr/>
        </p:nvSpPr>
        <p:spPr>
          <a:xfrm>
            <a:off x="6966079" y="2320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45v34</a:t>
            </a:r>
          </a:p>
        </p:txBody>
      </p:sp>
      <p:cxnSp>
        <p:nvCxnSpPr>
          <p:cNvPr id="60" name="Shape 200"/>
          <p:cNvCxnSpPr>
            <a:stCxn id="59" idx="1"/>
            <a:endCxn id="192" idx="3"/>
          </p:cNvCxnSpPr>
          <p:nvPr/>
        </p:nvCxnSpPr>
        <p:spPr>
          <a:xfrm flipH="1">
            <a:off x="2668425" y="2498050"/>
            <a:ext cx="4297654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3" name="Shape 198"/>
          <p:cNvSpPr/>
          <p:nvPr/>
        </p:nvSpPr>
        <p:spPr>
          <a:xfrm>
            <a:off x="7798291" y="2804402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3ed90</a:t>
            </a:r>
          </a:p>
        </p:txBody>
      </p:sp>
      <p:cxnSp>
        <p:nvCxnSpPr>
          <p:cNvPr id="66" name="Shape 200"/>
          <p:cNvCxnSpPr>
            <a:stCxn id="63" idx="1"/>
            <a:endCxn id="59" idx="3"/>
          </p:cNvCxnSpPr>
          <p:nvPr/>
        </p:nvCxnSpPr>
        <p:spPr>
          <a:xfrm flipH="1" flipV="1">
            <a:off x="7740679" y="2498050"/>
            <a:ext cx="57612" cy="484102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7" name="Shape 209"/>
          <p:cNvCxnSpPr>
            <a:endCxn id="63" idx="0"/>
          </p:cNvCxnSpPr>
          <p:nvPr/>
        </p:nvCxnSpPr>
        <p:spPr>
          <a:xfrm flipH="1">
            <a:off x="8185591" y="1946789"/>
            <a:ext cx="1" cy="85761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8" name="TextBox 67"/>
          <p:cNvSpPr txBox="1"/>
          <p:nvPr/>
        </p:nvSpPr>
        <p:spPr>
          <a:xfrm>
            <a:off x="3549655" y="24106"/>
            <a:ext cx="2221143" cy="224676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New commit triggers CI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Build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Unit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Static Code Analysis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Code Coverage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Snippet, Security code analysis</a:t>
            </a:r>
          </a:p>
          <a:p>
            <a:r>
              <a:rPr lang="en-US" dirty="0">
                <a:solidFill>
                  <a:srgbClr val="000000"/>
                </a:solidFill>
              </a:rPr>
              <a:t>-     …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Deploy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Functional Test</a:t>
            </a:r>
          </a:p>
        </p:txBody>
      </p:sp>
      <p:sp>
        <p:nvSpPr>
          <p:cNvPr id="76" name="Shape 204"/>
          <p:cNvSpPr/>
          <p:nvPr/>
        </p:nvSpPr>
        <p:spPr>
          <a:xfrm>
            <a:off x="5856057" y="171134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FTR-9</a:t>
            </a:r>
          </a:p>
        </p:txBody>
      </p:sp>
      <p:sp>
        <p:nvSpPr>
          <p:cNvPr id="78" name="Shape 204"/>
          <p:cNvSpPr/>
          <p:nvPr/>
        </p:nvSpPr>
        <p:spPr>
          <a:xfrm>
            <a:off x="1828800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79" name="Shape 205"/>
          <p:cNvCxnSpPr/>
          <p:nvPr/>
        </p:nvCxnSpPr>
        <p:spPr>
          <a:xfrm flipH="1">
            <a:off x="2276063" y="1957576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0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81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9" name="Shape 205"/>
          <p:cNvCxnSpPr/>
          <p:nvPr/>
        </p:nvCxnSpPr>
        <p:spPr>
          <a:xfrm>
            <a:off x="6314776" y="1984342"/>
            <a:ext cx="1048086" cy="33595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70" name="Shape 205"/>
          <p:cNvCxnSpPr/>
          <p:nvPr/>
        </p:nvCxnSpPr>
        <p:spPr>
          <a:xfrm>
            <a:off x="8724900" y="4555532"/>
            <a:ext cx="31800" cy="38867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3" name="Shape 212"/>
          <p:cNvSpPr/>
          <p:nvPr/>
        </p:nvSpPr>
        <p:spPr>
          <a:xfrm>
            <a:off x="8297285" y="3489837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74" name="Shape 205"/>
          <p:cNvCxnSpPr>
            <a:stCxn id="73" idx="2"/>
          </p:cNvCxnSpPr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5" name="Shape 204"/>
          <p:cNvSpPr/>
          <p:nvPr/>
        </p:nvSpPr>
        <p:spPr>
          <a:xfrm>
            <a:off x="1147728" y="4277557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82" name="Shape 204"/>
          <p:cNvSpPr/>
          <p:nvPr/>
        </p:nvSpPr>
        <p:spPr>
          <a:xfrm>
            <a:off x="7833885" y="1668674"/>
            <a:ext cx="1227166" cy="278115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83" name="Shape 204"/>
          <p:cNvSpPr/>
          <p:nvPr/>
        </p:nvSpPr>
        <p:spPr>
          <a:xfrm>
            <a:off x="8033429" y="4252625"/>
            <a:ext cx="1110572" cy="297932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</p:spTree>
    <p:extLst>
      <p:ext uri="{BB962C8B-B14F-4D97-AF65-F5344CB8AC3E}">
        <p14:creationId xmlns:p14="http://schemas.microsoft.com/office/powerpoint/2010/main" val="32486198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buClr>
                <a:schemeClr val="dk2"/>
              </a:buClr>
              <a:buSzPct val="25000"/>
            </a:pPr>
            <a:r>
              <a:rPr lang="en-US" dirty="0">
                <a:latin typeface="Merriweather"/>
                <a:ea typeface="Merriweather"/>
                <a:cs typeface="Merriweather"/>
                <a:sym typeface="Merriweather"/>
              </a:rPr>
              <a:t>FF Merge, Tag and Remove Source Branch, Fast Forward Merge must</a:t>
            </a:r>
            <a:endParaRPr lang="en-US"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2811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65825" y="3822500"/>
            <a:ext cx="239595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2694843" y="4268738"/>
            <a:ext cx="1343757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205" name="Shape 205"/>
          <p:cNvCxnSpPr>
            <a:stCxn id="204" idx="2"/>
            <a:endCxn id="198" idx="0"/>
          </p:cNvCxnSpPr>
          <p:nvPr/>
        </p:nvCxnSpPr>
        <p:spPr>
          <a:xfrm flipH="1">
            <a:off x="2059725" y="4541738"/>
            <a:ext cx="1306997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8272085" y="1295700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/>
          <p:nvPr/>
        </p:nvCxnSpPr>
        <p:spPr>
          <a:xfrm>
            <a:off x="8873597" y="1550400"/>
            <a:ext cx="0" cy="77562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059725" y="4541738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2" name="Shape 205"/>
          <p:cNvCxnSpPr>
            <a:stCxn id="90" idx="1"/>
            <a:endCxn id="35" idx="3"/>
          </p:cNvCxnSpPr>
          <p:nvPr/>
        </p:nvCxnSpPr>
        <p:spPr>
          <a:xfrm flipH="1" flipV="1">
            <a:off x="6651096" y="5076370"/>
            <a:ext cx="1718304" cy="4559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879962" y="541273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447025" y="5065350"/>
            <a:ext cx="432937" cy="5251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958199" y="540804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654562" y="5590489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5105400" y="5424314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732802" y="5631052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/>
          <p:nvPr/>
        </p:nvCxnSpPr>
        <p:spPr>
          <a:xfrm flipH="1" flipV="1">
            <a:off x="2426586" y="5053473"/>
            <a:ext cx="3429471" cy="1102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897956" y="61423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345499" y="5763543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959058" y="643176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5105400" y="5795034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" name="Shape 198"/>
          <p:cNvSpPr/>
          <p:nvPr/>
        </p:nvSpPr>
        <p:spPr>
          <a:xfrm>
            <a:off x="5831577" y="281679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7" name="Shape 200"/>
          <p:cNvCxnSpPr>
            <a:stCxn id="46" idx="1"/>
            <a:endCxn id="192" idx="3"/>
          </p:cNvCxnSpPr>
          <p:nvPr/>
        </p:nvCxnSpPr>
        <p:spPr>
          <a:xfrm flipH="1" flipV="1">
            <a:off x="2668425" y="2499250"/>
            <a:ext cx="3163152" cy="49529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50" idx="0"/>
            <a:endCxn id="35" idx="2"/>
          </p:cNvCxnSpPr>
          <p:nvPr/>
        </p:nvCxnSpPr>
        <p:spPr>
          <a:xfrm flipH="1" flipV="1">
            <a:off x="6263796" y="5254120"/>
            <a:ext cx="242248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89" name="Shape 205"/>
          <p:cNvCxnSpPr/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0" name="Shape 198"/>
          <p:cNvSpPr/>
          <p:nvPr/>
        </p:nvSpPr>
        <p:spPr>
          <a:xfrm>
            <a:off x="8369400" y="494421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sp>
        <p:nvSpPr>
          <p:cNvPr id="133" name="Shape 198"/>
          <p:cNvSpPr/>
          <p:nvPr/>
        </p:nvSpPr>
        <p:spPr>
          <a:xfrm>
            <a:off x="6809617" y="278637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57y23</a:t>
            </a:r>
          </a:p>
        </p:txBody>
      </p:sp>
      <p:cxnSp>
        <p:nvCxnSpPr>
          <p:cNvPr id="146" name="Shape 200"/>
          <p:cNvCxnSpPr>
            <a:stCxn id="133" idx="1"/>
          </p:cNvCxnSpPr>
          <p:nvPr/>
        </p:nvCxnSpPr>
        <p:spPr>
          <a:xfrm flipH="1">
            <a:off x="6606177" y="2964125"/>
            <a:ext cx="203440" cy="4280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9" name="Shape 198"/>
          <p:cNvSpPr/>
          <p:nvPr/>
        </p:nvSpPr>
        <p:spPr>
          <a:xfrm>
            <a:off x="6966079" y="2320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45v34</a:t>
            </a:r>
          </a:p>
        </p:txBody>
      </p:sp>
      <p:cxnSp>
        <p:nvCxnSpPr>
          <p:cNvPr id="60" name="Shape 200"/>
          <p:cNvCxnSpPr>
            <a:stCxn id="59" idx="1"/>
            <a:endCxn id="192" idx="3"/>
          </p:cNvCxnSpPr>
          <p:nvPr/>
        </p:nvCxnSpPr>
        <p:spPr>
          <a:xfrm flipH="1">
            <a:off x="2668425" y="2498050"/>
            <a:ext cx="4297654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3" name="Shape 198"/>
          <p:cNvSpPr/>
          <p:nvPr/>
        </p:nvSpPr>
        <p:spPr>
          <a:xfrm>
            <a:off x="8185591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3ed90</a:t>
            </a:r>
          </a:p>
        </p:txBody>
      </p:sp>
      <p:cxnSp>
        <p:nvCxnSpPr>
          <p:cNvPr id="66" name="Shape 200"/>
          <p:cNvCxnSpPr>
            <a:stCxn id="63" idx="1"/>
            <a:endCxn id="59" idx="3"/>
          </p:cNvCxnSpPr>
          <p:nvPr/>
        </p:nvCxnSpPr>
        <p:spPr>
          <a:xfrm flipH="1" flipV="1">
            <a:off x="7740679" y="2498050"/>
            <a:ext cx="444912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7" name="Shape 209"/>
          <p:cNvCxnSpPr>
            <a:stCxn id="83" idx="0"/>
            <a:endCxn id="63" idx="2"/>
          </p:cNvCxnSpPr>
          <p:nvPr/>
        </p:nvCxnSpPr>
        <p:spPr>
          <a:xfrm flipH="1" flipV="1">
            <a:off x="8572891" y="2677000"/>
            <a:ext cx="3827" cy="31754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9" name="Shape 204"/>
          <p:cNvSpPr/>
          <p:nvPr/>
        </p:nvSpPr>
        <p:spPr>
          <a:xfrm>
            <a:off x="7848600" y="1696050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FTR-10</a:t>
            </a:r>
          </a:p>
        </p:txBody>
      </p:sp>
      <p:cxnSp>
        <p:nvCxnSpPr>
          <p:cNvPr id="70" name="Shape 205"/>
          <p:cNvCxnSpPr>
            <a:stCxn id="69" idx="2"/>
          </p:cNvCxnSpPr>
          <p:nvPr/>
        </p:nvCxnSpPr>
        <p:spPr>
          <a:xfrm>
            <a:off x="8307319" y="1969050"/>
            <a:ext cx="0" cy="35125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3" name="Shape 204"/>
          <p:cNvSpPr/>
          <p:nvPr/>
        </p:nvSpPr>
        <p:spPr>
          <a:xfrm>
            <a:off x="6904784" y="17028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FTR-9</a:t>
            </a:r>
          </a:p>
        </p:txBody>
      </p:sp>
      <p:cxnSp>
        <p:nvCxnSpPr>
          <p:cNvPr id="74" name="Shape 205"/>
          <p:cNvCxnSpPr>
            <a:stCxn id="73" idx="2"/>
            <a:endCxn id="59" idx="0"/>
          </p:cNvCxnSpPr>
          <p:nvPr/>
        </p:nvCxnSpPr>
        <p:spPr>
          <a:xfrm flipH="1">
            <a:off x="7353379" y="1975876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5" name="Shape 204"/>
          <p:cNvSpPr/>
          <p:nvPr/>
        </p:nvSpPr>
        <p:spPr>
          <a:xfrm>
            <a:off x="1828800" y="168457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76" name="Shape 205"/>
          <p:cNvCxnSpPr/>
          <p:nvPr/>
        </p:nvCxnSpPr>
        <p:spPr>
          <a:xfrm flipH="1">
            <a:off x="2276063" y="1957576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7" name="Shape 204"/>
          <p:cNvSpPr/>
          <p:nvPr/>
        </p:nvSpPr>
        <p:spPr>
          <a:xfrm>
            <a:off x="639181" y="1708599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78" name="Shape 205"/>
          <p:cNvCxnSpPr/>
          <p:nvPr/>
        </p:nvCxnSpPr>
        <p:spPr>
          <a:xfrm flipH="1">
            <a:off x="1086444" y="1981599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79" name="Shape 205"/>
          <p:cNvCxnSpPr/>
          <p:nvPr/>
        </p:nvCxnSpPr>
        <p:spPr>
          <a:xfrm>
            <a:off x="8724900" y="4555532"/>
            <a:ext cx="31800" cy="38867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0" name="Shape 212"/>
          <p:cNvSpPr/>
          <p:nvPr/>
        </p:nvSpPr>
        <p:spPr>
          <a:xfrm>
            <a:off x="8297285" y="3489837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81" name="Shape 205"/>
          <p:cNvCxnSpPr>
            <a:stCxn id="80" idx="2"/>
          </p:cNvCxnSpPr>
          <p:nvPr/>
        </p:nvCxnSpPr>
        <p:spPr>
          <a:xfrm>
            <a:off x="8716385" y="3845337"/>
            <a:ext cx="8515" cy="40960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2" name="Shape 204"/>
          <p:cNvSpPr/>
          <p:nvPr/>
        </p:nvSpPr>
        <p:spPr>
          <a:xfrm>
            <a:off x="1147728" y="4277557"/>
            <a:ext cx="1531531" cy="273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origin/fix/FTR-10</a:t>
            </a:r>
          </a:p>
        </p:txBody>
      </p:sp>
      <p:sp>
        <p:nvSpPr>
          <p:cNvPr id="83" name="Shape 204"/>
          <p:cNvSpPr/>
          <p:nvPr/>
        </p:nvSpPr>
        <p:spPr>
          <a:xfrm>
            <a:off x="7963135" y="2994543"/>
            <a:ext cx="1227166" cy="278115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84" name="Shape 204"/>
          <p:cNvSpPr/>
          <p:nvPr/>
        </p:nvSpPr>
        <p:spPr>
          <a:xfrm>
            <a:off x="8033429" y="4252625"/>
            <a:ext cx="1110572" cy="297932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fix/FTR-10</a:t>
            </a:r>
          </a:p>
        </p:txBody>
      </p:sp>
      <p:sp>
        <p:nvSpPr>
          <p:cNvPr id="85" name="Multiply 84"/>
          <p:cNvSpPr/>
          <p:nvPr/>
        </p:nvSpPr>
        <p:spPr>
          <a:xfrm>
            <a:off x="7710300" y="2864752"/>
            <a:ext cx="623981" cy="717562"/>
          </a:xfrm>
          <a:prstGeom prst="mathMultiply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398319" y="3414393"/>
            <a:ext cx="90083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Remove source branch</a:t>
            </a:r>
          </a:p>
        </p:txBody>
      </p:sp>
      <p:sp>
        <p:nvSpPr>
          <p:cNvPr id="91" name="Shape 204"/>
          <p:cNvSpPr/>
          <p:nvPr/>
        </p:nvSpPr>
        <p:spPr>
          <a:xfrm>
            <a:off x="5798177" y="3489837"/>
            <a:ext cx="1591704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Working_FTR-10</a:t>
            </a:r>
          </a:p>
        </p:txBody>
      </p:sp>
      <p:cxnSp>
        <p:nvCxnSpPr>
          <p:cNvPr id="94" name="Shape 205"/>
          <p:cNvCxnSpPr>
            <a:stCxn id="91" idx="0"/>
            <a:endCxn id="133" idx="2"/>
          </p:cNvCxnSpPr>
          <p:nvPr/>
        </p:nvCxnSpPr>
        <p:spPr>
          <a:xfrm flipV="1">
            <a:off x="6594029" y="3141875"/>
            <a:ext cx="602888" cy="3479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" name="TextBox 26"/>
          <p:cNvSpPr txBox="1"/>
          <p:nvPr/>
        </p:nvSpPr>
        <p:spPr>
          <a:xfrm>
            <a:off x="5009945" y="3133600"/>
            <a:ext cx="73129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Tag </a:t>
            </a:r>
            <a:br>
              <a:rPr lang="en-US" dirty="0"/>
            </a:br>
            <a:r>
              <a:rPr lang="en-US" dirty="0"/>
              <a:t>source</a:t>
            </a:r>
            <a:br>
              <a:rPr lang="en-US" dirty="0"/>
            </a:br>
            <a:r>
              <a:rPr lang="en-US" dirty="0"/>
              <a:t>branch</a:t>
            </a:r>
          </a:p>
        </p:txBody>
      </p:sp>
    </p:spTree>
    <p:extLst>
      <p:ext uri="{BB962C8B-B14F-4D97-AF65-F5344CB8AC3E}">
        <p14:creationId xmlns:p14="http://schemas.microsoft.com/office/powerpoint/2010/main" val="2524860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7983870" y="7003399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649305" y="168684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32530" y="168684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23930" y="1864599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-1"/>
            <a:ext cx="9144000" cy="838201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buClr>
                <a:schemeClr val="dk2"/>
              </a:buClr>
              <a:buSzPct val="25000"/>
            </a:pPr>
            <a:r>
              <a:rPr lang="en-US" sz="2800" dirty="0">
                <a:latin typeface="Merriweather"/>
                <a:ea typeface="Merriweather"/>
                <a:cs typeface="Merriweather"/>
                <a:sym typeface="Merriweather"/>
              </a:rPr>
              <a:t>We got desired result: </a:t>
            </a:r>
            <a:r>
              <a:rPr lang="en-US" sz="2800" dirty="0">
                <a:solidFill>
                  <a:srgbClr val="5E5E5E"/>
                </a:solidFill>
              </a:rPr>
              <a:t>1 Commit per Jira issue in main branch.  </a:t>
            </a:r>
            <a:r>
              <a:rPr lang="en-US" sz="2800" dirty="0">
                <a:latin typeface="Merriweather"/>
                <a:ea typeface="Merriweather"/>
                <a:cs typeface="Merriweather"/>
                <a:sym typeface="Merriweather"/>
              </a:rPr>
              <a:t>Start new Feature FTR-11</a:t>
            </a:r>
            <a:endParaRPr lang="en-US" sz="2800"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97" name="Shape 197"/>
          <p:cNvSpPr/>
          <p:nvPr/>
        </p:nvSpPr>
        <p:spPr>
          <a:xfrm>
            <a:off x="573588" y="399759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756813" y="399759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34ac2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348213" y="4175349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6848994" y="1287548"/>
            <a:ext cx="2281125" cy="381001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Remote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108646" y="2858832"/>
            <a:ext cx="1951079" cy="417768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Local Repository</a:t>
            </a:r>
          </a:p>
        </p:txBody>
      </p:sp>
      <p:sp>
        <p:nvSpPr>
          <p:cNvPr id="208" name="Shape 208"/>
          <p:cNvSpPr/>
          <p:nvPr/>
        </p:nvSpPr>
        <p:spPr>
          <a:xfrm>
            <a:off x="5356482" y="1049925"/>
            <a:ext cx="863400" cy="2547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master</a:t>
            </a:r>
          </a:p>
        </p:txBody>
      </p:sp>
      <p:cxnSp>
        <p:nvCxnSpPr>
          <p:cNvPr id="209" name="Shape 209"/>
          <p:cNvCxnSpPr>
            <a:stCxn id="208" idx="2"/>
            <a:endCxn id="63" idx="0"/>
          </p:cNvCxnSpPr>
          <p:nvPr/>
        </p:nvCxnSpPr>
        <p:spPr>
          <a:xfrm flipH="1">
            <a:off x="4647573" y="1304625"/>
            <a:ext cx="1140609" cy="3639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5" name="Shape 215"/>
          <p:cNvCxnSpPr/>
          <p:nvPr/>
        </p:nvCxnSpPr>
        <p:spPr>
          <a:xfrm>
            <a:off x="184782" y="28194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37" name="Shape 205"/>
          <p:cNvCxnSpPr>
            <a:endCxn id="198" idx="0"/>
          </p:cNvCxnSpPr>
          <p:nvPr/>
        </p:nvCxnSpPr>
        <p:spPr>
          <a:xfrm>
            <a:off x="2144113" y="3651737"/>
            <a:ext cx="0" cy="3458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" name="Shape 198"/>
          <p:cNvSpPr/>
          <p:nvPr/>
        </p:nvSpPr>
        <p:spPr>
          <a:xfrm>
            <a:off x="2558244" y="501016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67def</a:t>
            </a:r>
          </a:p>
        </p:txBody>
      </p:sp>
      <p:cxnSp>
        <p:nvCxnSpPr>
          <p:cNvPr id="42" name="Shape 200"/>
          <p:cNvCxnSpPr>
            <a:stCxn id="41" idx="1"/>
            <a:endCxn id="198" idx="3"/>
          </p:cNvCxnSpPr>
          <p:nvPr/>
        </p:nvCxnSpPr>
        <p:spPr>
          <a:xfrm flipH="1" flipV="1">
            <a:off x="2531413" y="4175349"/>
            <a:ext cx="26831" cy="1012562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" name="Shape 198"/>
          <p:cNvSpPr/>
          <p:nvPr/>
        </p:nvSpPr>
        <p:spPr>
          <a:xfrm>
            <a:off x="3636481" y="500546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347e4</a:t>
            </a:r>
          </a:p>
        </p:txBody>
      </p:sp>
      <p:cxnSp>
        <p:nvCxnSpPr>
          <p:cNvPr id="40" name="Shape 200"/>
          <p:cNvCxnSpPr>
            <a:endCxn id="41" idx="3"/>
          </p:cNvCxnSpPr>
          <p:nvPr/>
        </p:nvCxnSpPr>
        <p:spPr>
          <a:xfrm flipH="1">
            <a:off x="3332844" y="5187911"/>
            <a:ext cx="269268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" name="Flowchart: Multidocument 1"/>
          <p:cNvSpPr/>
          <p:nvPr/>
        </p:nvSpPr>
        <p:spPr>
          <a:xfrm>
            <a:off x="4783682" y="5021736"/>
            <a:ext cx="999626" cy="459574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24t56</a:t>
            </a:r>
          </a:p>
        </p:txBody>
      </p:sp>
      <p:cxnSp>
        <p:nvCxnSpPr>
          <p:cNvPr id="38" name="Shape 200"/>
          <p:cNvCxnSpPr/>
          <p:nvPr/>
        </p:nvCxnSpPr>
        <p:spPr>
          <a:xfrm flipH="1" flipV="1">
            <a:off x="4411084" y="5228474"/>
            <a:ext cx="372598" cy="11474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" name="Shape 198"/>
          <p:cNvSpPr/>
          <p:nvPr/>
        </p:nvSpPr>
        <p:spPr>
          <a:xfrm>
            <a:off x="5876496" y="489862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345r3</a:t>
            </a:r>
          </a:p>
        </p:txBody>
      </p:sp>
      <p:cxnSp>
        <p:nvCxnSpPr>
          <p:cNvPr id="44" name="Shape 200"/>
          <p:cNvCxnSpPr>
            <a:endCxn id="35" idx="2"/>
          </p:cNvCxnSpPr>
          <p:nvPr/>
        </p:nvCxnSpPr>
        <p:spPr>
          <a:xfrm flipH="1" flipV="1">
            <a:off x="6263796" y="5254120"/>
            <a:ext cx="154504" cy="686939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1" name="Shape 204"/>
          <p:cNvSpPr/>
          <p:nvPr/>
        </p:nvSpPr>
        <p:spPr>
          <a:xfrm>
            <a:off x="3576238" y="5739798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working1</a:t>
            </a:r>
          </a:p>
        </p:txBody>
      </p:sp>
      <p:cxnSp>
        <p:nvCxnSpPr>
          <p:cNvPr id="72" name="Shape 205"/>
          <p:cNvCxnSpPr>
            <a:stCxn id="71" idx="0"/>
            <a:endCxn id="39" idx="2"/>
          </p:cNvCxnSpPr>
          <p:nvPr/>
        </p:nvCxnSpPr>
        <p:spPr>
          <a:xfrm flipH="1" flipV="1">
            <a:off x="4023781" y="5360965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2" name="Shape 204"/>
          <p:cNvSpPr/>
          <p:nvPr/>
        </p:nvSpPr>
        <p:spPr>
          <a:xfrm>
            <a:off x="4637340" y="6029191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working2</a:t>
            </a:r>
          </a:p>
        </p:txBody>
      </p:sp>
      <p:cxnSp>
        <p:nvCxnSpPr>
          <p:cNvPr id="93" name="Shape 205"/>
          <p:cNvCxnSpPr>
            <a:endCxn id="2" idx="0"/>
          </p:cNvCxnSpPr>
          <p:nvPr/>
        </p:nvCxnSpPr>
        <p:spPr>
          <a:xfrm flipV="1">
            <a:off x="4783682" y="5392456"/>
            <a:ext cx="0" cy="63673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0" name="Shape 198"/>
          <p:cNvSpPr/>
          <p:nvPr/>
        </p:nvSpPr>
        <p:spPr>
          <a:xfrm rot="10800000" flipV="1">
            <a:off x="6118744" y="5941059"/>
            <a:ext cx="774600" cy="310525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567r4</a:t>
            </a:r>
          </a:p>
        </p:txBody>
      </p:sp>
      <p:sp>
        <p:nvSpPr>
          <p:cNvPr id="51" name="Shape 198"/>
          <p:cNvSpPr/>
          <p:nvPr/>
        </p:nvSpPr>
        <p:spPr>
          <a:xfrm>
            <a:off x="7135592" y="589608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e3rf5</a:t>
            </a:r>
          </a:p>
        </p:txBody>
      </p:sp>
      <p:cxnSp>
        <p:nvCxnSpPr>
          <p:cNvPr id="52" name="Shape 200"/>
          <p:cNvCxnSpPr>
            <a:stCxn id="35" idx="0"/>
            <a:endCxn id="198" idx="3"/>
          </p:cNvCxnSpPr>
          <p:nvPr/>
        </p:nvCxnSpPr>
        <p:spPr>
          <a:xfrm flipH="1" flipV="1">
            <a:off x="2531413" y="4175349"/>
            <a:ext cx="3732383" cy="723271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3" name="Flowchart: Multidocument 1"/>
          <p:cNvSpPr/>
          <p:nvPr/>
        </p:nvSpPr>
        <p:spPr>
          <a:xfrm>
            <a:off x="8196718" y="5867519"/>
            <a:ext cx="795711" cy="411357"/>
          </a:xfrm>
          <a:custGeom>
            <a:avLst/>
            <a:gdLst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3675 h 21600"/>
              <a:gd name="connsiteX3" fmla="*/ 0 w 21600"/>
              <a:gd name="connsiteY3" fmla="*/ 3675 h 21600"/>
              <a:gd name="connsiteX4" fmla="*/ 0 w 21600"/>
              <a:gd name="connsiteY4" fmla="*/ 20782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18595 w 21600"/>
              <a:gd name="connsiteY10" fmla="*/ 3675 h 21600"/>
              <a:gd name="connsiteX11" fmla="*/ 1532 w 21600"/>
              <a:gd name="connsiteY11" fmla="*/ 3675 h 21600"/>
              <a:gd name="connsiteX12" fmla="*/ 2972 w 21600"/>
              <a:gd name="connsiteY12" fmla="*/ 1815 h 21600"/>
              <a:gd name="connsiteX13" fmla="*/ 2972 w 21600"/>
              <a:gd name="connsiteY13" fmla="*/ 0 h 21600"/>
              <a:gd name="connsiteX14" fmla="*/ 21600 w 21600"/>
              <a:gd name="connsiteY14" fmla="*/ 0 h 21600"/>
              <a:gd name="connsiteX15" fmla="*/ 21600 w 21600"/>
              <a:gd name="connsiteY15" fmla="*/ 14392 h 21600"/>
              <a:gd name="connsiteX16" fmla="*/ 20000 w 21600"/>
              <a:gd name="connsiteY16" fmla="*/ 14467 h 21600"/>
              <a:gd name="connsiteX17" fmla="*/ 20000 w 21600"/>
              <a:gd name="connsiteY17" fmla="*/ 1815 h 21600"/>
              <a:gd name="connsiteX18" fmla="*/ 2972 w 21600"/>
              <a:gd name="connsiteY18" fmla="*/ 1815 h 21600"/>
              <a:gd name="connsiteX0" fmla="*/ 0 w 21600"/>
              <a:gd name="connsiteY0" fmla="*/ 3675 h 21600"/>
              <a:gd name="connsiteX1" fmla="*/ 18595 w 21600"/>
              <a:gd name="connsiteY1" fmla="*/ 3675 h 21600"/>
              <a:gd name="connsiteX2" fmla="*/ 18595 w 21600"/>
              <a:gd name="connsiteY2" fmla="*/ 18022 h 21600"/>
              <a:gd name="connsiteX3" fmla="*/ 0 w 21600"/>
              <a:gd name="connsiteY3" fmla="*/ 20782 h 21600"/>
              <a:gd name="connsiteX4" fmla="*/ 0 w 21600"/>
              <a:gd name="connsiteY4" fmla="*/ 3675 h 21600"/>
              <a:gd name="connsiteX5" fmla="*/ 1532 w 21600"/>
              <a:gd name="connsiteY5" fmla="*/ 3675 h 21600"/>
              <a:gd name="connsiteX6" fmla="*/ 1532 w 21600"/>
              <a:gd name="connsiteY6" fmla="*/ 1815 h 21600"/>
              <a:gd name="connsiteX7" fmla="*/ 20000 w 21600"/>
              <a:gd name="connsiteY7" fmla="*/ 1815 h 21600"/>
              <a:gd name="connsiteX8" fmla="*/ 20000 w 21600"/>
              <a:gd name="connsiteY8" fmla="*/ 16252 h 21600"/>
              <a:gd name="connsiteX9" fmla="*/ 18595 w 21600"/>
              <a:gd name="connsiteY9" fmla="*/ 16352 h 21600"/>
              <a:gd name="connsiteX10" fmla="*/ 2972 w 21600"/>
              <a:gd name="connsiteY10" fmla="*/ 1815 h 21600"/>
              <a:gd name="connsiteX11" fmla="*/ 2972 w 21600"/>
              <a:gd name="connsiteY11" fmla="*/ 0 h 21600"/>
              <a:gd name="connsiteX12" fmla="*/ 21600 w 21600"/>
              <a:gd name="connsiteY12" fmla="*/ 0 h 21600"/>
              <a:gd name="connsiteX13" fmla="*/ 21600 w 21600"/>
              <a:gd name="connsiteY13" fmla="*/ 14392 h 21600"/>
              <a:gd name="connsiteX14" fmla="*/ 20000 w 21600"/>
              <a:gd name="connsiteY14" fmla="*/ 14467 h 21600"/>
              <a:gd name="connsiteX0" fmla="*/ 0 w 21600"/>
              <a:gd name="connsiteY0" fmla="*/ 20782 h 21600"/>
              <a:gd name="connsiteX1" fmla="*/ 18595 w 21600"/>
              <a:gd name="connsiteY1" fmla="*/ 18022 h 21600"/>
              <a:gd name="connsiteX2" fmla="*/ 18595 w 21600"/>
              <a:gd name="connsiteY2" fmla="*/ 16352 h 21600"/>
              <a:gd name="connsiteX3" fmla="*/ 20000 w 21600"/>
              <a:gd name="connsiteY3" fmla="*/ 16252 h 21600"/>
              <a:gd name="connsiteX4" fmla="*/ 20000 w 21600"/>
              <a:gd name="connsiteY4" fmla="*/ 14467 h 21600"/>
              <a:gd name="connsiteX5" fmla="*/ 21600 w 21600"/>
              <a:gd name="connsiteY5" fmla="*/ 14392 h 21600"/>
              <a:gd name="connsiteX6" fmla="*/ 21600 w 21600"/>
              <a:gd name="connsiteY6" fmla="*/ 0 h 21600"/>
              <a:gd name="connsiteX7" fmla="*/ 2972 w 21600"/>
              <a:gd name="connsiteY7" fmla="*/ 0 h 21600"/>
              <a:gd name="connsiteX8" fmla="*/ 2972 w 21600"/>
              <a:gd name="connsiteY8" fmla="*/ 1815 h 21600"/>
              <a:gd name="connsiteX9" fmla="*/ 1532 w 21600"/>
              <a:gd name="connsiteY9" fmla="*/ 1815 h 21600"/>
              <a:gd name="connsiteX10" fmla="*/ 1532 w 21600"/>
              <a:gd name="connsiteY10" fmla="*/ 3675 h 21600"/>
              <a:gd name="connsiteX11" fmla="*/ 0 w 21600"/>
              <a:gd name="connsiteY11" fmla="*/ 3675 h 21600"/>
              <a:gd name="connsiteX12" fmla="*/ 0 w 21600"/>
              <a:gd name="connsiteY12" fmla="*/ 20782 h 21600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873 w 21600"/>
              <a:gd name="connsiteY2" fmla="*/ 25738 h 25763"/>
              <a:gd name="connsiteX3" fmla="*/ 20000 w 21600"/>
              <a:gd name="connsiteY3" fmla="*/ 16252 h 25763"/>
              <a:gd name="connsiteX4" fmla="*/ 20000 w 21600"/>
              <a:gd name="connsiteY4" fmla="*/ 14467 h 25763"/>
              <a:gd name="connsiteX5" fmla="*/ 21600 w 21600"/>
              <a:gd name="connsiteY5" fmla="*/ 14392 h 25763"/>
              <a:gd name="connsiteX6" fmla="*/ 21600 w 21600"/>
              <a:gd name="connsiteY6" fmla="*/ 0 h 25763"/>
              <a:gd name="connsiteX7" fmla="*/ 2972 w 21600"/>
              <a:gd name="connsiteY7" fmla="*/ 0 h 25763"/>
              <a:gd name="connsiteX8" fmla="*/ 2972 w 21600"/>
              <a:gd name="connsiteY8" fmla="*/ 1815 h 25763"/>
              <a:gd name="connsiteX9" fmla="*/ 1532 w 21600"/>
              <a:gd name="connsiteY9" fmla="*/ 1815 h 25763"/>
              <a:gd name="connsiteX10" fmla="*/ 1532 w 21600"/>
              <a:gd name="connsiteY10" fmla="*/ 3675 h 25763"/>
              <a:gd name="connsiteX11" fmla="*/ 0 w 21600"/>
              <a:gd name="connsiteY11" fmla="*/ 3675 h 25763"/>
              <a:gd name="connsiteX12" fmla="*/ 0 w 21600"/>
              <a:gd name="connsiteY12" fmla="*/ 20782 h 25763"/>
              <a:gd name="connsiteX0" fmla="*/ 0 w 21600"/>
              <a:gd name="connsiteY0" fmla="*/ 20782 h 26547"/>
              <a:gd name="connsiteX1" fmla="*/ 18595 w 21600"/>
              <a:gd name="connsiteY1" fmla="*/ 18022 h 26547"/>
              <a:gd name="connsiteX2" fmla="*/ 18595 w 21600"/>
              <a:gd name="connsiteY2" fmla="*/ 3675 h 26547"/>
              <a:gd name="connsiteX3" fmla="*/ 0 w 21600"/>
              <a:gd name="connsiteY3" fmla="*/ 3675 h 26547"/>
              <a:gd name="connsiteX4" fmla="*/ 0 w 21600"/>
              <a:gd name="connsiteY4" fmla="*/ 20782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18595 w 21600"/>
              <a:gd name="connsiteY10" fmla="*/ 3675 h 26547"/>
              <a:gd name="connsiteX11" fmla="*/ 1532 w 21600"/>
              <a:gd name="connsiteY11" fmla="*/ 3675 h 26547"/>
              <a:gd name="connsiteX12" fmla="*/ 2972 w 21600"/>
              <a:gd name="connsiteY12" fmla="*/ 1815 h 26547"/>
              <a:gd name="connsiteX13" fmla="*/ 2972 w 21600"/>
              <a:gd name="connsiteY13" fmla="*/ 0 h 26547"/>
              <a:gd name="connsiteX14" fmla="*/ 21600 w 21600"/>
              <a:gd name="connsiteY14" fmla="*/ 0 h 26547"/>
              <a:gd name="connsiteX15" fmla="*/ 21600 w 21600"/>
              <a:gd name="connsiteY15" fmla="*/ 14392 h 26547"/>
              <a:gd name="connsiteX16" fmla="*/ 20000 w 21600"/>
              <a:gd name="connsiteY16" fmla="*/ 14467 h 26547"/>
              <a:gd name="connsiteX17" fmla="*/ 20000 w 21600"/>
              <a:gd name="connsiteY17" fmla="*/ 1815 h 26547"/>
              <a:gd name="connsiteX18" fmla="*/ 2972 w 21600"/>
              <a:gd name="connsiteY18" fmla="*/ 1815 h 26547"/>
              <a:gd name="connsiteX0" fmla="*/ 0 w 21600"/>
              <a:gd name="connsiteY0" fmla="*/ 3675 h 26547"/>
              <a:gd name="connsiteX1" fmla="*/ 18595 w 21600"/>
              <a:gd name="connsiteY1" fmla="*/ 3675 h 26547"/>
              <a:gd name="connsiteX2" fmla="*/ 18595 w 21600"/>
              <a:gd name="connsiteY2" fmla="*/ 18022 h 26547"/>
              <a:gd name="connsiteX3" fmla="*/ 0 w 21600"/>
              <a:gd name="connsiteY3" fmla="*/ 20782 h 26547"/>
              <a:gd name="connsiteX4" fmla="*/ 0 w 21600"/>
              <a:gd name="connsiteY4" fmla="*/ 3675 h 26547"/>
              <a:gd name="connsiteX5" fmla="*/ 1532 w 21600"/>
              <a:gd name="connsiteY5" fmla="*/ 3675 h 26547"/>
              <a:gd name="connsiteX6" fmla="*/ 1532 w 21600"/>
              <a:gd name="connsiteY6" fmla="*/ 1815 h 26547"/>
              <a:gd name="connsiteX7" fmla="*/ 20000 w 21600"/>
              <a:gd name="connsiteY7" fmla="*/ 1815 h 26547"/>
              <a:gd name="connsiteX8" fmla="*/ 20000 w 21600"/>
              <a:gd name="connsiteY8" fmla="*/ 16252 h 26547"/>
              <a:gd name="connsiteX9" fmla="*/ 18595 w 21600"/>
              <a:gd name="connsiteY9" fmla="*/ 16352 h 26547"/>
              <a:gd name="connsiteX10" fmla="*/ 2972 w 21600"/>
              <a:gd name="connsiteY10" fmla="*/ 1815 h 26547"/>
              <a:gd name="connsiteX11" fmla="*/ 2972 w 21600"/>
              <a:gd name="connsiteY11" fmla="*/ 0 h 26547"/>
              <a:gd name="connsiteX12" fmla="*/ 21600 w 21600"/>
              <a:gd name="connsiteY12" fmla="*/ 0 h 26547"/>
              <a:gd name="connsiteX13" fmla="*/ 21600 w 21600"/>
              <a:gd name="connsiteY13" fmla="*/ 14392 h 26547"/>
              <a:gd name="connsiteX14" fmla="*/ 20000 w 21600"/>
              <a:gd name="connsiteY14" fmla="*/ 14467 h 26547"/>
              <a:gd name="connsiteX0" fmla="*/ 0 w 21600"/>
              <a:gd name="connsiteY0" fmla="*/ 20782 h 26547"/>
              <a:gd name="connsiteX1" fmla="*/ 9817 w 21600"/>
              <a:gd name="connsiteY1" fmla="*/ 26506 h 26547"/>
              <a:gd name="connsiteX2" fmla="*/ 18595 w 21600"/>
              <a:gd name="connsiteY2" fmla="*/ 18022 h 26547"/>
              <a:gd name="connsiteX3" fmla="*/ 18873 w 21600"/>
              <a:gd name="connsiteY3" fmla="*/ 25738 h 26547"/>
              <a:gd name="connsiteX4" fmla="*/ 20000 w 21600"/>
              <a:gd name="connsiteY4" fmla="*/ 16252 h 26547"/>
              <a:gd name="connsiteX5" fmla="*/ 20000 w 21600"/>
              <a:gd name="connsiteY5" fmla="*/ 14467 h 26547"/>
              <a:gd name="connsiteX6" fmla="*/ 21600 w 21600"/>
              <a:gd name="connsiteY6" fmla="*/ 14392 h 26547"/>
              <a:gd name="connsiteX7" fmla="*/ 21600 w 21600"/>
              <a:gd name="connsiteY7" fmla="*/ 0 h 26547"/>
              <a:gd name="connsiteX8" fmla="*/ 2972 w 21600"/>
              <a:gd name="connsiteY8" fmla="*/ 0 h 26547"/>
              <a:gd name="connsiteX9" fmla="*/ 2972 w 21600"/>
              <a:gd name="connsiteY9" fmla="*/ 1815 h 26547"/>
              <a:gd name="connsiteX10" fmla="*/ 1532 w 21600"/>
              <a:gd name="connsiteY10" fmla="*/ 1815 h 26547"/>
              <a:gd name="connsiteX11" fmla="*/ 1532 w 21600"/>
              <a:gd name="connsiteY11" fmla="*/ 3675 h 26547"/>
              <a:gd name="connsiteX12" fmla="*/ 0 w 21600"/>
              <a:gd name="connsiteY12" fmla="*/ 3675 h 26547"/>
              <a:gd name="connsiteX13" fmla="*/ 0 w 21600"/>
              <a:gd name="connsiteY13" fmla="*/ 20782 h 26547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595 w 21600"/>
              <a:gd name="connsiteY2" fmla="*/ 18022 h 25763"/>
              <a:gd name="connsiteX3" fmla="*/ 18873 w 21600"/>
              <a:gd name="connsiteY3" fmla="*/ 25738 h 25763"/>
              <a:gd name="connsiteX4" fmla="*/ 20000 w 21600"/>
              <a:gd name="connsiteY4" fmla="*/ 16252 h 25763"/>
              <a:gd name="connsiteX5" fmla="*/ 20000 w 21600"/>
              <a:gd name="connsiteY5" fmla="*/ 14467 h 25763"/>
              <a:gd name="connsiteX6" fmla="*/ 21600 w 21600"/>
              <a:gd name="connsiteY6" fmla="*/ 14392 h 25763"/>
              <a:gd name="connsiteX7" fmla="*/ 21600 w 21600"/>
              <a:gd name="connsiteY7" fmla="*/ 0 h 25763"/>
              <a:gd name="connsiteX8" fmla="*/ 2972 w 21600"/>
              <a:gd name="connsiteY8" fmla="*/ 0 h 25763"/>
              <a:gd name="connsiteX9" fmla="*/ 2972 w 21600"/>
              <a:gd name="connsiteY9" fmla="*/ 1815 h 25763"/>
              <a:gd name="connsiteX10" fmla="*/ 1532 w 21600"/>
              <a:gd name="connsiteY10" fmla="*/ 1815 h 25763"/>
              <a:gd name="connsiteX11" fmla="*/ 1532 w 21600"/>
              <a:gd name="connsiteY11" fmla="*/ 3675 h 25763"/>
              <a:gd name="connsiteX12" fmla="*/ 0 w 21600"/>
              <a:gd name="connsiteY12" fmla="*/ 3675 h 25763"/>
              <a:gd name="connsiteX13" fmla="*/ 0 w 21600"/>
              <a:gd name="connsiteY13" fmla="*/ 20782 h 25763"/>
              <a:gd name="connsiteX0" fmla="*/ 0 w 21600"/>
              <a:gd name="connsiteY0" fmla="*/ 20782 h 25763"/>
              <a:gd name="connsiteX1" fmla="*/ 18595 w 21600"/>
              <a:gd name="connsiteY1" fmla="*/ 18022 h 25763"/>
              <a:gd name="connsiteX2" fmla="*/ 18595 w 21600"/>
              <a:gd name="connsiteY2" fmla="*/ 3675 h 25763"/>
              <a:gd name="connsiteX3" fmla="*/ 0 w 21600"/>
              <a:gd name="connsiteY3" fmla="*/ 3675 h 25763"/>
              <a:gd name="connsiteX4" fmla="*/ 0 w 21600"/>
              <a:gd name="connsiteY4" fmla="*/ 20782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18595 w 21600"/>
              <a:gd name="connsiteY10" fmla="*/ 3675 h 25763"/>
              <a:gd name="connsiteX11" fmla="*/ 1532 w 21600"/>
              <a:gd name="connsiteY11" fmla="*/ 3675 h 25763"/>
              <a:gd name="connsiteX12" fmla="*/ 2972 w 21600"/>
              <a:gd name="connsiteY12" fmla="*/ 1815 h 25763"/>
              <a:gd name="connsiteX13" fmla="*/ 2972 w 21600"/>
              <a:gd name="connsiteY13" fmla="*/ 0 h 25763"/>
              <a:gd name="connsiteX14" fmla="*/ 21600 w 21600"/>
              <a:gd name="connsiteY14" fmla="*/ 0 h 25763"/>
              <a:gd name="connsiteX15" fmla="*/ 21600 w 21600"/>
              <a:gd name="connsiteY15" fmla="*/ 14392 h 25763"/>
              <a:gd name="connsiteX16" fmla="*/ 20000 w 21600"/>
              <a:gd name="connsiteY16" fmla="*/ 14467 h 25763"/>
              <a:gd name="connsiteX17" fmla="*/ 20000 w 21600"/>
              <a:gd name="connsiteY17" fmla="*/ 1815 h 25763"/>
              <a:gd name="connsiteX18" fmla="*/ 2972 w 21600"/>
              <a:gd name="connsiteY18" fmla="*/ 1815 h 25763"/>
              <a:gd name="connsiteX0" fmla="*/ 0 w 21600"/>
              <a:gd name="connsiteY0" fmla="*/ 3675 h 25763"/>
              <a:gd name="connsiteX1" fmla="*/ 18595 w 21600"/>
              <a:gd name="connsiteY1" fmla="*/ 3675 h 25763"/>
              <a:gd name="connsiteX2" fmla="*/ 18595 w 21600"/>
              <a:gd name="connsiteY2" fmla="*/ 18022 h 25763"/>
              <a:gd name="connsiteX3" fmla="*/ 0 w 21600"/>
              <a:gd name="connsiteY3" fmla="*/ 20782 h 25763"/>
              <a:gd name="connsiteX4" fmla="*/ 0 w 21600"/>
              <a:gd name="connsiteY4" fmla="*/ 3675 h 25763"/>
              <a:gd name="connsiteX5" fmla="*/ 1532 w 21600"/>
              <a:gd name="connsiteY5" fmla="*/ 3675 h 25763"/>
              <a:gd name="connsiteX6" fmla="*/ 1532 w 21600"/>
              <a:gd name="connsiteY6" fmla="*/ 1815 h 25763"/>
              <a:gd name="connsiteX7" fmla="*/ 20000 w 21600"/>
              <a:gd name="connsiteY7" fmla="*/ 1815 h 25763"/>
              <a:gd name="connsiteX8" fmla="*/ 20000 w 21600"/>
              <a:gd name="connsiteY8" fmla="*/ 16252 h 25763"/>
              <a:gd name="connsiteX9" fmla="*/ 18595 w 21600"/>
              <a:gd name="connsiteY9" fmla="*/ 16352 h 25763"/>
              <a:gd name="connsiteX10" fmla="*/ 2972 w 21600"/>
              <a:gd name="connsiteY10" fmla="*/ 1815 h 25763"/>
              <a:gd name="connsiteX11" fmla="*/ 2972 w 21600"/>
              <a:gd name="connsiteY11" fmla="*/ 0 h 25763"/>
              <a:gd name="connsiteX12" fmla="*/ 21600 w 21600"/>
              <a:gd name="connsiteY12" fmla="*/ 0 h 25763"/>
              <a:gd name="connsiteX13" fmla="*/ 21600 w 21600"/>
              <a:gd name="connsiteY13" fmla="*/ 14392 h 25763"/>
              <a:gd name="connsiteX14" fmla="*/ 20000 w 21600"/>
              <a:gd name="connsiteY14" fmla="*/ 14467 h 25763"/>
              <a:gd name="connsiteX0" fmla="*/ 0 w 21600"/>
              <a:gd name="connsiteY0" fmla="*/ 20782 h 25763"/>
              <a:gd name="connsiteX1" fmla="*/ 10652 w 21600"/>
              <a:gd name="connsiteY1" fmla="*/ 22896 h 25763"/>
              <a:gd name="connsiteX2" fmla="*/ 18165 w 21600"/>
              <a:gd name="connsiteY2" fmla="*/ 24340 h 25763"/>
              <a:gd name="connsiteX3" fmla="*/ 18595 w 21600"/>
              <a:gd name="connsiteY3" fmla="*/ 18022 h 25763"/>
              <a:gd name="connsiteX4" fmla="*/ 18873 w 21600"/>
              <a:gd name="connsiteY4" fmla="*/ 25738 h 25763"/>
              <a:gd name="connsiteX5" fmla="*/ 20000 w 21600"/>
              <a:gd name="connsiteY5" fmla="*/ 16252 h 25763"/>
              <a:gd name="connsiteX6" fmla="*/ 20000 w 21600"/>
              <a:gd name="connsiteY6" fmla="*/ 14467 h 25763"/>
              <a:gd name="connsiteX7" fmla="*/ 21600 w 21600"/>
              <a:gd name="connsiteY7" fmla="*/ 14392 h 25763"/>
              <a:gd name="connsiteX8" fmla="*/ 21600 w 21600"/>
              <a:gd name="connsiteY8" fmla="*/ 0 h 25763"/>
              <a:gd name="connsiteX9" fmla="*/ 2972 w 21600"/>
              <a:gd name="connsiteY9" fmla="*/ 0 h 25763"/>
              <a:gd name="connsiteX10" fmla="*/ 2972 w 21600"/>
              <a:gd name="connsiteY10" fmla="*/ 1815 h 25763"/>
              <a:gd name="connsiteX11" fmla="*/ 1532 w 21600"/>
              <a:gd name="connsiteY11" fmla="*/ 1815 h 25763"/>
              <a:gd name="connsiteX12" fmla="*/ 1532 w 21600"/>
              <a:gd name="connsiteY12" fmla="*/ 3675 h 25763"/>
              <a:gd name="connsiteX13" fmla="*/ 0 w 21600"/>
              <a:gd name="connsiteY13" fmla="*/ 3675 h 25763"/>
              <a:gd name="connsiteX14" fmla="*/ 0 w 21600"/>
              <a:gd name="connsiteY14" fmla="*/ 20782 h 25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1600" h="25763" stroke="0" extrusionOk="0">
                <a:moveTo>
                  <a:pt x="0" y="20782"/>
                </a:moveTo>
                <a:cubicBezTo>
                  <a:pt x="9298" y="23542"/>
                  <a:pt x="9298" y="18022"/>
                  <a:pt x="18595" y="18022"/>
                </a:cubicBezTo>
                <a:lnTo>
                  <a:pt x="18595" y="3675"/>
                </a:lnTo>
                <a:lnTo>
                  <a:pt x="0" y="3675"/>
                </a:lnTo>
                <a:lnTo>
                  <a:pt x="0" y="20782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lnTo>
                  <a:pt x="18595" y="3675"/>
                </a:lnTo>
                <a:lnTo>
                  <a:pt x="1532" y="3675"/>
                </a:lnTo>
                <a:close/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  <a:lnTo>
                  <a:pt x="20000" y="1815"/>
                </a:lnTo>
                <a:lnTo>
                  <a:pt x="2972" y="1815"/>
                </a:lnTo>
                <a:close/>
              </a:path>
              <a:path w="21600" h="25763" fill="none" extrusionOk="0">
                <a:moveTo>
                  <a:pt x="0" y="3675"/>
                </a:moveTo>
                <a:lnTo>
                  <a:pt x="18595" y="3675"/>
                </a:lnTo>
                <a:lnTo>
                  <a:pt x="18595" y="18022"/>
                </a:lnTo>
                <a:cubicBezTo>
                  <a:pt x="9298" y="18022"/>
                  <a:pt x="9298" y="23542"/>
                  <a:pt x="0" y="20782"/>
                </a:cubicBezTo>
                <a:lnTo>
                  <a:pt x="0" y="3675"/>
                </a:lnTo>
                <a:close/>
                <a:moveTo>
                  <a:pt x="1532" y="3675"/>
                </a:moveTo>
                <a:lnTo>
                  <a:pt x="1532" y="1815"/>
                </a:lnTo>
                <a:lnTo>
                  <a:pt x="20000" y="1815"/>
                </a:lnTo>
                <a:lnTo>
                  <a:pt x="20000" y="16252"/>
                </a:lnTo>
                <a:cubicBezTo>
                  <a:pt x="19298" y="16252"/>
                  <a:pt x="18595" y="16352"/>
                  <a:pt x="18595" y="16352"/>
                </a:cubicBezTo>
                <a:moveTo>
                  <a:pt x="2972" y="1815"/>
                </a:moveTo>
                <a:lnTo>
                  <a:pt x="2972" y="0"/>
                </a:lnTo>
                <a:lnTo>
                  <a:pt x="21600" y="0"/>
                </a:lnTo>
                <a:lnTo>
                  <a:pt x="21600" y="14392"/>
                </a:lnTo>
                <a:cubicBezTo>
                  <a:pt x="20800" y="14392"/>
                  <a:pt x="20000" y="14467"/>
                  <a:pt x="20000" y="14467"/>
                </a:cubicBezTo>
              </a:path>
              <a:path w="21600" h="25763" fill="none" stroke="0">
                <a:moveTo>
                  <a:pt x="0" y="20782"/>
                </a:moveTo>
                <a:cubicBezTo>
                  <a:pt x="1590" y="23504"/>
                  <a:pt x="7553" y="23356"/>
                  <a:pt x="10652" y="22896"/>
                </a:cubicBezTo>
                <a:cubicBezTo>
                  <a:pt x="13540" y="22406"/>
                  <a:pt x="16841" y="25152"/>
                  <a:pt x="18165" y="24340"/>
                </a:cubicBezTo>
                <a:cubicBezTo>
                  <a:pt x="19489" y="23528"/>
                  <a:pt x="18338" y="16706"/>
                  <a:pt x="18595" y="18022"/>
                </a:cubicBezTo>
                <a:cubicBezTo>
                  <a:pt x="18595" y="17465"/>
                  <a:pt x="18873" y="26295"/>
                  <a:pt x="18873" y="25738"/>
                </a:cubicBezTo>
                <a:cubicBezTo>
                  <a:pt x="18873" y="25738"/>
                  <a:pt x="19298" y="16252"/>
                  <a:pt x="20000" y="16252"/>
                </a:cubicBezTo>
                <a:lnTo>
                  <a:pt x="20000" y="14467"/>
                </a:lnTo>
                <a:cubicBezTo>
                  <a:pt x="20000" y="14467"/>
                  <a:pt x="20800" y="14392"/>
                  <a:pt x="21600" y="14392"/>
                </a:cubicBezTo>
                <a:lnTo>
                  <a:pt x="21600" y="0"/>
                </a:lnTo>
                <a:lnTo>
                  <a:pt x="2972" y="0"/>
                </a:lnTo>
                <a:lnTo>
                  <a:pt x="2972" y="1815"/>
                </a:lnTo>
                <a:lnTo>
                  <a:pt x="1532" y="1815"/>
                </a:lnTo>
                <a:lnTo>
                  <a:pt x="1532" y="3675"/>
                </a:lnTo>
                <a:lnTo>
                  <a:pt x="0" y="3675"/>
                </a:lnTo>
                <a:lnTo>
                  <a:pt x="0" y="20782"/>
                </a:lnTo>
                <a:close/>
              </a:path>
            </a:pathLst>
          </a:custGeom>
          <a:solidFill>
            <a:srgbClr val="A7FFAB"/>
          </a:solidFill>
          <a:ln w="12700">
            <a:solidFill>
              <a:schemeClr val="accent1"/>
            </a:solidFill>
          </a:ln>
          <a:effectLst>
            <a:outerShdw blurRad="40000" dist="20000" dir="5400000" rotWithShape="0">
              <a:srgbClr val="000000">
                <a:alpha val="38000"/>
              </a:srgbClr>
            </a:outerShdw>
            <a:softEdge rad="12700"/>
          </a:effectLst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45t19</a:t>
            </a:r>
          </a:p>
        </p:txBody>
      </p:sp>
      <p:cxnSp>
        <p:nvCxnSpPr>
          <p:cNvPr id="54" name="Shape 200"/>
          <p:cNvCxnSpPr>
            <a:endCxn id="51" idx="3"/>
          </p:cNvCxnSpPr>
          <p:nvPr/>
        </p:nvCxnSpPr>
        <p:spPr>
          <a:xfrm flipH="1">
            <a:off x="7910192" y="6073197"/>
            <a:ext cx="286526" cy="638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5" name="Shape 204"/>
          <p:cNvSpPr/>
          <p:nvPr/>
        </p:nvSpPr>
        <p:spPr>
          <a:xfrm>
            <a:off x="6931162" y="6472896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working3</a:t>
            </a:r>
          </a:p>
        </p:txBody>
      </p:sp>
      <p:cxnSp>
        <p:nvCxnSpPr>
          <p:cNvPr id="56" name="Shape 205"/>
          <p:cNvCxnSpPr>
            <a:endCxn id="51" idx="2"/>
          </p:cNvCxnSpPr>
          <p:nvPr/>
        </p:nvCxnSpPr>
        <p:spPr>
          <a:xfrm flipV="1">
            <a:off x="7522892" y="6251585"/>
            <a:ext cx="0" cy="22131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7" name="Shape 204"/>
          <p:cNvSpPr/>
          <p:nvPr/>
        </p:nvSpPr>
        <p:spPr>
          <a:xfrm>
            <a:off x="8074991" y="6491832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working4</a:t>
            </a:r>
          </a:p>
        </p:txBody>
      </p:sp>
      <p:cxnSp>
        <p:nvCxnSpPr>
          <p:cNvPr id="58" name="Shape 205"/>
          <p:cNvCxnSpPr>
            <a:endCxn id="53" idx="0"/>
          </p:cNvCxnSpPr>
          <p:nvPr/>
        </p:nvCxnSpPr>
        <p:spPr>
          <a:xfrm flipV="1">
            <a:off x="8196718" y="6199345"/>
            <a:ext cx="0" cy="27355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65" name="Shape 200"/>
          <p:cNvCxnSpPr>
            <a:stCxn id="51" idx="1"/>
            <a:endCxn id="50" idx="1"/>
          </p:cNvCxnSpPr>
          <p:nvPr/>
        </p:nvCxnSpPr>
        <p:spPr>
          <a:xfrm flipH="1">
            <a:off x="6893344" y="6073835"/>
            <a:ext cx="242248" cy="22487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8" name="Shape 212"/>
          <p:cNvSpPr/>
          <p:nvPr/>
        </p:nvSpPr>
        <p:spPr>
          <a:xfrm>
            <a:off x="6551681" y="2752141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89" name="Shape 205"/>
          <p:cNvCxnSpPr>
            <a:stCxn id="88" idx="2"/>
            <a:endCxn id="103" idx="0"/>
          </p:cNvCxnSpPr>
          <p:nvPr/>
        </p:nvCxnSpPr>
        <p:spPr>
          <a:xfrm>
            <a:off x="6970781" y="3107641"/>
            <a:ext cx="18004" cy="269719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59" name="Shape 198"/>
          <p:cNvSpPr/>
          <p:nvPr/>
        </p:nvSpPr>
        <p:spPr>
          <a:xfrm>
            <a:off x="3040761" y="166734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45v34</a:t>
            </a:r>
          </a:p>
        </p:txBody>
      </p:sp>
      <p:cxnSp>
        <p:nvCxnSpPr>
          <p:cNvPr id="60" name="Shape 200"/>
          <p:cNvCxnSpPr>
            <a:stCxn id="59" idx="1"/>
          </p:cNvCxnSpPr>
          <p:nvPr/>
        </p:nvCxnSpPr>
        <p:spPr>
          <a:xfrm flipH="1">
            <a:off x="2574351" y="1845099"/>
            <a:ext cx="466410" cy="19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3" name="Shape 198"/>
          <p:cNvSpPr/>
          <p:nvPr/>
        </p:nvSpPr>
        <p:spPr>
          <a:xfrm>
            <a:off x="4260273" y="1668549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3ed90</a:t>
            </a:r>
          </a:p>
        </p:txBody>
      </p:sp>
      <p:cxnSp>
        <p:nvCxnSpPr>
          <p:cNvPr id="66" name="Shape 200"/>
          <p:cNvCxnSpPr>
            <a:stCxn id="63" idx="1"/>
            <a:endCxn id="59" idx="3"/>
          </p:cNvCxnSpPr>
          <p:nvPr/>
        </p:nvCxnSpPr>
        <p:spPr>
          <a:xfrm flipH="1" flipV="1">
            <a:off x="3815361" y="1845099"/>
            <a:ext cx="444912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69" name="Shape 204"/>
          <p:cNvSpPr/>
          <p:nvPr/>
        </p:nvSpPr>
        <p:spPr>
          <a:xfrm>
            <a:off x="4177554" y="1073948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FTR-10</a:t>
            </a:r>
          </a:p>
        </p:txBody>
      </p:sp>
      <p:cxnSp>
        <p:nvCxnSpPr>
          <p:cNvPr id="70" name="Shape 205"/>
          <p:cNvCxnSpPr>
            <a:stCxn id="69" idx="2"/>
            <a:endCxn id="63" idx="0"/>
          </p:cNvCxnSpPr>
          <p:nvPr/>
        </p:nvCxnSpPr>
        <p:spPr>
          <a:xfrm>
            <a:off x="4636273" y="1346948"/>
            <a:ext cx="11300" cy="32160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3" name="Shape 204"/>
          <p:cNvSpPr/>
          <p:nvPr/>
        </p:nvSpPr>
        <p:spPr>
          <a:xfrm>
            <a:off x="2979466" y="1049925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FTR-9</a:t>
            </a:r>
          </a:p>
        </p:txBody>
      </p:sp>
      <p:cxnSp>
        <p:nvCxnSpPr>
          <p:cNvPr id="74" name="Shape 205"/>
          <p:cNvCxnSpPr>
            <a:stCxn id="73" idx="2"/>
            <a:endCxn id="59" idx="0"/>
          </p:cNvCxnSpPr>
          <p:nvPr/>
        </p:nvCxnSpPr>
        <p:spPr>
          <a:xfrm flipH="1">
            <a:off x="3428061" y="1322925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5" name="Shape 204"/>
          <p:cNvSpPr/>
          <p:nvPr/>
        </p:nvSpPr>
        <p:spPr>
          <a:xfrm>
            <a:off x="1767505" y="1049925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76" name="Shape 205"/>
          <p:cNvCxnSpPr/>
          <p:nvPr/>
        </p:nvCxnSpPr>
        <p:spPr>
          <a:xfrm flipH="1">
            <a:off x="2214768" y="1322925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7" name="Shape 204"/>
          <p:cNvSpPr/>
          <p:nvPr/>
        </p:nvSpPr>
        <p:spPr>
          <a:xfrm>
            <a:off x="577886" y="1073948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78" name="Shape 205"/>
          <p:cNvCxnSpPr/>
          <p:nvPr/>
        </p:nvCxnSpPr>
        <p:spPr>
          <a:xfrm flipH="1">
            <a:off x="1025149" y="1346948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79" name="Shape 204"/>
          <p:cNvSpPr/>
          <p:nvPr/>
        </p:nvSpPr>
        <p:spPr>
          <a:xfrm>
            <a:off x="4131579" y="2424561"/>
            <a:ext cx="1075139" cy="300589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fix/FTR-11</a:t>
            </a:r>
          </a:p>
        </p:txBody>
      </p:sp>
      <p:cxnSp>
        <p:nvCxnSpPr>
          <p:cNvPr id="80" name="Shape 205"/>
          <p:cNvCxnSpPr/>
          <p:nvPr/>
        </p:nvCxnSpPr>
        <p:spPr>
          <a:xfrm flipH="1" flipV="1">
            <a:off x="4657973" y="2022849"/>
            <a:ext cx="11176" cy="3788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1" name="Shape 208"/>
          <p:cNvSpPr/>
          <p:nvPr/>
        </p:nvSpPr>
        <p:spPr>
          <a:xfrm>
            <a:off x="5096059" y="3379254"/>
            <a:ext cx="1288751" cy="312195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82" name="Shape 209"/>
          <p:cNvCxnSpPr>
            <a:stCxn id="81" idx="2"/>
          </p:cNvCxnSpPr>
          <p:nvPr/>
        </p:nvCxnSpPr>
        <p:spPr>
          <a:xfrm flipH="1">
            <a:off x="4891564" y="3691449"/>
            <a:ext cx="848871" cy="30523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3" name="Shape 198"/>
          <p:cNvSpPr/>
          <p:nvPr/>
        </p:nvSpPr>
        <p:spPr>
          <a:xfrm>
            <a:off x="2988828" y="397076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45v34</a:t>
            </a:r>
          </a:p>
        </p:txBody>
      </p:sp>
      <p:sp>
        <p:nvSpPr>
          <p:cNvPr id="84" name="Shape 198"/>
          <p:cNvSpPr/>
          <p:nvPr/>
        </p:nvSpPr>
        <p:spPr>
          <a:xfrm>
            <a:off x="4208340" y="397196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3ed90</a:t>
            </a:r>
          </a:p>
        </p:txBody>
      </p:sp>
      <p:cxnSp>
        <p:nvCxnSpPr>
          <p:cNvPr id="85" name="Shape 200"/>
          <p:cNvCxnSpPr>
            <a:stCxn id="84" idx="1"/>
            <a:endCxn id="83" idx="3"/>
          </p:cNvCxnSpPr>
          <p:nvPr/>
        </p:nvCxnSpPr>
        <p:spPr>
          <a:xfrm flipH="1" flipV="1">
            <a:off x="3763428" y="4148511"/>
            <a:ext cx="444912" cy="1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1" name="Shape 204"/>
          <p:cNvSpPr/>
          <p:nvPr/>
        </p:nvSpPr>
        <p:spPr>
          <a:xfrm>
            <a:off x="4125621" y="3377360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FTR-10</a:t>
            </a:r>
          </a:p>
        </p:txBody>
      </p:sp>
      <p:cxnSp>
        <p:nvCxnSpPr>
          <p:cNvPr id="94" name="Shape 205"/>
          <p:cNvCxnSpPr>
            <a:stCxn id="91" idx="2"/>
            <a:endCxn id="84" idx="0"/>
          </p:cNvCxnSpPr>
          <p:nvPr/>
        </p:nvCxnSpPr>
        <p:spPr>
          <a:xfrm>
            <a:off x="4584340" y="3650360"/>
            <a:ext cx="11300" cy="32160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5" name="Shape 204"/>
          <p:cNvSpPr/>
          <p:nvPr/>
        </p:nvSpPr>
        <p:spPr>
          <a:xfrm>
            <a:off x="2927533" y="3353337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FTR-9</a:t>
            </a:r>
          </a:p>
        </p:txBody>
      </p:sp>
      <p:cxnSp>
        <p:nvCxnSpPr>
          <p:cNvPr id="96" name="Shape 205"/>
          <p:cNvCxnSpPr>
            <a:stCxn id="95" idx="2"/>
            <a:endCxn id="83" idx="0"/>
          </p:cNvCxnSpPr>
          <p:nvPr/>
        </p:nvCxnSpPr>
        <p:spPr>
          <a:xfrm flipH="1">
            <a:off x="3376128" y="3626337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7" name="Shape 204"/>
          <p:cNvSpPr/>
          <p:nvPr/>
        </p:nvSpPr>
        <p:spPr>
          <a:xfrm>
            <a:off x="1715572" y="3353337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FTR-8</a:t>
            </a:r>
          </a:p>
        </p:txBody>
      </p:sp>
      <p:cxnSp>
        <p:nvCxnSpPr>
          <p:cNvPr id="98" name="Shape 205"/>
          <p:cNvCxnSpPr/>
          <p:nvPr/>
        </p:nvCxnSpPr>
        <p:spPr>
          <a:xfrm flipH="1">
            <a:off x="2162835" y="3626337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9" name="Shape 204"/>
          <p:cNvSpPr/>
          <p:nvPr/>
        </p:nvSpPr>
        <p:spPr>
          <a:xfrm>
            <a:off x="525953" y="3377360"/>
            <a:ext cx="917438" cy="2730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FTR-7</a:t>
            </a:r>
          </a:p>
        </p:txBody>
      </p:sp>
      <p:cxnSp>
        <p:nvCxnSpPr>
          <p:cNvPr id="100" name="Shape 205"/>
          <p:cNvCxnSpPr/>
          <p:nvPr/>
        </p:nvCxnSpPr>
        <p:spPr>
          <a:xfrm flipH="1">
            <a:off x="973216" y="3650360"/>
            <a:ext cx="10124" cy="34442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01" name="Shape 204"/>
          <p:cNvSpPr/>
          <p:nvPr/>
        </p:nvSpPr>
        <p:spPr>
          <a:xfrm>
            <a:off x="7561476" y="3371085"/>
            <a:ext cx="1574680" cy="328531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origin/fix/FTR-11</a:t>
            </a:r>
          </a:p>
        </p:txBody>
      </p:sp>
      <p:cxnSp>
        <p:nvCxnSpPr>
          <p:cNvPr id="102" name="Shape 205"/>
          <p:cNvCxnSpPr>
            <a:stCxn id="101" idx="2"/>
            <a:endCxn id="84" idx="3"/>
          </p:cNvCxnSpPr>
          <p:nvPr/>
        </p:nvCxnSpPr>
        <p:spPr>
          <a:xfrm flipH="1">
            <a:off x="4982940" y="3699616"/>
            <a:ext cx="3365876" cy="45009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03" name="Shape 204"/>
          <p:cNvSpPr/>
          <p:nvPr/>
        </p:nvSpPr>
        <p:spPr>
          <a:xfrm>
            <a:off x="6417924" y="3377360"/>
            <a:ext cx="1141721" cy="314089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Fix/FTR-11</a:t>
            </a:r>
          </a:p>
        </p:txBody>
      </p:sp>
      <p:cxnSp>
        <p:nvCxnSpPr>
          <p:cNvPr id="104" name="Shape 205"/>
          <p:cNvCxnSpPr>
            <a:stCxn id="103" idx="2"/>
            <a:endCxn id="84" idx="3"/>
          </p:cNvCxnSpPr>
          <p:nvPr/>
        </p:nvCxnSpPr>
        <p:spPr>
          <a:xfrm flipH="1">
            <a:off x="4982940" y="3691449"/>
            <a:ext cx="2005845" cy="4582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  <p:extLst>
      <p:ext uri="{BB962C8B-B14F-4D97-AF65-F5344CB8AC3E}">
        <p14:creationId xmlns:p14="http://schemas.microsoft.com/office/powerpoint/2010/main" val="27126231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5366"/>
            <a:ext cx="9144000" cy="1518634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sz="3600" dirty="0">
                <a:solidFill>
                  <a:schemeClr val="bg2"/>
                </a:solidFill>
              </a:rPr>
              <a:t>Git + GitLab best practices hands on</a:t>
            </a:r>
            <a:br>
              <a:rPr lang="en-US" sz="3600" dirty="0">
                <a:solidFill>
                  <a:schemeClr val="bg2"/>
                </a:solidFill>
              </a:rPr>
            </a:br>
            <a:r>
              <a:rPr lang="en-US" sz="1800" dirty="0">
                <a:hlinkClick r:id="rId2"/>
              </a:rPr>
              <a:t>https://gitlab.com/ilyaro/git_gitlab_best_practices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>
                <a:hlinkClick r:id="rId3"/>
              </a:rPr>
              <a:t>https://gitlab.com/ilyaro/git_gitlab_best_practices/-/blob/master/Commands.md</a:t>
            </a:r>
            <a:br>
              <a:rPr lang="en-US" sz="1800" dirty="0"/>
            </a:br>
            <a:endParaRPr lang="en-US" sz="1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1676400"/>
            <a:ext cx="9178344" cy="4876800"/>
          </a:xfrm>
        </p:spPr>
        <p:txBody>
          <a:bodyPr/>
          <a:lstStyle/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1.Work with local feature branches (topics)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Create your own feature branch from master: fix/&lt;Jira-task&gt; here: https://gitlab.com/ilyaro/demo-be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git clone -b  fix/&lt;Jira-task&gt; https://gitlab.com/ilyaro/demo-be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git checkout </a:t>
            </a:r>
            <a:r>
              <a:rPr lang="en-US" dirty="0" err="1">
                <a:solidFill>
                  <a:schemeClr val="bg2"/>
                </a:solidFill>
              </a:rPr>
              <a:t>lcl</a:t>
            </a:r>
            <a:r>
              <a:rPr lang="en-US" dirty="0">
                <a:solidFill>
                  <a:schemeClr val="bg2"/>
                </a:solidFill>
              </a:rPr>
              <a:t>-&lt;task&gt;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Configure IDE/Editor to auto commit: https://gitlab.com/ilyaro/git_best_practices_ppt/README.md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git log  - to show initial status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2. Edit .\demo-be\</a:t>
            </a:r>
            <a:r>
              <a:rPr lang="en-US" dirty="0" err="1">
                <a:solidFill>
                  <a:schemeClr val="bg2"/>
                </a:solidFill>
              </a:rPr>
              <a:t>src</a:t>
            </a:r>
            <a:r>
              <a:rPr lang="en-US" dirty="0">
                <a:solidFill>
                  <a:schemeClr val="bg2"/>
                </a:solidFill>
              </a:rPr>
              <a:t>\main\java\com\example\dep\Dep.java (Use IntelliJ, VS Code, vim or any other IDE,</a:t>
            </a:r>
          </a:p>
          <a:p>
            <a:pPr marL="127000" indent="0">
              <a:buNone/>
            </a:pPr>
            <a:endParaRPr lang="en-US" dirty="0">
              <a:solidFill>
                <a:schemeClr val="bg2"/>
              </a:solidFill>
            </a:endParaRP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 </a:t>
            </a:r>
          </a:p>
          <a:p>
            <a:pPr marL="584200" indent="-457200">
              <a:buAutoNum type="arabicPeriod"/>
            </a:pPr>
            <a:endParaRPr lang="en-US" dirty="0">
              <a:solidFill>
                <a:schemeClr val="bg2"/>
              </a:solidFill>
            </a:endParaRPr>
          </a:p>
          <a:p>
            <a:pPr marL="12700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25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71979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Shape 590"/>
          <p:cNvSpPr txBox="1">
            <a:spLocks noGrp="1"/>
          </p:cNvSpPr>
          <p:nvPr>
            <p:ph type="title"/>
          </p:nvPr>
        </p:nvSpPr>
        <p:spPr>
          <a:xfrm>
            <a:off x="12" y="0"/>
            <a:ext cx="82296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dk2"/>
              </a:buClr>
              <a:buSzPct val="25000"/>
              <a:buFont typeface="Arial"/>
              <a:buNone/>
            </a:pPr>
            <a:r>
              <a:rPr lang="en-US" dirty="0"/>
              <a:t>Best practices – Branch Layout</a:t>
            </a:r>
            <a:br>
              <a:rPr lang="en-US" dirty="0"/>
            </a:br>
            <a:endParaRPr lang="en-US" dirty="0"/>
          </a:p>
        </p:txBody>
      </p:sp>
      <p:sp>
        <p:nvSpPr>
          <p:cNvPr id="592" name="Shape 59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 lang="en-US"/>
          </a:p>
        </p:txBody>
      </p:sp>
      <p:pic>
        <p:nvPicPr>
          <p:cNvPr id="593" name="Shape 5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3400" y="685800"/>
            <a:ext cx="7924800" cy="449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8504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solidFill>
                  <a:schemeClr val="bg2"/>
                </a:solidFill>
              </a:rPr>
              <a:t>Git + GitLab best practices hands on cont.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1524000"/>
            <a:ext cx="9144000" cy="5334000"/>
          </a:xfrm>
        </p:spPr>
        <p:txBody>
          <a:bodyPr/>
          <a:lstStyle/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after configure on save trigger)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Change 1 line – save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Add 1 line – save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Delete 1 line – save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It will create 3 commits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3 Tag important commit (working commits)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git tag working1 </a:t>
            </a:r>
          </a:p>
          <a:p>
            <a:pPr marL="127000" indent="0">
              <a:buNone/>
            </a:pP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4 Log with diff with only change, hash and refs 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git log -c -U0 --pretty="format:%</a:t>
            </a:r>
            <a:r>
              <a:rPr lang="en-US" dirty="0" err="1">
                <a:solidFill>
                  <a:schemeClr val="bg2"/>
                </a:solidFill>
              </a:rPr>
              <a:t>H%d</a:t>
            </a:r>
            <a:r>
              <a:rPr lang="en-US" dirty="0">
                <a:solidFill>
                  <a:schemeClr val="bg2"/>
                </a:solidFill>
              </a:rPr>
              <a:t>“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Or in GUI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679453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296400" cy="960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local feature branches (topics)</a:t>
            </a: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Shape 582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83" name="Shape 583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28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6172200"/>
            <a:ext cx="3425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Demo: create feature branch, checkout 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62000"/>
            <a:ext cx="9144000" cy="5286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927511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Shape 55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commit</a:t>
            </a: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Shape 55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59" name="Shape 55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0" name="Shape 560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1273175"/>
            <a:ext cx="8796337" cy="46704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296839" y="6260426"/>
            <a:ext cx="8839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Demo: vim, change, save -&gt; auto-commit, git log –c, git reset </a:t>
            </a:r>
          </a:p>
        </p:txBody>
      </p:sp>
    </p:spTree>
    <p:extLst>
      <p:ext uri="{BB962C8B-B14F-4D97-AF65-F5344CB8AC3E}">
        <p14:creationId xmlns:p14="http://schemas.microsoft.com/office/powerpoint/2010/main" val="17509555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Shape 606"/>
          <p:cNvSpPr txBox="1">
            <a:spLocks noGrp="1"/>
          </p:cNvSpPr>
          <p:nvPr>
            <p:ph type="title"/>
          </p:nvPr>
        </p:nvSpPr>
        <p:spPr>
          <a:xfrm>
            <a:off x="76200" y="533400"/>
            <a:ext cx="8745537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tag milestones (even local)</a:t>
            </a: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Shape 607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Shape 60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09" name="Shape 60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30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0" name="Shape 6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289050"/>
            <a:ext cx="9109075" cy="46545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020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81000"/>
            <a:ext cx="8821737" cy="758700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</a:rPr>
              <a:t>Git + GitLab best practices hands on cont.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1676400"/>
            <a:ext cx="9144000" cy="5181600"/>
          </a:xfrm>
        </p:spPr>
        <p:txBody>
          <a:bodyPr/>
          <a:lstStyle/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5. Squash in merge from feature branch to master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See what to merge with git log --graph or IDE GUI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git log --</a:t>
            </a:r>
            <a:r>
              <a:rPr lang="en-US" dirty="0" err="1">
                <a:solidFill>
                  <a:schemeClr val="bg2"/>
                </a:solidFill>
              </a:rPr>
              <a:t>oneline</a:t>
            </a:r>
            <a:r>
              <a:rPr lang="en-US" dirty="0">
                <a:solidFill>
                  <a:schemeClr val="bg2"/>
                </a:solidFill>
              </a:rPr>
              <a:t> --graph –all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checkout feature branch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git checkout fix/&lt;Jira-task&gt;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merge --squash from topic/</a:t>
            </a:r>
            <a:r>
              <a:rPr lang="en-US" dirty="0" err="1">
                <a:solidFill>
                  <a:schemeClr val="bg2"/>
                </a:solidFill>
              </a:rPr>
              <a:t>demo_gh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git merge --squash </a:t>
            </a:r>
            <a:r>
              <a:rPr lang="en-US" dirty="0" err="1">
                <a:solidFill>
                  <a:schemeClr val="bg2"/>
                </a:solidFill>
              </a:rPr>
              <a:t>lcl</a:t>
            </a:r>
            <a:r>
              <a:rPr lang="en-US" dirty="0">
                <a:solidFill>
                  <a:schemeClr val="bg2"/>
                </a:solidFill>
              </a:rPr>
              <a:t>-&lt;task&gt;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now commit 1 squashed commit to the feature branch: Give </a:t>
            </a:r>
            <a:r>
              <a:rPr lang="en-US" dirty="0" err="1">
                <a:solidFill>
                  <a:schemeClr val="bg2"/>
                </a:solidFill>
              </a:rPr>
              <a:t>meaningfull</a:t>
            </a:r>
            <a:r>
              <a:rPr lang="en-US" dirty="0">
                <a:solidFill>
                  <a:schemeClr val="bg2"/>
                </a:solidFill>
              </a:rPr>
              <a:t> and concise commit message: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Example: "Testing auto commit on save and squash merge "Specify Jira-task in commit message body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git commit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31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934252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565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squashing befor</a:t>
            </a:r>
            <a:r>
              <a:rPr lang="en-US" dirty="0"/>
              <a:t>e push</a:t>
            </a: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Shape 566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67" name="Shape 567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32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8" name="Shape 568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0" y="1600200"/>
            <a:ext cx="9150350" cy="43942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0" y="6027003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Demo: git merge --squash, git commit, </a:t>
            </a:r>
            <a:br>
              <a:rPr lang="en-US" sz="2400" dirty="0"/>
            </a:br>
            <a:r>
              <a:rPr lang="en-US" sz="2400" dirty="0"/>
              <a:t>git log --</a:t>
            </a:r>
            <a:r>
              <a:rPr lang="en-US" sz="2400"/>
              <a:t>oneline</a:t>
            </a:r>
            <a:r>
              <a:rPr lang="en-US" sz="2400" dirty="0"/>
              <a:t> --graph --all, git push</a:t>
            </a:r>
          </a:p>
        </p:txBody>
      </p:sp>
      <p:sp>
        <p:nvSpPr>
          <p:cNvPr id="3" name="Footer Placeholder 2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4588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574"/>
          <p:cNvSpPr txBox="1">
            <a:spLocks noGrp="1"/>
          </p:cNvSpPr>
          <p:nvPr>
            <p:ph type="title"/>
          </p:nvPr>
        </p:nvSpPr>
        <p:spPr>
          <a:xfrm>
            <a:off x="0" y="149800"/>
            <a:ext cx="91440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dirty="0"/>
              <a:t>Best practices - concise commit messages</a:t>
            </a:r>
          </a:p>
        </p:txBody>
      </p:sp>
      <p:pic>
        <p:nvPicPr>
          <p:cNvPr id="576" name="Shape 576" descr="commit_message_header.png"/>
          <p:cNvPicPr preferRelativeResize="0"/>
          <p:nvPr/>
        </p:nvPicPr>
        <p:blipFill rotWithShape="1">
          <a:blip r:embed="rId3">
            <a:alphaModFix/>
          </a:blip>
          <a:srcRect t="31307"/>
          <a:stretch/>
        </p:blipFill>
        <p:spPr>
          <a:xfrm>
            <a:off x="0" y="2954867"/>
            <a:ext cx="9144000" cy="272155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8467" y="1295400"/>
            <a:ext cx="9067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Limit commit message Subject to 70 chars and it must be simple, clear, self explained – this is the line all will see!</a:t>
            </a:r>
          </a:p>
          <a:p>
            <a:r>
              <a:rPr lang="en-US" sz="2400" dirty="0"/>
              <a:t>Meaningful details put in the body of the commit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9855"/>
            <a:ext cx="8763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hlinkClick r:id="rId4"/>
              </a:rPr>
              <a:t>https://github.com/datreeio/node-datreeio/commits/master</a:t>
            </a:r>
            <a:endParaRPr lang="en-US" sz="2000" dirty="0"/>
          </a:p>
        </p:txBody>
      </p:sp>
      <p:sp>
        <p:nvSpPr>
          <p:cNvPr id="3" name="TextBox 2"/>
          <p:cNvSpPr txBox="1"/>
          <p:nvPr/>
        </p:nvSpPr>
        <p:spPr>
          <a:xfrm>
            <a:off x="228600" y="5659253"/>
            <a:ext cx="2895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Demo: Example:</a:t>
            </a:r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ate Placeholder 5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3298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24" y="381000"/>
            <a:ext cx="8915400" cy="758700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</a:rPr>
              <a:t>Git + GitLab best practices hands on cont.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1676400"/>
            <a:ext cx="9144000" cy="4800600"/>
          </a:xfrm>
        </p:spPr>
        <p:txBody>
          <a:bodyPr/>
          <a:lstStyle/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6. Delete local branch 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git branch -D </a:t>
            </a:r>
            <a:r>
              <a:rPr lang="en-US" dirty="0" err="1">
                <a:solidFill>
                  <a:schemeClr val="bg2"/>
                </a:solidFill>
              </a:rPr>
              <a:t>lcl</a:t>
            </a:r>
            <a:r>
              <a:rPr lang="en-US" dirty="0">
                <a:solidFill>
                  <a:schemeClr val="bg2"/>
                </a:solidFill>
              </a:rPr>
              <a:t>-&lt;Jira-task&gt;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See log again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git log --</a:t>
            </a:r>
            <a:r>
              <a:rPr lang="en-US" dirty="0" err="1">
                <a:solidFill>
                  <a:schemeClr val="bg2"/>
                </a:solidFill>
              </a:rPr>
              <a:t>oneline</a:t>
            </a:r>
            <a:r>
              <a:rPr lang="en-US" dirty="0">
                <a:solidFill>
                  <a:schemeClr val="bg2"/>
                </a:solidFill>
              </a:rPr>
              <a:t> --graph --all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7. Push to Gitlab Feature branch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git push</a:t>
            </a:r>
          </a:p>
          <a:p>
            <a:pPr marL="127000" indent="0">
              <a:buNone/>
            </a:pPr>
            <a:r>
              <a:rPr lang="en-US" dirty="0">
                <a:solidFill>
                  <a:schemeClr val="bg2"/>
                </a:solidFill>
              </a:rPr>
              <a:t>See Gitlab CI </a:t>
            </a:r>
            <a:r>
              <a:rPr lang="en-US" dirty="0" err="1">
                <a:solidFill>
                  <a:schemeClr val="bg2"/>
                </a:solidFill>
              </a:rPr>
              <a:t>piopeline</a:t>
            </a:r>
            <a:r>
              <a:rPr lang="en-US" dirty="0">
                <a:solidFill>
                  <a:schemeClr val="bg2"/>
                </a:solidFill>
              </a:rPr>
              <a:t> running: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https://gitlab.com/ilyaro/demo-be/pipelines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345019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Shape 59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682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clean up local branches</a:t>
            </a:r>
            <a:br>
              <a:rPr lang="en-US" sz="2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4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Shape 59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00" name="Shape 60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35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71600"/>
            <a:ext cx="8755481" cy="450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582238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92100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</a:rPr>
              <a:t>3. GitLab Best practices</a:t>
            </a:r>
            <a:br>
              <a:rPr lang="en-US" dirty="0"/>
            </a:br>
            <a:r>
              <a:rPr lang="en-US" sz="3200" dirty="0"/>
              <a:t>Fast-forward Merge in Gitlab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2700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36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1600200"/>
            <a:ext cx="6762750" cy="4857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063151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30051" y="0"/>
            <a:ext cx="9144000" cy="1371600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</a:rPr>
              <a:t>3. GitLab Best practices cont.</a:t>
            </a:r>
            <a:br>
              <a:rPr lang="en-US" dirty="0"/>
            </a:br>
            <a:r>
              <a:rPr lang="en-US" sz="3200" dirty="0"/>
              <a:t>Delete source branch, pipeline, discussions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1623546"/>
            <a:ext cx="9067800" cy="40057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677422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555526"/>
          </a:xfrm>
        </p:spPr>
        <p:txBody>
          <a:bodyPr/>
          <a:lstStyle/>
          <a:p>
            <a:r>
              <a:rPr lang="en-US" sz="3600" dirty="0">
                <a:solidFill>
                  <a:schemeClr val="bg2"/>
                </a:solidFill>
              </a:rPr>
              <a:t>3. GitLab Best practices</a:t>
            </a:r>
            <a:br>
              <a:rPr lang="en-US" dirty="0"/>
            </a:br>
            <a:r>
              <a:rPr lang="en-US" sz="3200" dirty="0"/>
              <a:t>Must at least 1 approver, not author and not committer.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2700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38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220" y="1676400"/>
            <a:ext cx="9143535" cy="5057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226906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95400"/>
          </a:xfrm>
        </p:spPr>
        <p:txBody>
          <a:bodyPr/>
          <a:lstStyle/>
          <a:p>
            <a:r>
              <a:rPr lang="en-US" sz="2800" dirty="0"/>
              <a:t>FF Merge only after: CI Pipeline succeed and Code Review + Approval. Squash + Delete Source  Branch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1181100"/>
            <a:ext cx="6343650" cy="5219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020504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1"/>
            <a:ext cx="9144000" cy="1816189"/>
          </a:xfrm>
        </p:spPr>
        <p:txBody>
          <a:bodyPr/>
          <a:lstStyle/>
          <a:p>
            <a:r>
              <a:rPr lang="en-US" sz="2800" dirty="0"/>
              <a:t>Gitlab FF Merge must be related to Jira Version Release. Only tasks in Version must be merged.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2700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40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090" y="1816189"/>
            <a:ext cx="8458200" cy="5048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968179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99" y="0"/>
            <a:ext cx="9067801" cy="2057400"/>
          </a:xfrm>
        </p:spPr>
        <p:txBody>
          <a:bodyPr/>
          <a:lstStyle/>
          <a:p>
            <a:r>
              <a:rPr lang="en-US" sz="3600" dirty="0"/>
              <a:t>Merge need to change status to “Done”, Approve to status “Code Review”, Push – to status “In Progress”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73" y="2057400"/>
            <a:ext cx="9052926" cy="37814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224443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143000"/>
          </a:xfrm>
        </p:spPr>
        <p:txBody>
          <a:bodyPr/>
          <a:lstStyle/>
          <a:p>
            <a:r>
              <a:rPr lang="en-US" sz="3200" dirty="0">
                <a:solidFill>
                  <a:schemeClr val="bg2"/>
                </a:solidFill>
              </a:rPr>
              <a:t>3. GitLab Best practices cont.</a:t>
            </a:r>
            <a:br>
              <a:rPr lang="en-US" sz="3200" dirty="0">
                <a:solidFill>
                  <a:schemeClr val="bg2"/>
                </a:solidFill>
              </a:rPr>
            </a:br>
            <a:r>
              <a:rPr lang="en-US" sz="2800" dirty="0">
                <a:solidFill>
                  <a:schemeClr val="bg2"/>
                </a:solidFill>
              </a:rPr>
              <a:t>GitLab CI best practices. DevOps templates</a:t>
            </a:r>
            <a:endParaRPr lang="en-US"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1379112"/>
            <a:ext cx="4724400" cy="5471375"/>
          </a:xfrm>
        </p:spPr>
        <p:txBody>
          <a:bodyPr/>
          <a:lstStyle/>
          <a:p>
            <a:pPr marL="127000" indent="0">
              <a:buNone/>
            </a:pPr>
            <a:r>
              <a:rPr lang="en-US" dirty="0">
                <a:solidFill>
                  <a:srgbClr val="000000"/>
                </a:solidFill>
              </a:rPr>
              <a:t>Push triggers CI/CD pipeline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(</a:t>
            </a:r>
            <a:r>
              <a:rPr lang="en-US" b="1" dirty="0">
                <a:solidFill>
                  <a:srgbClr val="00B050"/>
                </a:solidFill>
              </a:rPr>
              <a:t>topic/feature branch</a:t>
            </a:r>
            <a:r>
              <a:rPr lang="en-US" dirty="0">
                <a:solidFill>
                  <a:srgbClr val="000000"/>
                </a:solidFill>
              </a:rPr>
              <a:t>):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Build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Unit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Static Code Analysis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Code coverage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Snippet, Security code analysis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…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STG Deploy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Functional Tests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Regression Tests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42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 Placeholder 2"/>
          <p:cNvSpPr txBox="1">
            <a:spLocks/>
          </p:cNvSpPr>
          <p:nvPr/>
        </p:nvSpPr>
        <p:spPr>
          <a:xfrm>
            <a:off x="4648201" y="1371600"/>
            <a:ext cx="4437062" cy="4876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28600" marR="0" lvl="0" indent="-101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28650" marR="0" lvl="1" indent="-15875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-63500" algn="l" rtl="0">
              <a:lnSpc>
                <a:spcPct val="115000"/>
              </a:lnSpc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200150" marR="0" lvl="3" indent="-57150" algn="l" rtl="0">
              <a:lnSpc>
                <a:spcPct val="115000"/>
              </a:lnSpc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485900" marR="0" lvl="4" indent="-762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1943100" marR="0" lvl="5" indent="-762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400300" marR="0" lvl="6" indent="-762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857500" marR="0" lvl="7" indent="-762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314700" marR="0" lvl="8" indent="-762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0" indent="0">
              <a:buNone/>
            </a:pPr>
            <a:r>
              <a:rPr lang="en-US" dirty="0">
                <a:solidFill>
                  <a:srgbClr val="000000"/>
                </a:solidFill>
              </a:rPr>
              <a:t>Fast Forward Merge to </a:t>
            </a:r>
            <a:r>
              <a:rPr lang="en-US" b="1" dirty="0">
                <a:solidFill>
                  <a:srgbClr val="FF0000"/>
                </a:solidFill>
              </a:rPr>
              <a:t>master branch</a:t>
            </a:r>
            <a:r>
              <a:rPr lang="en-US" dirty="0">
                <a:solidFill>
                  <a:srgbClr val="000000"/>
                </a:solidFill>
              </a:rPr>
              <a:t>, triggers CI pipeline: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PRD Deploy (Automatic/Manual)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Functional Test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Regression Tests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8542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Git Lab CI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 CI reference Guide</a:t>
            </a:r>
            <a:br>
              <a:rPr lang="en-US" dirty="0">
                <a:hlinkClick r:id="rId2"/>
              </a:rPr>
            </a:br>
            <a:r>
              <a:rPr lang="en-US" dirty="0">
                <a:hlinkClick r:id="rId2"/>
              </a:rPr>
              <a:t>https://docs.gitlab.com/ee/ci/yaml/</a:t>
            </a:r>
            <a:endParaRPr lang="en-US" dirty="0"/>
          </a:p>
          <a:p>
            <a:r>
              <a:rPr lang="en-US" dirty="0">
                <a:hlinkClick r:id="rId3"/>
              </a:rPr>
              <a:t>CI definition file</a:t>
            </a:r>
            <a:br>
              <a:rPr lang="en-US" dirty="0">
                <a:hlinkClick r:id="rId3"/>
              </a:rPr>
            </a:br>
            <a:r>
              <a:rPr lang="en-US" dirty="0">
                <a:hlinkClick r:id="rId3"/>
              </a:rPr>
              <a:t>https://gitlab.com/ilyaro/demo-be/-/blob/master/.gitlab-ci.yml</a:t>
            </a:r>
          </a:p>
          <a:p>
            <a:r>
              <a:rPr lang="en-US" dirty="0">
                <a:hlinkClick r:id="rId3"/>
              </a:rPr>
              <a:t>Pipelines </a:t>
            </a:r>
            <a:br>
              <a:rPr lang="en-US" dirty="0">
                <a:hlinkClick r:id="rId3"/>
              </a:rPr>
            </a:br>
            <a:r>
              <a:rPr lang="en-US" dirty="0">
                <a:hlinkClick r:id="rId3"/>
              </a:rPr>
              <a:t>https://gitlab.com/ilyaro/demo-be/pipelines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43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839491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629"/>
          <p:cNvSpPr txBox="1">
            <a:spLocks noGrp="1"/>
          </p:cNvSpPr>
          <p:nvPr>
            <p:ph type="title"/>
          </p:nvPr>
        </p:nvSpPr>
        <p:spPr>
          <a:xfrm>
            <a:off x="261013" y="152400"/>
            <a:ext cx="8229600" cy="838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lvl="0" algn="ctr">
              <a:buClr>
                <a:schemeClr val="dk2"/>
              </a:buClr>
              <a:buSzPct val="25000"/>
            </a:pPr>
            <a:r>
              <a:rPr lang="en-US" sz="4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br>
              <a:rPr lang="en-US" sz="4400" dirty="0"/>
            </a:br>
            <a:br>
              <a:rPr lang="en-US" sz="4400" dirty="0"/>
            </a:br>
            <a:r>
              <a:rPr lang="en-US" sz="4400" dirty="0"/>
              <a:t>Summary</a:t>
            </a:r>
            <a:br>
              <a:rPr lang="en-US" sz="4400" dirty="0"/>
            </a:br>
            <a:br>
              <a:rPr lang="en-US" sz="4400" dirty="0"/>
            </a:br>
            <a:r>
              <a:rPr lang="en-US" sz="4400" dirty="0"/>
              <a:t>Ilya Rokhkin (Git Trainings)</a:t>
            </a:r>
            <a:br>
              <a:rPr lang="en-US" sz="4400" dirty="0"/>
            </a:br>
            <a:r>
              <a:rPr lang="en-US" sz="2800" dirty="0">
                <a:hlinkClick r:id="rId3"/>
              </a:rPr>
              <a:t>https://github.com/ilyaro/git_best_practices_ppt</a:t>
            </a:r>
            <a:br>
              <a:rPr lang="en-US" sz="2800" dirty="0"/>
            </a:br>
            <a:br>
              <a:rPr lang="en-US" sz="4400" dirty="0"/>
            </a:br>
            <a:r>
              <a:rPr lang="en-US" sz="4000" dirty="0">
                <a:hlinkClick r:id="rId4"/>
              </a:rPr>
              <a:t>rokhkin_ilya@yahoo.com</a:t>
            </a:r>
            <a:br>
              <a:rPr lang="en-US" sz="4000" dirty="0"/>
            </a:br>
            <a:r>
              <a:rPr lang="en-US" sz="4000" dirty="0"/>
              <a:t>054-5224805</a:t>
            </a:r>
            <a:br>
              <a:rPr lang="en-US" sz="4000" dirty="0"/>
            </a:br>
            <a:br>
              <a:rPr lang="en-US" sz="4400" dirty="0"/>
            </a:br>
            <a:endParaRPr lang="en-US" sz="4400" dirty="0"/>
          </a:p>
        </p:txBody>
      </p:sp>
      <p:sp>
        <p:nvSpPr>
          <p:cNvPr id="630" name="Shape 630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31" name="Shape 631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912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Git GitLab Best Practices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27000" indent="0" algn="ctr">
              <a:buNone/>
            </a:pPr>
            <a:endParaRPr lang="en-US" sz="4800" dirty="0"/>
          </a:p>
          <a:p>
            <a:pPr marL="127000" indent="0" algn="ctr">
              <a:buNone/>
            </a:pPr>
            <a:r>
              <a:rPr lang="en-US" sz="4800" dirty="0"/>
              <a:t>Thank You!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45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ate Placeholder 5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652845"/>
      </p:ext>
    </p:extLst>
  </p:cSld>
  <p:clrMapOvr>
    <a:masterClrMapping/>
  </p:clrMapOvr>
</p:sld>
</file>

<file path=ppt/theme/theme1.xml><?xml version="1.0" encoding="utf-8"?>
<a:theme xmlns:a="http://schemas.openxmlformats.org/drawingml/2006/main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e0cf9a1c-2cb1-4d38-9733-321b2d511f49}" enabled="1" method="Standar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5249</TotalTime>
  <Words>2105</Words>
  <Application>Microsoft Macintosh PowerPoint</Application>
  <PresentationFormat>On-screen Show (4:3)</PresentationFormat>
  <Paragraphs>659</Paragraphs>
  <Slides>45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Merriweather</vt:lpstr>
      <vt:lpstr>Arial</vt:lpstr>
      <vt:lpstr>Amatic SC</vt:lpstr>
      <vt:lpstr>Source Code Pro</vt:lpstr>
      <vt:lpstr>Beach Day</vt:lpstr>
      <vt:lpstr>Git and GitLab Best Practices</vt:lpstr>
      <vt:lpstr>Git – meaning?</vt:lpstr>
      <vt:lpstr>PowerPoint Presentation</vt:lpstr>
      <vt:lpstr>Commit Object</vt:lpstr>
      <vt:lpstr>About myself: Ilya Rokhkin  - 20+ years experience in Version Control Systems - Official Git trainer in CKP, Intel, Marvell. - Freelance Git trainer. - Volunteer as Hebrew teacher in “Ulpan” 10+ years  </vt:lpstr>
      <vt:lpstr>Agenda:</vt:lpstr>
      <vt:lpstr>1. Git + GitLab best practices in work flow. Best practice: 1 Commit per Jira issue in main branches </vt:lpstr>
      <vt:lpstr>Create new feature branch FTR-10 (Jira) </vt:lpstr>
      <vt:lpstr>Checkout local branch lcl-10,  save-&gt;auto commit</vt:lpstr>
      <vt:lpstr>Save -&gt; auto commit, tag important changes: working1</vt:lpstr>
      <vt:lpstr>Making how many auto commits as needed, tagging as needed working2</vt:lpstr>
      <vt:lpstr>Merge --squash lcl-10 to fix/FTR-10</vt:lpstr>
      <vt:lpstr>Push -&gt; trigger CI, remove branch lcl-10 </vt:lpstr>
      <vt:lpstr>Open Gitlab MR</vt:lpstr>
      <vt:lpstr>Change not approved, need to fix comments</vt:lpstr>
      <vt:lpstr>Again checkout lcl-10,save-&gt;autocommit</vt:lpstr>
      <vt:lpstr>Squash merge to FTR-10 </vt:lpstr>
      <vt:lpstr>Push fix of review, CI, delete local branch lcl-10 </vt:lpstr>
      <vt:lpstr>Open Merge Request, Approve MR</vt:lpstr>
      <vt:lpstr>Other commit was merged, FF merge no possible now</vt:lpstr>
      <vt:lpstr>Rebase with squash only</vt:lpstr>
      <vt:lpstr>Trigger CI on new commit</vt:lpstr>
      <vt:lpstr>FF Merge, Tag and Remove Source Branch, Fast Forward Merge must</vt:lpstr>
      <vt:lpstr>We got desired result: 1 Commit per Jira issue in main branch.  Start new Feature FTR-11</vt:lpstr>
      <vt:lpstr>2. Git + GitLab best practices hands on https://gitlab.com/ilyaro/git_gitlab_best_practices  https://gitlab.com/ilyaro/git_gitlab_best_practices/-/blob/master/Commands.md </vt:lpstr>
      <vt:lpstr>Best practices – Branch Layout </vt:lpstr>
      <vt:lpstr>Git + GitLab best practices hands on cont.</vt:lpstr>
      <vt:lpstr>Best practices – local feature branches (topics)  </vt:lpstr>
      <vt:lpstr>Best practices – commit  </vt:lpstr>
      <vt:lpstr>Best practices – tag milestones (even local)  </vt:lpstr>
      <vt:lpstr>Git + GitLab best practices hands on cont.</vt:lpstr>
      <vt:lpstr>Best practices – squashing before push  </vt:lpstr>
      <vt:lpstr>Best practices - concise commit messages</vt:lpstr>
      <vt:lpstr>Git + GitLab best practices hands on cont.</vt:lpstr>
      <vt:lpstr>Best practices – clean up local branches </vt:lpstr>
      <vt:lpstr>3. GitLab Best practices Fast-forward Merge in Gitlab</vt:lpstr>
      <vt:lpstr>3. GitLab Best practices cont. Delete source branch, pipeline, discussions </vt:lpstr>
      <vt:lpstr>3. GitLab Best practices Must at least 1 approver, not author and not committer.</vt:lpstr>
      <vt:lpstr>FF Merge only after: CI Pipeline succeed and Code Review + Approval. Squash + Delete Source  Branch</vt:lpstr>
      <vt:lpstr>Gitlab FF Merge must be related to Jira Version Release. Only tasks in Version must be merged. </vt:lpstr>
      <vt:lpstr>Merge need to change status to “Done”, Approve to status “Code Review”, Push – to status “In Progress” </vt:lpstr>
      <vt:lpstr>3. GitLab Best practices cont. GitLab CI best practices. DevOps templates</vt:lpstr>
      <vt:lpstr>4. Git Lab CI overview</vt:lpstr>
      <vt:lpstr>Questions?  Summary  Ilya Rokhkin (Git Trainings) https://github.com/ilyaro/git_best_practices_ppt  rokhkin_ilya@yahoo.com 054-5224805  </vt:lpstr>
      <vt:lpstr>Git GitLab Best Practices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General Training</dc:title>
  <cp:lastModifiedBy>Ilya Rokhkin</cp:lastModifiedBy>
  <cp:revision>261</cp:revision>
  <dcterms:modified xsi:type="dcterms:W3CDTF">2023-07-19T16:48:09Z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qminfo">
    <vt:i4>1</vt:i4>
  </property>
  <property fmtid="{D5CDD505-2E9C-101B-9397-08002B2CF9AE}" pid="3" name="lqmsess">
    <vt:lpwstr>d75e6ad7-b34d-485f-aa93-a06a4245a927</vt:lpwstr>
  </property>
</Properties>
</file>